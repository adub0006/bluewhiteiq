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10_7A5757E5.xml" ContentType="application/vnd.ms-powerpoint.comments+xml"/>
  <Override PartName="/ppt/notesSlides/notesSlide2.xml" ContentType="application/vnd.openxmlformats-officedocument.presentationml.notesSlide+xml"/>
  <Override PartName="/ppt/comments/modernComment_111_1FEDA3B7.xml" ContentType="application/vnd.ms-powerpoint.comments+xml"/>
  <Override PartName="/ppt/comments/modernComment_112_C8AE4B61.xml" ContentType="application/vnd.ms-powerpoint.comments+xml"/>
  <Override PartName="/ppt/comments/modernComment_101_5B8BB09.xml" ContentType="application/vnd.ms-powerpoint.comments+xml"/>
  <Override PartName="/ppt/comments/modernComment_102_5B8BB09.xml" ContentType="application/vnd.ms-powerpoint.comments+xml"/>
  <Override PartName="/ppt/comments/modernComment_10A_5B8BB09.xml" ContentType="application/vnd.ms-powerpoint.comments+xml"/>
  <Override PartName="/ppt/notesSlides/notesSlide3.xml" ContentType="application/vnd.openxmlformats-officedocument.presentationml.notesSlide+xml"/>
  <Override PartName="/ppt/comments/modernComment_10D_5B8BB09.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6" r:id="rId1"/>
  </p:sldMasterIdLst>
  <p:notesMasterIdLst>
    <p:notesMasterId r:id="rId16"/>
  </p:notesMasterIdLst>
  <p:sldIdLst>
    <p:sldId id="271" r:id="rId2"/>
    <p:sldId id="272" r:id="rId3"/>
    <p:sldId id="273" r:id="rId4"/>
    <p:sldId id="274" r:id="rId5"/>
    <p:sldId id="257" r:id="rId6"/>
    <p:sldId id="258" r:id="rId7"/>
    <p:sldId id="266" r:id="rId8"/>
    <p:sldId id="269" r:id="rId9"/>
    <p:sldId id="275" r:id="rId10"/>
    <p:sldId id="276" r:id="rId11"/>
    <p:sldId id="278" r:id="rId12"/>
    <p:sldId id="279" r:id="rId13"/>
    <p:sldId id="280" r:id="rId14"/>
    <p:sldId id="28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241D1EA-97FD-437D-F878-044A343F946B}" name="Daylon Seakins" initials="DS" userId="S::daylon.seakins@nmfc.com.au::af78f4a3-0199-4b76-ae79-ecc724271ca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D4E7EF-AA23-4F86-873D-2E5030F62286}" v="84" dt="2025-10-19T23:53:07.5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8/10/relationships/authors" Target="authors.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vni Dubey" userId="a80791b5-eace-4642-a1e7-0554773d8040" providerId="ADAL" clId="{FD87900F-2416-4A33-B0DC-64636F351BCD}"/>
    <pc:docChg chg="undo custSel modSld">
      <pc:chgData name="Avni Dubey" userId="a80791b5-eace-4642-a1e7-0554773d8040" providerId="ADAL" clId="{FD87900F-2416-4A33-B0DC-64636F351BCD}" dt="2025-10-19T23:53:07.578" v="451" actId="207"/>
      <pc:docMkLst>
        <pc:docMk/>
      </pc:docMkLst>
      <pc:sldChg chg="addSp delSp modSp mod">
        <pc:chgData name="Avni Dubey" userId="a80791b5-eace-4642-a1e7-0554773d8040" providerId="ADAL" clId="{FD87900F-2416-4A33-B0DC-64636F351BCD}" dt="2025-10-19T14:04:57.173" v="327" actId="1440"/>
        <pc:sldMkLst>
          <pc:docMk/>
          <pc:sldMk cId="95992585" sldId="257"/>
        </pc:sldMkLst>
        <pc:spChg chg="del">
          <ac:chgData name="Avni Dubey" userId="a80791b5-eace-4642-a1e7-0554773d8040" providerId="ADAL" clId="{FD87900F-2416-4A33-B0DC-64636F351BCD}" dt="2025-10-19T14:00:26.181" v="304" actId="478"/>
          <ac:spMkLst>
            <pc:docMk/>
            <pc:sldMk cId="95992585" sldId="257"/>
            <ac:spMk id="3" creationId="{691A3612-7452-D7FD-5D00-CB8034CF387A}"/>
          </ac:spMkLst>
        </pc:spChg>
        <pc:spChg chg="mod">
          <ac:chgData name="Avni Dubey" userId="a80791b5-eace-4642-a1e7-0554773d8040" providerId="ADAL" clId="{FD87900F-2416-4A33-B0DC-64636F351BCD}" dt="2025-10-19T14:01:11.715" v="313" actId="20577"/>
          <ac:spMkLst>
            <pc:docMk/>
            <pc:sldMk cId="95992585" sldId="257"/>
            <ac:spMk id="10" creationId="{D192FB6E-48BF-0804-BD6C-28D55FB2656C}"/>
          </ac:spMkLst>
        </pc:spChg>
        <pc:picChg chg="del">
          <ac:chgData name="Avni Dubey" userId="a80791b5-eace-4642-a1e7-0554773d8040" providerId="ADAL" clId="{FD87900F-2416-4A33-B0DC-64636F351BCD}" dt="2025-10-19T14:00:23.112" v="303" actId="478"/>
          <ac:picMkLst>
            <pc:docMk/>
            <pc:sldMk cId="95992585" sldId="257"/>
            <ac:picMk id="2" creationId="{CA16C1C2-A659-4EF5-B935-F8C09AFA574C}"/>
          </ac:picMkLst>
        </pc:picChg>
        <pc:picChg chg="add del mod">
          <ac:chgData name="Avni Dubey" userId="a80791b5-eace-4642-a1e7-0554773d8040" providerId="ADAL" clId="{FD87900F-2416-4A33-B0DC-64636F351BCD}" dt="2025-10-19T14:04:15.227" v="319" actId="478"/>
          <ac:picMkLst>
            <pc:docMk/>
            <pc:sldMk cId="95992585" sldId="257"/>
            <ac:picMk id="6" creationId="{63FC066F-4B1A-4E3B-A6EE-DD99EB0A87E9}"/>
          </ac:picMkLst>
        </pc:picChg>
        <pc:picChg chg="add mod">
          <ac:chgData name="Avni Dubey" userId="a80791b5-eace-4642-a1e7-0554773d8040" providerId="ADAL" clId="{FD87900F-2416-4A33-B0DC-64636F351BCD}" dt="2025-10-19T14:04:57.173" v="327" actId="1440"/>
          <ac:picMkLst>
            <pc:docMk/>
            <pc:sldMk cId="95992585" sldId="257"/>
            <ac:picMk id="9" creationId="{0303189D-5DD2-4B4B-61A4-A00E6D6FB7DF}"/>
          </ac:picMkLst>
        </pc:picChg>
      </pc:sldChg>
      <pc:sldChg chg="addSp delSp modSp mod setClrOvrMap">
        <pc:chgData name="Avni Dubey" userId="a80791b5-eace-4642-a1e7-0554773d8040" providerId="ADAL" clId="{FD87900F-2416-4A33-B0DC-64636F351BCD}" dt="2025-10-19T14:12:49.874" v="362" actId="1440"/>
        <pc:sldMkLst>
          <pc:docMk/>
          <pc:sldMk cId="95992585" sldId="258"/>
        </pc:sldMkLst>
        <pc:spChg chg="del">
          <ac:chgData name="Avni Dubey" userId="a80791b5-eace-4642-a1e7-0554773d8040" providerId="ADAL" clId="{FD87900F-2416-4A33-B0DC-64636F351BCD}" dt="2025-10-19T14:05:50.518" v="329" actId="478"/>
          <ac:spMkLst>
            <pc:docMk/>
            <pc:sldMk cId="95992585" sldId="258"/>
            <ac:spMk id="2" creationId="{8BD059EF-0F48-4C47-842A-4F8CF5A81FA5}"/>
          </ac:spMkLst>
        </pc:spChg>
        <pc:spChg chg="del">
          <ac:chgData name="Avni Dubey" userId="a80791b5-eace-4642-a1e7-0554773d8040" providerId="ADAL" clId="{FD87900F-2416-4A33-B0DC-64636F351BCD}" dt="2025-10-19T14:05:55.453" v="335" actId="478"/>
          <ac:spMkLst>
            <pc:docMk/>
            <pc:sldMk cId="95992585" sldId="258"/>
            <ac:spMk id="4" creationId="{41DF1610-1108-3C25-2630-B39F90E9ECE2}"/>
          </ac:spMkLst>
        </pc:spChg>
        <pc:spChg chg="mod">
          <ac:chgData name="Avni Dubey" userId="a80791b5-eace-4642-a1e7-0554773d8040" providerId="ADAL" clId="{FD87900F-2416-4A33-B0DC-64636F351BCD}" dt="2025-10-19T14:12:26.833" v="357" actId="26606"/>
          <ac:spMkLst>
            <pc:docMk/>
            <pc:sldMk cId="95992585" sldId="258"/>
            <ac:spMk id="5" creationId="{14F7CD9C-FAD4-7CF3-DD8E-06A44C5E2934}"/>
          </ac:spMkLst>
        </pc:spChg>
        <pc:spChg chg="del">
          <ac:chgData name="Avni Dubey" userId="a80791b5-eace-4642-a1e7-0554773d8040" providerId="ADAL" clId="{FD87900F-2416-4A33-B0DC-64636F351BCD}" dt="2025-10-19T14:05:52.159" v="331" actId="478"/>
          <ac:spMkLst>
            <pc:docMk/>
            <pc:sldMk cId="95992585" sldId="258"/>
            <ac:spMk id="6" creationId="{D6625971-DB49-9BB8-E80A-C23114A089DF}"/>
          </ac:spMkLst>
        </pc:spChg>
        <pc:spChg chg="del">
          <ac:chgData name="Avni Dubey" userId="a80791b5-eace-4642-a1e7-0554773d8040" providerId="ADAL" clId="{FD87900F-2416-4A33-B0DC-64636F351BCD}" dt="2025-10-19T14:05:52.863" v="332" actId="478"/>
          <ac:spMkLst>
            <pc:docMk/>
            <pc:sldMk cId="95992585" sldId="258"/>
            <ac:spMk id="7" creationId="{3D11C1AD-D57F-730D-2B68-C7AD7743C33E}"/>
          </ac:spMkLst>
        </pc:spChg>
        <pc:spChg chg="mod ord">
          <ac:chgData name="Avni Dubey" userId="a80791b5-eace-4642-a1e7-0554773d8040" providerId="ADAL" clId="{FD87900F-2416-4A33-B0DC-64636F351BCD}" dt="2025-10-19T14:12:26.833" v="357" actId="26606"/>
          <ac:spMkLst>
            <pc:docMk/>
            <pc:sldMk cId="95992585" sldId="258"/>
            <ac:spMk id="8" creationId="{6D4E28C0-3AA6-CEA4-A219-D250399017BF}"/>
          </ac:spMkLst>
        </pc:spChg>
        <pc:spChg chg="del">
          <ac:chgData name="Avni Dubey" userId="a80791b5-eace-4642-a1e7-0554773d8040" providerId="ADAL" clId="{FD87900F-2416-4A33-B0DC-64636F351BCD}" dt="2025-10-19T14:05:53.422" v="333" actId="478"/>
          <ac:spMkLst>
            <pc:docMk/>
            <pc:sldMk cId="95992585" sldId="258"/>
            <ac:spMk id="9" creationId="{2F6EB1AB-3E23-614A-F644-7BFF611C3DAF}"/>
          </ac:spMkLst>
        </pc:spChg>
        <pc:spChg chg="del">
          <ac:chgData name="Avni Dubey" userId="a80791b5-eace-4642-a1e7-0554773d8040" providerId="ADAL" clId="{FD87900F-2416-4A33-B0DC-64636F351BCD}" dt="2025-10-19T14:05:54.281" v="334" actId="478"/>
          <ac:spMkLst>
            <pc:docMk/>
            <pc:sldMk cId="95992585" sldId="258"/>
            <ac:spMk id="10" creationId="{6B08FC2A-5D30-5461-23E2-96B6F567AAE7}"/>
          </ac:spMkLst>
        </pc:spChg>
        <pc:spChg chg="del">
          <ac:chgData name="Avni Dubey" userId="a80791b5-eace-4642-a1e7-0554773d8040" providerId="ADAL" clId="{FD87900F-2416-4A33-B0DC-64636F351BCD}" dt="2025-10-19T14:05:56.317" v="336" actId="478"/>
          <ac:spMkLst>
            <pc:docMk/>
            <pc:sldMk cId="95992585" sldId="258"/>
            <ac:spMk id="11" creationId="{95A8CB93-8FA5-4EE3-F6F0-A8809ACD4FD4}"/>
          </ac:spMkLst>
        </pc:spChg>
        <pc:spChg chg="add del mod">
          <ac:chgData name="Avni Dubey" userId="a80791b5-eace-4642-a1e7-0554773d8040" providerId="ADAL" clId="{FD87900F-2416-4A33-B0DC-64636F351BCD}" dt="2025-10-19T14:05:51.364" v="330" actId="478"/>
          <ac:spMkLst>
            <pc:docMk/>
            <pc:sldMk cId="95992585" sldId="258"/>
            <ac:spMk id="13" creationId="{C2C0DB1B-0423-8BBE-C69C-3DE3B28351A9}"/>
          </ac:spMkLst>
        </pc:spChg>
        <pc:spChg chg="add del">
          <ac:chgData name="Avni Dubey" userId="a80791b5-eace-4642-a1e7-0554773d8040" providerId="ADAL" clId="{FD87900F-2416-4A33-B0DC-64636F351BCD}" dt="2025-10-19T14:12:26.833" v="357" actId="26606"/>
          <ac:spMkLst>
            <pc:docMk/>
            <pc:sldMk cId="95992585" sldId="258"/>
            <ac:spMk id="40" creationId="{079CE317-680B-449C-A423-71C1FE069B4C}"/>
          </ac:spMkLst>
        </pc:spChg>
        <pc:spChg chg="add del">
          <ac:chgData name="Avni Dubey" userId="a80791b5-eace-4642-a1e7-0554773d8040" providerId="ADAL" clId="{FD87900F-2416-4A33-B0DC-64636F351BCD}" dt="2025-10-19T14:12:26.833" v="357" actId="26606"/>
          <ac:spMkLst>
            <pc:docMk/>
            <pc:sldMk cId="95992585" sldId="258"/>
            <ac:spMk id="42" creationId="{643780CE-2BE5-46F6-97B2-60DF30217ED3}"/>
          </ac:spMkLst>
        </pc:spChg>
        <pc:spChg chg="add del">
          <ac:chgData name="Avni Dubey" userId="a80791b5-eace-4642-a1e7-0554773d8040" providerId="ADAL" clId="{FD87900F-2416-4A33-B0DC-64636F351BCD}" dt="2025-10-19T14:12:26.833" v="357" actId="26606"/>
          <ac:spMkLst>
            <pc:docMk/>
            <pc:sldMk cId="95992585" sldId="258"/>
            <ac:spMk id="44" creationId="{61A87A49-68E6-459E-A5A6-46229FF42125}"/>
          </ac:spMkLst>
        </pc:spChg>
        <pc:spChg chg="add del">
          <ac:chgData name="Avni Dubey" userId="a80791b5-eace-4642-a1e7-0554773d8040" providerId="ADAL" clId="{FD87900F-2416-4A33-B0DC-64636F351BCD}" dt="2025-10-19T14:12:26.833" v="357" actId="26606"/>
          <ac:spMkLst>
            <pc:docMk/>
            <pc:sldMk cId="95992585" sldId="258"/>
            <ac:spMk id="46" creationId="{F6ACD5FC-CAFE-48EB-B765-60EED2E052F0}"/>
          </ac:spMkLst>
        </pc:spChg>
        <pc:spChg chg="add del">
          <ac:chgData name="Avni Dubey" userId="a80791b5-eace-4642-a1e7-0554773d8040" providerId="ADAL" clId="{FD87900F-2416-4A33-B0DC-64636F351BCD}" dt="2025-10-19T14:12:26.833" v="357" actId="26606"/>
          <ac:spMkLst>
            <pc:docMk/>
            <pc:sldMk cId="95992585" sldId="258"/>
            <ac:spMk id="50" creationId="{4233DC0E-DE6C-4FB6-A529-51B162641AB8}"/>
          </ac:spMkLst>
        </pc:spChg>
        <pc:spChg chg="add del">
          <ac:chgData name="Avni Dubey" userId="a80791b5-eace-4642-a1e7-0554773d8040" providerId="ADAL" clId="{FD87900F-2416-4A33-B0DC-64636F351BCD}" dt="2025-10-19T14:12:26.833" v="357" actId="26606"/>
          <ac:spMkLst>
            <pc:docMk/>
            <pc:sldMk cId="95992585" sldId="258"/>
            <ac:spMk id="52" creationId="{3870477F-E451-4BC3-863F-0E2FC572884B}"/>
          </ac:spMkLst>
        </pc:spChg>
        <pc:spChg chg="add del">
          <ac:chgData name="Avni Dubey" userId="a80791b5-eace-4642-a1e7-0554773d8040" providerId="ADAL" clId="{FD87900F-2416-4A33-B0DC-64636F351BCD}" dt="2025-10-19T14:12:26.833" v="357" actId="26606"/>
          <ac:spMkLst>
            <pc:docMk/>
            <pc:sldMk cId="95992585" sldId="258"/>
            <ac:spMk id="54" creationId="{B4A81DE1-E2BC-4A31-99EE-71350421B0EA}"/>
          </ac:spMkLst>
        </pc:spChg>
        <pc:spChg chg="add del">
          <ac:chgData name="Avni Dubey" userId="a80791b5-eace-4642-a1e7-0554773d8040" providerId="ADAL" clId="{FD87900F-2416-4A33-B0DC-64636F351BCD}" dt="2025-10-19T14:12:26.833" v="357" actId="26606"/>
          <ac:spMkLst>
            <pc:docMk/>
            <pc:sldMk cId="95992585" sldId="258"/>
            <ac:spMk id="70" creationId="{59647F54-801D-44AB-8284-EDDFF7763139}"/>
          </ac:spMkLst>
        </pc:spChg>
        <pc:picChg chg="del">
          <ac:chgData name="Avni Dubey" userId="a80791b5-eace-4642-a1e7-0554773d8040" providerId="ADAL" clId="{FD87900F-2416-4A33-B0DC-64636F351BCD}" dt="2025-10-19T14:05:47.238" v="328" actId="478"/>
          <ac:picMkLst>
            <pc:docMk/>
            <pc:sldMk cId="95992585" sldId="258"/>
            <ac:picMk id="3" creationId="{5F348D74-0989-46F7-B75E-401B07E05D5B}"/>
          </ac:picMkLst>
        </pc:picChg>
        <pc:picChg chg="add del mod">
          <ac:chgData name="Avni Dubey" userId="a80791b5-eace-4642-a1e7-0554773d8040" providerId="ADAL" clId="{FD87900F-2416-4A33-B0DC-64636F351BCD}" dt="2025-10-19T14:09:10.085" v="352" actId="478"/>
          <ac:picMkLst>
            <pc:docMk/>
            <pc:sldMk cId="95992585" sldId="258"/>
            <ac:picMk id="15" creationId="{1CA427E4-AC01-1477-447F-9420D2EB4B0F}"/>
          </ac:picMkLst>
        </pc:picChg>
        <pc:picChg chg="add mod">
          <ac:chgData name="Avni Dubey" userId="a80791b5-eace-4642-a1e7-0554773d8040" providerId="ADAL" clId="{FD87900F-2416-4A33-B0DC-64636F351BCD}" dt="2025-10-19T14:12:49.874" v="362" actId="1440"/>
          <ac:picMkLst>
            <pc:docMk/>
            <pc:sldMk cId="95992585" sldId="258"/>
            <ac:picMk id="17" creationId="{38BE080F-C43A-A914-BCD4-3CB20163A632}"/>
          </ac:picMkLst>
        </pc:picChg>
      </pc:sldChg>
      <pc:sldChg chg="addSp delSp modSp mod">
        <pc:chgData name="Avni Dubey" userId="a80791b5-eace-4642-a1e7-0554773d8040" providerId="ADAL" clId="{FD87900F-2416-4A33-B0DC-64636F351BCD}" dt="2025-10-19T23:20:45.025" v="447" actId="5793"/>
        <pc:sldMkLst>
          <pc:docMk/>
          <pc:sldMk cId="95992585" sldId="266"/>
        </pc:sldMkLst>
        <pc:spChg chg="mod">
          <ac:chgData name="Avni Dubey" userId="a80791b5-eace-4642-a1e7-0554773d8040" providerId="ADAL" clId="{FD87900F-2416-4A33-B0DC-64636F351BCD}" dt="2025-10-19T23:20:45.025" v="447" actId="5793"/>
          <ac:spMkLst>
            <pc:docMk/>
            <pc:sldMk cId="95992585" sldId="266"/>
            <ac:spMk id="4" creationId="{BE7007FE-86AE-E3D3-BD8B-152750D6ADBF}"/>
          </ac:spMkLst>
        </pc:spChg>
        <pc:picChg chg="add mod">
          <ac:chgData name="Avni Dubey" userId="a80791b5-eace-4642-a1e7-0554773d8040" providerId="ADAL" clId="{FD87900F-2416-4A33-B0DC-64636F351BCD}" dt="2025-10-19T14:15:26.387" v="379" actId="1440"/>
          <ac:picMkLst>
            <pc:docMk/>
            <pc:sldMk cId="95992585" sldId="266"/>
            <ac:picMk id="5" creationId="{DE3D96DE-0D15-C7C7-3EEB-4D340B5BBB3A}"/>
          </ac:picMkLst>
        </pc:picChg>
        <pc:picChg chg="del mod">
          <ac:chgData name="Avni Dubey" userId="a80791b5-eace-4642-a1e7-0554773d8040" providerId="ADAL" clId="{FD87900F-2416-4A33-B0DC-64636F351BCD}" dt="2025-10-19T14:14:31.754" v="365" actId="478"/>
          <ac:picMkLst>
            <pc:docMk/>
            <pc:sldMk cId="95992585" sldId="266"/>
            <ac:picMk id="11" creationId="{16078FCD-68C2-4FA6-914E-500A6CAB18DE}"/>
          </ac:picMkLst>
        </pc:picChg>
      </pc:sldChg>
      <pc:sldChg chg="addSp delSp modSp mod">
        <pc:chgData name="Avni Dubey" userId="a80791b5-eace-4642-a1e7-0554773d8040" providerId="ADAL" clId="{FD87900F-2416-4A33-B0DC-64636F351BCD}" dt="2025-10-19T23:53:07.578" v="451" actId="207"/>
        <pc:sldMkLst>
          <pc:docMk/>
          <pc:sldMk cId="95992585" sldId="269"/>
        </pc:sldMkLst>
        <pc:spChg chg="del">
          <ac:chgData name="Avni Dubey" userId="a80791b5-eace-4642-a1e7-0554773d8040" providerId="ADAL" clId="{FD87900F-2416-4A33-B0DC-64636F351BCD}" dt="2025-10-19T14:17:16.806" v="382" actId="478"/>
          <ac:spMkLst>
            <pc:docMk/>
            <pc:sldMk cId="95992585" sldId="269"/>
            <ac:spMk id="3" creationId="{D41CF094-59B8-1157-DDA5-8D2582DA75F3}"/>
          </ac:spMkLst>
        </pc:spChg>
        <pc:spChg chg="mod">
          <ac:chgData name="Avni Dubey" userId="a80791b5-eace-4642-a1e7-0554773d8040" providerId="ADAL" clId="{FD87900F-2416-4A33-B0DC-64636F351BCD}" dt="2025-10-19T23:53:07.578" v="451" actId="207"/>
          <ac:spMkLst>
            <pc:docMk/>
            <pc:sldMk cId="95992585" sldId="269"/>
            <ac:spMk id="4" creationId="{65AA1F1D-6B4A-8340-21D4-D53BCF364053}"/>
          </ac:spMkLst>
        </pc:spChg>
        <pc:spChg chg="del">
          <ac:chgData name="Avni Dubey" userId="a80791b5-eace-4642-a1e7-0554773d8040" providerId="ADAL" clId="{FD87900F-2416-4A33-B0DC-64636F351BCD}" dt="2025-10-19T14:17:17.693" v="383" actId="478"/>
          <ac:spMkLst>
            <pc:docMk/>
            <pc:sldMk cId="95992585" sldId="269"/>
            <ac:spMk id="5" creationId="{0C456D7A-B307-E629-A3CF-141D6888177D}"/>
          </ac:spMkLst>
        </pc:spChg>
        <pc:spChg chg="del">
          <ac:chgData name="Avni Dubey" userId="a80791b5-eace-4642-a1e7-0554773d8040" providerId="ADAL" clId="{FD87900F-2416-4A33-B0DC-64636F351BCD}" dt="2025-10-19T14:17:15.992" v="381" actId="478"/>
          <ac:spMkLst>
            <pc:docMk/>
            <pc:sldMk cId="95992585" sldId="269"/>
            <ac:spMk id="6" creationId="{3B05E8D1-A7A9-A317-AB46-85DE208F0DE5}"/>
          </ac:spMkLst>
        </pc:spChg>
        <pc:picChg chg="add mod">
          <ac:chgData name="Avni Dubey" userId="a80791b5-eace-4642-a1e7-0554773d8040" providerId="ADAL" clId="{FD87900F-2416-4A33-B0DC-64636F351BCD}" dt="2025-10-19T23:24:34.202" v="450" actId="1076"/>
          <ac:picMkLst>
            <pc:docMk/>
            <pc:sldMk cId="95992585" sldId="269"/>
            <ac:picMk id="8" creationId="{43271E9C-028F-DA90-FE05-B6C6958B8E2F}"/>
          </ac:picMkLst>
        </pc:picChg>
        <pc:picChg chg="del">
          <ac:chgData name="Avni Dubey" userId="a80791b5-eace-4642-a1e7-0554773d8040" providerId="ADAL" clId="{FD87900F-2416-4A33-B0DC-64636F351BCD}" dt="2025-10-19T14:17:12.693" v="380" actId="478"/>
          <ac:picMkLst>
            <pc:docMk/>
            <pc:sldMk cId="95992585" sldId="269"/>
            <ac:picMk id="14" creationId="{5DADFB4A-4338-4F37-8012-9DF3C2F7287C}"/>
          </ac:picMkLst>
        </pc:picChg>
      </pc:sldChg>
      <pc:sldChg chg="modSp mod modCm">
        <pc:chgData name="Avni Dubey" userId="a80791b5-eace-4642-a1e7-0554773d8040" providerId="ADAL" clId="{FD87900F-2416-4A33-B0DC-64636F351BCD}" dt="2025-10-19T13:03:44.194" v="83"/>
        <pc:sldMkLst>
          <pc:docMk/>
          <pc:sldMk cId="2052544485" sldId="272"/>
        </pc:sldMkLst>
        <pc:spChg chg="mod">
          <ac:chgData name="Avni Dubey" userId="a80791b5-eace-4642-a1e7-0554773d8040" providerId="ADAL" clId="{FD87900F-2416-4A33-B0DC-64636F351BCD}" dt="2025-10-19T13:03:44.194" v="83"/>
          <ac:spMkLst>
            <pc:docMk/>
            <pc:sldMk cId="2052544485" sldId="272"/>
            <ac:spMk id="4" creationId="{7AC26181-9113-0766-CD69-5F5772310368}"/>
          </ac:spMkLst>
        </pc:spChg>
        <pc:extLst>
          <p:ext xmlns:p="http://schemas.openxmlformats.org/presentationml/2006/main" uri="{D6D511B9-2390-475A-947B-AFAB55BFBCF1}">
            <pc226:cmChg xmlns:pc226="http://schemas.microsoft.com/office/powerpoint/2022/06/main/command" chg="mod">
              <pc226:chgData name="Avni Dubey" userId="a80791b5-eace-4642-a1e7-0554773d8040" providerId="ADAL" clId="{FD87900F-2416-4A33-B0DC-64636F351BCD}" dt="2025-10-19T13:03:39.952" v="82" actId="21"/>
              <pc2:cmMkLst xmlns:pc2="http://schemas.microsoft.com/office/powerpoint/2019/9/main/command">
                <pc:docMk/>
                <pc:sldMk cId="2052544485" sldId="272"/>
                <pc2:cmMk id="{F3EA4295-1ACA-B444-9529-BCEC73998D8E}"/>
              </pc2:cmMkLst>
            </pc226:cmChg>
            <pc226:cmChg xmlns:pc226="http://schemas.microsoft.com/office/powerpoint/2022/06/main/command" chg="mod">
              <pc226:chgData name="Avni Dubey" userId="a80791b5-eace-4642-a1e7-0554773d8040" providerId="ADAL" clId="{FD87900F-2416-4A33-B0DC-64636F351BCD}" dt="2025-10-19T13:03:39.952" v="82" actId="21"/>
              <pc2:cmMkLst xmlns:pc2="http://schemas.microsoft.com/office/powerpoint/2019/9/main/command">
                <pc:docMk/>
                <pc:sldMk cId="2052544485" sldId="272"/>
                <pc2:cmMk id="{FEF668F7-4663-E643-93D7-EF68CCCBA190}"/>
              </pc2:cmMkLst>
            </pc226:cmChg>
          </p:ext>
        </pc:extLst>
      </pc:sldChg>
      <pc:sldChg chg="addSp delSp modSp mod setBg">
        <pc:chgData name="Avni Dubey" userId="a80791b5-eace-4642-a1e7-0554773d8040" providerId="ADAL" clId="{FD87900F-2416-4A33-B0DC-64636F351BCD}" dt="2025-10-19T13:55:51.767" v="302" actId="13822"/>
        <pc:sldMkLst>
          <pc:docMk/>
          <pc:sldMk cId="535667639" sldId="273"/>
        </pc:sldMkLst>
        <pc:spChg chg="mod">
          <ac:chgData name="Avni Dubey" userId="a80791b5-eace-4642-a1e7-0554773d8040" providerId="ADAL" clId="{FD87900F-2416-4A33-B0DC-64636F351BCD}" dt="2025-10-19T02:43:07.847" v="43" actId="26606"/>
          <ac:spMkLst>
            <pc:docMk/>
            <pc:sldMk cId="535667639" sldId="273"/>
            <ac:spMk id="15" creationId="{16DFC25E-2DB1-3FFD-A3BE-0845CB29D41B}"/>
          </ac:spMkLst>
        </pc:spChg>
        <pc:spChg chg="add del mod topLvl">
          <ac:chgData name="Avni Dubey" userId="a80791b5-eace-4642-a1e7-0554773d8040" providerId="ADAL" clId="{FD87900F-2416-4A33-B0DC-64636F351BCD}" dt="2025-10-19T02:44:59.035" v="47" actId="478"/>
          <ac:spMkLst>
            <pc:docMk/>
            <pc:sldMk cId="535667639" sldId="273"/>
            <ac:spMk id="71" creationId="{58206C40-0896-C342-B179-A46117F3BB65}"/>
          </ac:spMkLst>
        </pc:spChg>
        <pc:spChg chg="add del mod topLvl">
          <ac:chgData name="Avni Dubey" userId="a80791b5-eace-4642-a1e7-0554773d8040" providerId="ADAL" clId="{FD87900F-2416-4A33-B0DC-64636F351BCD}" dt="2025-10-19T13:39:36.098" v="144" actId="115"/>
          <ac:spMkLst>
            <pc:docMk/>
            <pc:sldMk cId="535667639" sldId="273"/>
            <ac:spMk id="72" creationId="{BF9A4B09-2416-711F-C99B-414C9CC2AB4E}"/>
          </ac:spMkLst>
        </pc:spChg>
        <pc:spChg chg="add del mod topLvl">
          <ac:chgData name="Avni Dubey" userId="a80791b5-eace-4642-a1e7-0554773d8040" providerId="ADAL" clId="{FD87900F-2416-4A33-B0DC-64636F351BCD}" dt="2025-10-19T13:29:56.237" v="105" actId="478"/>
          <ac:spMkLst>
            <pc:docMk/>
            <pc:sldMk cId="535667639" sldId="273"/>
            <ac:spMk id="74" creationId="{2DDA1D13-4E7B-88D8-7B59-D3E9E5B1F4BC}"/>
          </ac:spMkLst>
        </pc:spChg>
        <pc:spChg chg="add del mod topLvl">
          <ac:chgData name="Avni Dubey" userId="a80791b5-eace-4642-a1e7-0554773d8040" providerId="ADAL" clId="{FD87900F-2416-4A33-B0DC-64636F351BCD}" dt="2025-10-19T13:46:14.702" v="248" actId="1037"/>
          <ac:spMkLst>
            <pc:docMk/>
            <pc:sldMk cId="535667639" sldId="273"/>
            <ac:spMk id="75" creationId="{78D2B60D-32E8-E74A-1E46-E7F565961EA0}"/>
          </ac:spMkLst>
        </pc:spChg>
        <pc:spChg chg="add del mod topLvl">
          <ac:chgData name="Avni Dubey" userId="a80791b5-eace-4642-a1e7-0554773d8040" providerId="ADAL" clId="{FD87900F-2416-4A33-B0DC-64636F351BCD}" dt="2025-10-19T13:51:12.093" v="276" actId="13822"/>
          <ac:spMkLst>
            <pc:docMk/>
            <pc:sldMk cId="535667639" sldId="273"/>
            <ac:spMk id="77" creationId="{1B6DD845-1C0B-28BD-6A6E-683E061E1CDA}"/>
          </ac:spMkLst>
        </pc:spChg>
        <pc:spChg chg="add del mod topLvl">
          <ac:chgData name="Avni Dubey" userId="a80791b5-eace-4642-a1e7-0554773d8040" providerId="ADAL" clId="{FD87900F-2416-4A33-B0DC-64636F351BCD}" dt="2025-10-19T13:51:16" v="277" actId="13822"/>
          <ac:spMkLst>
            <pc:docMk/>
            <pc:sldMk cId="535667639" sldId="273"/>
            <ac:spMk id="78" creationId="{649BED30-D456-08FC-16F7-774373EA82A9}"/>
          </ac:spMkLst>
        </pc:spChg>
        <pc:spChg chg="mod">
          <ac:chgData name="Avni Dubey" userId="a80791b5-eace-4642-a1e7-0554773d8040" providerId="ADAL" clId="{FD87900F-2416-4A33-B0DC-64636F351BCD}" dt="2025-10-19T13:55:48.628" v="301" actId="13822"/>
          <ac:spMkLst>
            <pc:docMk/>
            <pc:sldMk cId="535667639" sldId="273"/>
            <ac:spMk id="122" creationId="{EB43D148-87CD-C6C9-D33E-182060F33BCC}"/>
          </ac:spMkLst>
        </pc:spChg>
        <pc:spChg chg="mod">
          <ac:chgData name="Avni Dubey" userId="a80791b5-eace-4642-a1e7-0554773d8040" providerId="ADAL" clId="{FD87900F-2416-4A33-B0DC-64636F351BCD}" dt="2025-10-19T13:55:32.803" v="299" actId="13822"/>
          <ac:spMkLst>
            <pc:docMk/>
            <pc:sldMk cId="535667639" sldId="273"/>
            <ac:spMk id="123" creationId="{034E1F91-7637-98F6-95E6-DEF9FBD38C9F}"/>
          </ac:spMkLst>
        </pc:spChg>
        <pc:spChg chg="mod">
          <ac:chgData name="Avni Dubey" userId="a80791b5-eace-4642-a1e7-0554773d8040" providerId="ADAL" clId="{FD87900F-2416-4A33-B0DC-64636F351BCD}" dt="2025-10-19T13:55:51.767" v="302" actId="13822"/>
          <ac:spMkLst>
            <pc:docMk/>
            <pc:sldMk cId="535667639" sldId="273"/>
            <ac:spMk id="124" creationId="{42727281-E750-5961-4B52-6BA76E6BEB11}"/>
          </ac:spMkLst>
        </pc:spChg>
        <pc:spChg chg="mod">
          <ac:chgData name="Avni Dubey" userId="a80791b5-eace-4642-a1e7-0554773d8040" providerId="ADAL" clId="{FD87900F-2416-4A33-B0DC-64636F351BCD}" dt="2025-10-19T13:42:34.069" v="160" actId="13822"/>
          <ac:spMkLst>
            <pc:docMk/>
            <pc:sldMk cId="535667639" sldId="273"/>
            <ac:spMk id="125" creationId="{A52E0967-4214-5608-62CD-2B60DC3E0FAA}"/>
          </ac:spMkLst>
        </pc:spChg>
        <pc:spChg chg="mod">
          <ac:chgData name="Avni Dubey" userId="a80791b5-eace-4642-a1e7-0554773d8040" providerId="ADAL" clId="{FD87900F-2416-4A33-B0DC-64636F351BCD}" dt="2025-10-19T13:49:32.392" v="263" actId="13822"/>
          <ac:spMkLst>
            <pc:docMk/>
            <pc:sldMk cId="535667639" sldId="273"/>
            <ac:spMk id="126" creationId="{7695E3B8-A2B4-FF83-13DF-ACB8069CF1BA}"/>
          </ac:spMkLst>
        </pc:spChg>
        <pc:spChg chg="mod">
          <ac:chgData name="Avni Dubey" userId="a80791b5-eace-4642-a1e7-0554773d8040" providerId="ADAL" clId="{FD87900F-2416-4A33-B0DC-64636F351BCD}" dt="2025-10-19T13:54:20.354" v="293" actId="14100"/>
          <ac:spMkLst>
            <pc:docMk/>
            <pc:sldMk cId="535667639" sldId="273"/>
            <ac:spMk id="127" creationId="{6CBF0243-558F-64DC-5B72-11007657B551}"/>
          </ac:spMkLst>
        </pc:spChg>
        <pc:spChg chg="mod">
          <ac:chgData name="Avni Dubey" userId="a80791b5-eace-4642-a1e7-0554773d8040" providerId="ADAL" clId="{FD87900F-2416-4A33-B0DC-64636F351BCD}" dt="2025-10-19T13:55:21.574" v="298" actId="13822"/>
          <ac:spMkLst>
            <pc:docMk/>
            <pc:sldMk cId="535667639" sldId="273"/>
            <ac:spMk id="128" creationId="{C3FBE521-241F-9E4A-ED00-19743A090437}"/>
          </ac:spMkLst>
        </pc:spChg>
        <pc:spChg chg="del mod">
          <ac:chgData name="Avni Dubey" userId="a80791b5-eace-4642-a1e7-0554773d8040" providerId="ADAL" clId="{FD87900F-2416-4A33-B0DC-64636F351BCD}" dt="2025-10-19T13:26:08.918" v="89" actId="478"/>
          <ac:spMkLst>
            <pc:docMk/>
            <pc:sldMk cId="535667639" sldId="273"/>
            <ac:spMk id="130" creationId="{5313F0D7-C6BC-D1C3-E052-5649D4F1C5FA}"/>
          </ac:spMkLst>
        </pc:spChg>
        <pc:spChg chg="del mod">
          <ac:chgData name="Avni Dubey" userId="a80791b5-eace-4642-a1e7-0554773d8040" providerId="ADAL" clId="{FD87900F-2416-4A33-B0DC-64636F351BCD}" dt="2025-10-19T13:26:07.146" v="88" actId="478"/>
          <ac:spMkLst>
            <pc:docMk/>
            <pc:sldMk cId="535667639" sldId="273"/>
            <ac:spMk id="131" creationId="{1E23F6F0-95FD-3CA7-BFAD-0CA8D9B3AC92}"/>
          </ac:spMkLst>
        </pc:spChg>
        <pc:spChg chg="del mod">
          <ac:chgData name="Avni Dubey" userId="a80791b5-eace-4642-a1e7-0554773d8040" providerId="ADAL" clId="{FD87900F-2416-4A33-B0DC-64636F351BCD}" dt="2025-10-19T13:26:04.566" v="87" actId="478"/>
          <ac:spMkLst>
            <pc:docMk/>
            <pc:sldMk cId="535667639" sldId="273"/>
            <ac:spMk id="132" creationId="{3EBBAE4D-4E5B-E2B9-7527-51D8D3041BCA}"/>
          </ac:spMkLst>
        </pc:spChg>
        <pc:spChg chg="del mod">
          <ac:chgData name="Avni Dubey" userId="a80791b5-eace-4642-a1e7-0554773d8040" providerId="ADAL" clId="{FD87900F-2416-4A33-B0DC-64636F351BCD}" dt="2025-10-19T13:26:01.141" v="86" actId="478"/>
          <ac:spMkLst>
            <pc:docMk/>
            <pc:sldMk cId="535667639" sldId="273"/>
            <ac:spMk id="143" creationId="{B59EB8F9-F8A5-0E84-D403-2BFA82917CC5}"/>
          </ac:spMkLst>
        </pc:spChg>
        <pc:spChg chg="add del">
          <ac:chgData name="Avni Dubey" userId="a80791b5-eace-4642-a1e7-0554773d8040" providerId="ADAL" clId="{FD87900F-2416-4A33-B0DC-64636F351BCD}" dt="2025-10-19T02:42:57.947" v="41" actId="26606"/>
          <ac:spMkLst>
            <pc:docMk/>
            <pc:sldMk cId="535667639" sldId="273"/>
            <ac:spMk id="144" creationId="{6288FC2F-B192-42B2-90BE-517E1039BE0B}"/>
          </ac:spMkLst>
        </pc:spChg>
        <pc:spChg chg="mod">
          <ac:chgData name="Avni Dubey" userId="a80791b5-eace-4642-a1e7-0554773d8040" providerId="ADAL" clId="{FD87900F-2416-4A33-B0DC-64636F351BCD}" dt="2025-10-19T02:46:03.199" v="61" actId="18245"/>
          <ac:spMkLst>
            <pc:docMk/>
            <pc:sldMk cId="535667639" sldId="273"/>
            <ac:spMk id="145" creationId="{B21F26C7-A638-4132-DAEE-9791F3B4E148}"/>
          </ac:spMkLst>
        </pc:spChg>
        <pc:spChg chg="mod">
          <ac:chgData name="Avni Dubey" userId="a80791b5-eace-4642-a1e7-0554773d8040" providerId="ADAL" clId="{FD87900F-2416-4A33-B0DC-64636F351BCD}" dt="2025-10-19T02:46:03.199" v="61" actId="18245"/>
          <ac:spMkLst>
            <pc:docMk/>
            <pc:sldMk cId="535667639" sldId="273"/>
            <ac:spMk id="154" creationId="{D67724FD-0BB9-5C0A-5D5A-3FC95AF2C428}"/>
          </ac:spMkLst>
        </pc:spChg>
        <pc:spChg chg="add del">
          <ac:chgData name="Avni Dubey" userId="a80791b5-eace-4642-a1e7-0554773d8040" providerId="ADAL" clId="{FD87900F-2416-4A33-B0DC-64636F351BCD}" dt="2025-10-19T02:42:57.947" v="41" actId="26606"/>
          <ac:spMkLst>
            <pc:docMk/>
            <pc:sldMk cId="535667639" sldId="273"/>
            <ac:spMk id="155" creationId="{CC28BCC9-4093-4FD5-83EB-7EC297F51396}"/>
          </ac:spMkLst>
        </pc:spChg>
        <pc:spChg chg="mod">
          <ac:chgData name="Avni Dubey" userId="a80791b5-eace-4642-a1e7-0554773d8040" providerId="ADAL" clId="{FD87900F-2416-4A33-B0DC-64636F351BCD}" dt="2025-10-19T02:46:03.199" v="61" actId="18245"/>
          <ac:spMkLst>
            <pc:docMk/>
            <pc:sldMk cId="535667639" sldId="273"/>
            <ac:spMk id="156" creationId="{7C297B63-505D-7A17-D8CF-7BC7D1BB9ED7}"/>
          </ac:spMkLst>
        </pc:spChg>
        <pc:spChg chg="add del">
          <ac:chgData name="Avni Dubey" userId="a80791b5-eace-4642-a1e7-0554773d8040" providerId="ADAL" clId="{FD87900F-2416-4A33-B0DC-64636F351BCD}" dt="2025-10-19T02:43:07.847" v="43" actId="26606"/>
          <ac:spMkLst>
            <pc:docMk/>
            <pc:sldMk cId="535667639" sldId="273"/>
            <ac:spMk id="158" creationId="{6288FC2F-B192-42B2-90BE-517E1039BE0B}"/>
          </ac:spMkLst>
        </pc:spChg>
        <pc:grpChg chg="add del mod">
          <ac:chgData name="Avni Dubey" userId="a80791b5-eace-4642-a1e7-0554773d8040" providerId="ADAL" clId="{FD87900F-2416-4A33-B0DC-64636F351BCD}" dt="2025-10-19T13:46:14.702" v="248" actId="1037"/>
          <ac:grpSpMkLst>
            <pc:docMk/>
            <pc:sldMk cId="535667639" sldId="273"/>
            <ac:grpSpMk id="61" creationId="{2DAE8B1F-EC49-C6DB-E113-68A24AB9C051}"/>
          </ac:grpSpMkLst>
        </pc:grpChg>
        <pc:grpChg chg="add del mod">
          <ac:chgData name="Avni Dubey" userId="a80791b5-eace-4642-a1e7-0554773d8040" providerId="ADAL" clId="{FD87900F-2416-4A33-B0DC-64636F351BCD}" dt="2025-10-19T13:29:56.237" v="105" actId="478"/>
          <ac:grpSpMkLst>
            <pc:docMk/>
            <pc:sldMk cId="535667639" sldId="273"/>
            <ac:grpSpMk id="73" creationId="{45A52534-BBAE-1990-9D96-515A5D6698B2}"/>
          </ac:grpSpMkLst>
        </pc:grpChg>
        <pc:grpChg chg="add del mod">
          <ac:chgData name="Avni Dubey" userId="a80791b5-eace-4642-a1e7-0554773d8040" providerId="ADAL" clId="{FD87900F-2416-4A33-B0DC-64636F351BCD}" dt="2025-10-19T13:50:21.604" v="270" actId="1076"/>
          <ac:grpSpMkLst>
            <pc:docMk/>
            <pc:sldMk cId="535667639" sldId="273"/>
            <ac:grpSpMk id="76" creationId="{8D742CBA-55E0-A9B6-543E-FD52547816BF}"/>
          </ac:grpSpMkLst>
        </pc:grpChg>
        <pc:grpChg chg="add mod">
          <ac:chgData name="Avni Dubey" userId="a80791b5-eace-4642-a1e7-0554773d8040" providerId="ADAL" clId="{FD87900F-2416-4A33-B0DC-64636F351BCD}" dt="2025-10-19T13:53:20.528" v="288" actId="1076"/>
          <ac:grpSpMkLst>
            <pc:docMk/>
            <pc:sldMk cId="535667639" sldId="273"/>
            <ac:grpSpMk id="121" creationId="{6AA07C04-F74C-18EE-D3A3-AFBEAE6526DB}"/>
          </ac:grpSpMkLst>
        </pc:grpChg>
        <pc:grpChg chg="del mod">
          <ac:chgData name="Avni Dubey" userId="a80791b5-eace-4642-a1e7-0554773d8040" providerId="ADAL" clId="{FD87900F-2416-4A33-B0DC-64636F351BCD}" dt="2025-10-19T13:26:12.963" v="90" actId="478"/>
          <ac:grpSpMkLst>
            <pc:docMk/>
            <pc:sldMk cId="535667639" sldId="273"/>
            <ac:grpSpMk id="129" creationId="{FFBA8EC1-849C-7153-BF7A-5DF6B0A50005}"/>
          </ac:grpSpMkLst>
        </pc:grpChg>
        <pc:grpChg chg="add del">
          <ac:chgData name="Avni Dubey" userId="a80791b5-eace-4642-a1e7-0554773d8040" providerId="ADAL" clId="{FD87900F-2416-4A33-B0DC-64636F351BCD}" dt="2025-10-19T02:42:57.947" v="41" actId="26606"/>
          <ac:grpSpMkLst>
            <pc:docMk/>
            <pc:sldMk cId="535667639" sldId="273"/>
            <ac:grpSpMk id="133" creationId="{E5D4A15D-C852-47D7-A7E3-7F8FEE9FCA9D}"/>
          </ac:grpSpMkLst>
        </pc:grpChg>
        <pc:grpChg chg="add del">
          <ac:chgData name="Avni Dubey" userId="a80791b5-eace-4642-a1e7-0554773d8040" providerId="ADAL" clId="{FD87900F-2416-4A33-B0DC-64636F351BCD}" dt="2025-10-19T02:42:57.947" v="41" actId="26606"/>
          <ac:grpSpMkLst>
            <pc:docMk/>
            <pc:sldMk cId="535667639" sldId="273"/>
            <ac:grpSpMk id="146" creationId="{08BCF048-8940-4354-B9EC-5AD74E283CE3}"/>
          </ac:grpSpMkLst>
        </pc:grpChg>
        <pc:grpChg chg="add del">
          <ac:chgData name="Avni Dubey" userId="a80791b5-eace-4642-a1e7-0554773d8040" providerId="ADAL" clId="{FD87900F-2416-4A33-B0DC-64636F351BCD}" dt="2025-10-19T02:43:07.847" v="43" actId="26606"/>
          <ac:grpSpMkLst>
            <pc:docMk/>
            <pc:sldMk cId="535667639" sldId="273"/>
            <ac:grpSpMk id="157" creationId="{E5D4A15D-C852-47D7-A7E3-7F8FEE9FCA9D}"/>
          </ac:grpSpMkLst>
        </pc:grpChg>
        <pc:graphicFrameChg chg="add del mod">
          <ac:chgData name="Avni Dubey" userId="a80791b5-eace-4642-a1e7-0554773d8040" providerId="ADAL" clId="{FD87900F-2416-4A33-B0DC-64636F351BCD}" dt="2025-10-19T02:46:03.199" v="61" actId="18245"/>
          <ac:graphicFrameMkLst>
            <pc:docMk/>
            <pc:sldMk cId="535667639" sldId="273"/>
            <ac:graphicFrameMk id="19" creationId="{E924EB2B-067B-4458-5CB9-4DC8AAA2F63E}"/>
          </ac:graphicFrameMkLst>
        </pc:graphicFrameChg>
        <pc:graphicFrameChg chg="add del mod modGraphic">
          <ac:chgData name="Avni Dubey" userId="a80791b5-eace-4642-a1e7-0554773d8040" providerId="ADAL" clId="{FD87900F-2416-4A33-B0DC-64636F351BCD}" dt="2025-10-19T02:45:10.072" v="59" actId="21"/>
          <ac:graphicFrameMkLst>
            <pc:docMk/>
            <pc:sldMk cId="535667639" sldId="273"/>
            <ac:graphicFrameMk id="120" creationId="{4B8C9CA4-70EA-C177-D633-EB9B6A65DF1A}"/>
          </ac:graphicFrameMkLst>
        </pc:graphicFrameChg>
        <pc:graphicFrameChg chg="add del mod modGraphic">
          <ac:chgData name="Avni Dubey" userId="a80791b5-eace-4642-a1e7-0554773d8040" providerId="ADAL" clId="{FD87900F-2416-4A33-B0DC-64636F351BCD}" dt="2025-10-19T02:47:23.596" v="70" actId="1032"/>
          <ac:graphicFrameMkLst>
            <pc:docMk/>
            <pc:sldMk cId="535667639" sldId="273"/>
            <ac:graphicFrameMk id="159" creationId="{02AD0606-F78A-EF08-FE52-6FE7B9E59630}"/>
          </ac:graphicFrameMkLst>
        </pc:graphicFrameChg>
        <pc:cxnChg chg="add del">
          <ac:chgData name="Avni Dubey" userId="a80791b5-eace-4642-a1e7-0554773d8040" providerId="ADAL" clId="{FD87900F-2416-4A33-B0DC-64636F351BCD}" dt="2025-10-19T02:46:44.292" v="64" actId="478"/>
          <ac:cxnSpMkLst>
            <pc:docMk/>
            <pc:sldMk cId="535667639" sldId="273"/>
            <ac:cxnSpMk id="111" creationId="{5C981796-C879-B309-AFE9-A8E27790FF3A}"/>
          </ac:cxnSpMkLst>
        </pc:cxnChg>
        <pc:cxnChg chg="add del mod">
          <ac:chgData name="Avni Dubey" userId="a80791b5-eace-4642-a1e7-0554773d8040" providerId="ADAL" clId="{FD87900F-2416-4A33-B0DC-64636F351BCD}" dt="2025-10-19T02:46:47.525" v="65" actId="478"/>
          <ac:cxnSpMkLst>
            <pc:docMk/>
            <pc:sldMk cId="535667639" sldId="273"/>
            <ac:cxnSpMk id="113" creationId="{65BE8201-4918-40B5-FC99-B13EA5A0F2C3}"/>
          </ac:cxnSpMkLst>
        </pc:cxnChg>
        <pc:cxnChg chg="add del">
          <ac:chgData name="Avni Dubey" userId="a80791b5-eace-4642-a1e7-0554773d8040" providerId="ADAL" clId="{FD87900F-2416-4A33-B0DC-64636F351BCD}" dt="2025-10-19T02:46:44.292" v="64" actId="478"/>
          <ac:cxnSpMkLst>
            <pc:docMk/>
            <pc:sldMk cId="535667639" sldId="273"/>
            <ac:cxnSpMk id="115" creationId="{416AABA5-C938-3BD8-67FD-61676BCD97BF}"/>
          </ac:cxnSpMkLst>
        </pc:cxnChg>
        <pc:cxnChg chg="add del mod">
          <ac:chgData name="Avni Dubey" userId="a80791b5-eace-4642-a1e7-0554773d8040" providerId="ADAL" clId="{FD87900F-2416-4A33-B0DC-64636F351BCD}" dt="2025-10-19T02:46:44.292" v="64" actId="478"/>
          <ac:cxnSpMkLst>
            <pc:docMk/>
            <pc:sldMk cId="535667639" sldId="273"/>
            <ac:cxnSpMk id="117" creationId="{51D95C6D-FD1B-5AD5-9AF9-137F7284FCD0}"/>
          </ac:cxnSpMkLst>
        </pc:cxnChg>
        <pc:cxnChg chg="add del">
          <ac:chgData name="Avni Dubey" userId="a80791b5-eace-4642-a1e7-0554773d8040" providerId="ADAL" clId="{FD87900F-2416-4A33-B0DC-64636F351BCD}" dt="2025-10-19T02:46:48.559" v="66" actId="478"/>
          <ac:cxnSpMkLst>
            <pc:docMk/>
            <pc:sldMk cId="535667639" sldId="273"/>
            <ac:cxnSpMk id="119" creationId="{E0B180D3-6C6C-FD6A-5C6F-BFEB22BC49AB}"/>
          </ac:cxnSpMkLst>
        </pc:cxnChg>
      </pc:sldChg>
      <pc:sldChg chg="addSp delSp modSp mod modClrScheme delDesignElem chgLayout">
        <pc:chgData name="Avni Dubey" userId="a80791b5-eace-4642-a1e7-0554773d8040" providerId="ADAL" clId="{FD87900F-2416-4A33-B0DC-64636F351BCD}" dt="2025-10-19T14:34:16.553" v="441"/>
        <pc:sldMkLst>
          <pc:docMk/>
          <pc:sldMk cId="3037576028" sldId="275"/>
        </pc:sldMkLst>
        <pc:spChg chg="add del mod ord">
          <ac:chgData name="Avni Dubey" userId="a80791b5-eace-4642-a1e7-0554773d8040" providerId="ADAL" clId="{FD87900F-2416-4A33-B0DC-64636F351BCD}" dt="2025-10-19T14:30:11.982" v="422" actId="478"/>
          <ac:spMkLst>
            <pc:docMk/>
            <pc:sldMk cId="3037576028" sldId="275"/>
            <ac:spMk id="2" creationId="{183E6588-90F5-B3E1-573D-2E59E7F53898}"/>
          </ac:spMkLst>
        </pc:spChg>
        <pc:spChg chg="add del mod ord">
          <ac:chgData name="Avni Dubey" userId="a80791b5-eace-4642-a1e7-0554773d8040" providerId="ADAL" clId="{FD87900F-2416-4A33-B0DC-64636F351BCD}" dt="2025-10-19T14:30:18.403" v="423" actId="478"/>
          <ac:spMkLst>
            <pc:docMk/>
            <pc:sldMk cId="3037576028" sldId="275"/>
            <ac:spMk id="3" creationId="{F5E3ECD3-AF64-7F87-F0B7-C5ACD05ACA0A}"/>
          </ac:spMkLst>
        </pc:spChg>
        <pc:spChg chg="mod ord">
          <ac:chgData name="Avni Dubey" userId="a80791b5-eace-4642-a1e7-0554773d8040" providerId="ADAL" clId="{FD87900F-2416-4A33-B0DC-64636F351BCD}" dt="2025-10-19T14:29:46.070" v="419" actId="700"/>
          <ac:spMkLst>
            <pc:docMk/>
            <pc:sldMk cId="3037576028" sldId="275"/>
            <ac:spMk id="5" creationId="{722C8DA4-0A44-FB09-6306-8B73416A00CF}"/>
          </ac:spMkLst>
        </pc:spChg>
        <pc:spChg chg="del">
          <ac:chgData name="Avni Dubey" userId="a80791b5-eace-4642-a1e7-0554773d8040" providerId="ADAL" clId="{FD87900F-2416-4A33-B0DC-64636F351BCD}" dt="2025-10-19T14:29:46.070" v="419" actId="700"/>
          <ac:spMkLst>
            <pc:docMk/>
            <pc:sldMk cId="3037576028" sldId="275"/>
            <ac:spMk id="51" creationId="{6288FC2F-B192-42B2-90BE-517E1039BE0B}"/>
          </ac:spMkLst>
        </pc:spChg>
        <pc:grpChg chg="del">
          <ac:chgData name="Avni Dubey" userId="a80791b5-eace-4642-a1e7-0554773d8040" providerId="ADAL" clId="{FD87900F-2416-4A33-B0DC-64636F351BCD}" dt="2025-10-19T14:29:46.070" v="419" actId="700"/>
          <ac:grpSpMkLst>
            <pc:docMk/>
            <pc:sldMk cId="3037576028" sldId="275"/>
            <ac:grpSpMk id="40" creationId="{E5D4A15D-C852-47D7-A7E3-7F8FEE9FCA9D}"/>
          </ac:grpSpMkLst>
        </pc:grpChg>
        <pc:graphicFrameChg chg="mod">
          <ac:chgData name="Avni Dubey" userId="a80791b5-eace-4642-a1e7-0554773d8040" providerId="ADAL" clId="{FD87900F-2416-4A33-B0DC-64636F351BCD}" dt="2025-10-19T14:34:16.553" v="441"/>
          <ac:graphicFrameMkLst>
            <pc:docMk/>
            <pc:sldMk cId="3037576028" sldId="275"/>
            <ac:graphicFrameMk id="9" creationId="{A5B6FCB6-F158-88DE-F2EE-5406159EF80E}"/>
          </ac:graphicFrameMkLst>
        </pc:graphicFrameChg>
      </pc:sldChg>
      <pc:sldChg chg="modSp mod">
        <pc:chgData name="Avni Dubey" userId="a80791b5-eace-4642-a1e7-0554773d8040" providerId="ADAL" clId="{FD87900F-2416-4A33-B0DC-64636F351BCD}" dt="2025-10-19T14:36:04.555" v="443" actId="255"/>
        <pc:sldMkLst>
          <pc:docMk/>
          <pc:sldMk cId="2256413855" sldId="278"/>
        </pc:sldMkLst>
        <pc:spChg chg="mod">
          <ac:chgData name="Avni Dubey" userId="a80791b5-eace-4642-a1e7-0554773d8040" providerId="ADAL" clId="{FD87900F-2416-4A33-B0DC-64636F351BCD}" dt="2025-10-19T14:36:04.555" v="443" actId="255"/>
          <ac:spMkLst>
            <pc:docMk/>
            <pc:sldMk cId="2256413855" sldId="278"/>
            <ac:spMk id="2" creationId="{2664F3B0-3D6E-D822-D6F2-688CDD63FB37}"/>
          </ac:spMkLst>
        </pc:spChg>
      </pc:sldChg>
    </pc:docChg>
  </pc:docChgLst>
</pc:chgInfo>
</file>

<file path=ppt/comments/modernComment_10A_5B8BB09.xml><?xml version="1.0" encoding="utf-8"?>
<p188:cmLst xmlns:a="http://schemas.openxmlformats.org/drawingml/2006/main" xmlns:r="http://schemas.openxmlformats.org/officeDocument/2006/relationships" xmlns:p188="http://schemas.microsoft.com/office/powerpoint/2018/8/main">
  <p188:cm id="{39164D8B-FE78-EE46-8721-AE892E07508D}" authorId="{F241D1EA-97FD-437D-F878-044A343F946B}" created="2025-10-15T03:08:23.623">
    <ac:deMkLst xmlns:ac="http://schemas.microsoft.com/office/drawing/2013/main/command">
      <pc:docMk xmlns:pc="http://schemas.microsoft.com/office/powerpoint/2013/main/command"/>
      <pc:sldMk xmlns:pc="http://schemas.microsoft.com/office/powerpoint/2013/main/command" cId="95992585" sldId="266"/>
      <ac:picMk id="11" creationId="{16078FCD-68C2-4FA6-914E-500A6CAB18DE}"/>
    </ac:deMkLst>
    <p188:txBody>
      <a:bodyPr/>
      <a:lstStyle/>
      <a:p>
        <a:r>
          <a:rPr lang="en-AU"/>
          <a:t>Adjust scale of source image so text is legible. </a:t>
        </a:r>
      </a:p>
    </p188:txBody>
  </p188:cm>
</p188:cmLst>
</file>

<file path=ppt/comments/modernComment_10D_5B8BB09.xml><?xml version="1.0" encoding="utf-8"?>
<p188:cmLst xmlns:a="http://schemas.openxmlformats.org/drawingml/2006/main" xmlns:r="http://schemas.openxmlformats.org/officeDocument/2006/relationships" xmlns:p188="http://schemas.microsoft.com/office/powerpoint/2018/8/main">
  <p188:cm id="{976FFCAB-8F7D-AE45-B30E-4E49D89E0E94}" authorId="{F241D1EA-97FD-437D-F878-044A343F946B}" created="2025-10-15T03:08:36.777">
    <ac:deMkLst xmlns:ac="http://schemas.microsoft.com/office/drawing/2013/main/command">
      <pc:docMk xmlns:pc="http://schemas.microsoft.com/office/powerpoint/2013/main/command"/>
      <pc:sldMk xmlns:pc="http://schemas.microsoft.com/office/powerpoint/2013/main/command" cId="95992585" sldId="269"/>
      <ac:picMk id="14" creationId="{5DADFB4A-4338-4F37-8012-9DF3C2F7287C}"/>
    </ac:deMkLst>
    <p188:txBody>
      <a:bodyPr/>
      <a:lstStyle/>
      <a:p>
        <a:r>
          <a:rPr lang="en-AU"/>
          <a:t>Image scale + image stretch for text legibility. Remember we mentioned the necessity of those trend lines for this chart. Remeber we also talked baout how necessary the trend lines were on this chart. Not sure they add all that much when they are already segmented.</a:t>
        </a:r>
      </a:p>
    </p188:txBody>
  </p188:cm>
</p188:cmLst>
</file>

<file path=ppt/comments/modernComment_101_5B8BB09.xml><?xml version="1.0" encoding="utf-8"?>
<p188:cmLst xmlns:a="http://schemas.openxmlformats.org/drawingml/2006/main" xmlns:r="http://schemas.openxmlformats.org/officeDocument/2006/relationships" xmlns:p188="http://schemas.microsoft.com/office/powerpoint/2018/8/main">
  <p188:cm id="{C0F94368-4439-014D-9B2E-09EA6BFCE6CF}" authorId="{F241D1EA-97FD-437D-F878-044A343F946B}" created="2025-10-15T03:07:33.447">
    <ac:deMkLst xmlns:ac="http://schemas.microsoft.com/office/drawing/2013/main/command">
      <pc:docMk xmlns:pc="http://schemas.microsoft.com/office/powerpoint/2013/main/command"/>
      <pc:sldMk xmlns:pc="http://schemas.microsoft.com/office/powerpoint/2013/main/command" cId="95992585" sldId="257"/>
      <ac:picMk id="2" creationId="{CA16C1C2-A659-4EF5-B935-F8C09AFA574C}"/>
    </ac:deMkLst>
    <p188:txBody>
      <a:bodyPr/>
      <a:lstStyle/>
      <a:p>
        <a:r>
          <a:rPr lang="en-AU"/>
          <a:t>Remember to replace this image with a version that doesn't appear stretched out.</a:t>
        </a:r>
      </a:p>
    </p188:txBody>
  </p188:cm>
  <p188:cm id="{931ADBC4-B972-3244-9AD3-67ABEE214363}" authorId="{F241D1EA-97FD-437D-F878-044A343F946B}" created="2025-10-15T03:07:45.612">
    <ac:deMkLst xmlns:ac="http://schemas.microsoft.com/office/drawing/2013/main/command">
      <pc:docMk xmlns:pc="http://schemas.microsoft.com/office/powerpoint/2013/main/command"/>
      <pc:sldMk xmlns:pc="http://schemas.microsoft.com/office/powerpoint/2013/main/command" cId="95992585" sldId="257"/>
      <ac:spMk id="14" creationId="{31FA47ED-EEEB-7CB7-8AB4-B4F241A1096B}"/>
    </ac:deMkLst>
    <p188:txBody>
      <a:bodyPr/>
      <a:lstStyle/>
      <a:p>
        <a:r>
          <a:rPr lang="en-AU"/>
          <a:t>I'd recommend as a whole just getting the slides looking more cohesive. Text formatting seems a bit disjointed between each of these slides showing the dashboards you've created (title + descriptions). The dashboard images also sometimes cover the purple graphic.</a:t>
        </a:r>
      </a:p>
    </p188:txBody>
  </p188:cm>
</p188:cmLst>
</file>

<file path=ppt/comments/modernComment_102_5B8BB09.xml><?xml version="1.0" encoding="utf-8"?>
<p188:cmLst xmlns:a="http://schemas.openxmlformats.org/drawingml/2006/main" xmlns:r="http://schemas.openxmlformats.org/officeDocument/2006/relationships" xmlns:p188="http://schemas.microsoft.com/office/powerpoint/2018/8/main">
  <p188:cm id="{586A2B3A-8F53-3246-8996-626B3BE7812B}" authorId="{F241D1EA-97FD-437D-F878-044A343F946B}" created="2025-10-15T03:08:03.718">
    <ac:deMkLst xmlns:ac="http://schemas.microsoft.com/office/drawing/2013/main/command">
      <pc:docMk xmlns:pc="http://schemas.microsoft.com/office/powerpoint/2013/main/command"/>
      <pc:sldMk xmlns:pc="http://schemas.microsoft.com/office/powerpoint/2013/main/command" cId="95992585" sldId="258"/>
      <ac:picMk id="3" creationId="{5F348D74-0989-46F7-B75E-401B07E05D5B}"/>
    </ac:deMkLst>
    <p188:replyLst>
      <p188:reply id="{14ACEB5A-6ED4-3240-87CA-5C7611B1A640}" authorId="{F241D1EA-97FD-437D-F878-044A343F946B}" created="2025-10-15T03:08:11.097">
        <p188:txBody>
          <a:bodyPr/>
          <a:lstStyle/>
          <a:p>
            <a:r>
              <a:rPr lang="en-AU"/>
              <a:t>Get the individual charts looking consistent too - like they all belong to the same dashboard. Primarily the title on this slide. </a:t>
            </a:r>
          </a:p>
        </p188:txBody>
      </p188:reply>
    </p188:replyLst>
    <p188:txBody>
      <a:bodyPr/>
      <a:lstStyle/>
      <a:p>
        <a:r>
          <a:rPr lang="en-AU"/>
          <a:t>I would again adjust the scale of this source image so that the text is legible</a:t>
        </a:r>
      </a:p>
    </p188:txBody>
  </p188:cm>
</p188:cmLst>
</file>

<file path=ppt/comments/modernComment_110_7A5757E5.xml><?xml version="1.0" encoding="utf-8"?>
<p188:cmLst xmlns:a="http://schemas.openxmlformats.org/drawingml/2006/main" xmlns:r="http://schemas.openxmlformats.org/officeDocument/2006/relationships" xmlns:p188="http://schemas.microsoft.com/office/powerpoint/2018/8/main">
  <p188:cm id="{F3EA4295-1ACA-B444-9529-BCEC73998D8E}" authorId="{F241D1EA-97FD-437D-F878-044A343F946B}" created="2025-10-15T03:04:18.431">
    <ac:txMkLst xmlns:ac="http://schemas.microsoft.com/office/drawing/2013/main/command">
      <pc:docMk xmlns:pc="http://schemas.microsoft.com/office/powerpoint/2013/main/command"/>
      <pc:sldMk xmlns:pc="http://schemas.microsoft.com/office/powerpoint/2013/main/command" cId="2052544485" sldId="272"/>
      <ac:spMk id="4" creationId="{7AC26181-9113-0766-CD69-5F5772310368}"/>
      <ac:txMk cp="83" len="30">
        <ac:context len="115" hash="3203803934"/>
      </ac:txMk>
    </ac:txMkLst>
    <p188:pos x="3705860" y="3982720"/>
    <p188:txBody>
      <a:bodyPr/>
      <a:lstStyle/>
      <a:p>
        <a:r>
          <a:rPr lang="en-AU"/>
          <a:t>(Jackson) Thinking about audience, might be good to highlight that these are digital forms and competitions. Some audience members might not know what Tradable Bits is</a:t>
        </a:r>
      </a:p>
    </p188:txBody>
  </p188:cm>
  <p188:cm id="{FEF668F7-4663-E643-93D7-EF68CCCBA190}" authorId="{F241D1EA-97FD-437D-F878-044A343F946B}" created="2025-10-15T03:04:43.304">
    <ac:txMkLst xmlns:ac="http://schemas.microsoft.com/office/drawing/2013/main/command">
      <pc:docMk xmlns:pc="http://schemas.microsoft.com/office/powerpoint/2013/main/command"/>
      <pc:sldMk xmlns:pc="http://schemas.microsoft.com/office/powerpoint/2013/main/command" cId="2052544485" sldId="272"/>
      <ac:spMk id="4" creationId="{7AC26181-9113-0766-CD69-5F5772310368}"/>
      <ac:txMk cp="66" len="16">
        <ac:context len="115" hash="3203803934"/>
      </ac:txMk>
    </ac:txMkLst>
    <p188:pos x="2397760" y="4300220"/>
    <p188:txBody>
      <a:bodyPr/>
      <a:lstStyle/>
      <a:p>
        <a:r>
          <a:rPr lang="en-AU"/>
          <a:t>(Jackson) Same as E-Commerce Orders? Or are we factoring in something else here?</a:t>
        </a:r>
      </a:p>
    </p188:txBody>
  </p188:cm>
</p188:cmLst>
</file>

<file path=ppt/comments/modernComment_111_1FEDA3B7.xml><?xml version="1.0" encoding="utf-8"?>
<p188:cmLst xmlns:a="http://schemas.openxmlformats.org/drawingml/2006/main" xmlns:r="http://schemas.openxmlformats.org/officeDocument/2006/relationships" xmlns:p188="http://schemas.microsoft.com/office/powerpoint/2018/8/main">
  <p188:cm id="{4F543FF7-038B-F845-9736-53D9773A2CE0}" authorId="{F241D1EA-97FD-437D-F878-044A343F946B}" created="2025-10-15T03:15:28.330">
    <ac:deMkLst xmlns:ac="http://schemas.microsoft.com/office/drawing/2013/main/command">
      <pc:docMk xmlns:pc="http://schemas.microsoft.com/office/powerpoint/2013/main/command"/>
      <pc:sldMk xmlns:pc="http://schemas.microsoft.com/office/powerpoint/2013/main/command" cId="535667639" sldId="273"/>
      <ac:graphicFrameMk id="19" creationId="{E924EB2B-067B-4458-5CB9-4DC8AAA2F63E}"/>
    </ac:deMkLst>
    <p188:txBody>
      <a:bodyPr/>
      <a:lstStyle/>
      <a:p>
        <a:r>
          <a:rPr lang="en-AU"/>
          <a:t>Again, just get everything looking consistent. Would line up text boxes so they are neat and organised, formatting of text within text boxes, (some are centred, some are left aligned?), etc, etc.</a:t>
        </a:r>
      </a:p>
    </p188:txBody>
  </p188:cm>
  <p188:cm id="{A5FACD8D-72BC-BD4B-B64E-F1F61E833775}" authorId="{F241D1EA-97FD-437D-F878-044A343F946B}" status="resolved" created="2025-10-15T03:15:44.984" complete="100000">
    <ac:txMkLst xmlns:ac="http://schemas.microsoft.com/office/drawing/2013/main/command">
      <pc:docMk xmlns:pc="http://schemas.microsoft.com/office/powerpoint/2013/main/command"/>
      <pc:sldMk xmlns:pc="http://schemas.microsoft.com/office/powerpoint/2013/main/command" cId="535667639" sldId="273"/>
      <ac:graphicFrameMk id="19" creationId="{E924EB2B-067B-4458-5CB9-4DC8AAA2F63E}"/>
      <dc:dgmMk xmlns:dc="http://schemas.microsoft.com/office/drawing/2013/diagram/command"/>
      <dc:nodeMk xmlns:dc="http://schemas.microsoft.com/office/drawing/2013/diagram/command" id="{339A563C-3E93-4125-B145-FADD12579811}"/>
      <ac:txMk cp="105">
        <ac:context len="106" hash="571816816"/>
      </ac:txMk>
    </ac:txMkLst>
    <p188:txBody>
      <a:bodyPr/>
      <a:lstStyle/>
      <a:p>
        <a:r>
          <a:rPr lang="en-AU"/>
          <a:t>Should this be a full stop?</a:t>
        </a:r>
      </a:p>
    </p188:txBody>
  </p188:cm>
</p188:cmLst>
</file>

<file path=ppt/comments/modernComment_112_C8AE4B61.xml><?xml version="1.0" encoding="utf-8"?>
<p188:cmLst xmlns:a="http://schemas.openxmlformats.org/drawingml/2006/main" xmlns:r="http://schemas.openxmlformats.org/officeDocument/2006/relationships" xmlns:p188="http://schemas.microsoft.com/office/powerpoint/2018/8/main">
  <p188:cm id="{8776BE82-B8D7-BE4E-989F-B51118720981}" authorId="{F241D1EA-97FD-437D-F878-044A343F946B}" created="2025-10-15T03:05:00.460">
    <ac:txMkLst xmlns:ac="http://schemas.microsoft.com/office/drawing/2013/main/command">
      <pc:docMk xmlns:pc="http://schemas.microsoft.com/office/powerpoint/2013/main/command"/>
      <pc:sldMk xmlns:pc="http://schemas.microsoft.com/office/powerpoint/2013/main/command" cId="3366865761" sldId="274"/>
      <ac:spMk id="6" creationId="{67434B86-8D01-4DE8-6418-E0A70E77A5DB}"/>
      <ac:txMk cp="0">
        <ac:context len="804" hash="2376534517"/>
      </ac:txMk>
    </ac:txMkLst>
    <p188:pos x="2126590" y="4152901"/>
    <p188:txBody>
      <a:bodyPr/>
      <a:lstStyle/>
      <a:p>
        <a:r>
          <a:rPr lang="en-AU"/>
          <a:t>Probably mention where these assumptions came from. </a:t>
        </a:r>
      </a:p>
    </p188:txBody>
  </p188:cm>
  <p188:cm id="{55B74DE7-8905-E342-BBE0-2B9D857DFEA1}" authorId="{F241D1EA-97FD-437D-F878-044A343F946B}" created="2025-10-15T03:05:19.417">
    <ac:deMkLst xmlns:ac="http://schemas.microsoft.com/office/drawing/2013/main/command">
      <pc:docMk xmlns:pc="http://schemas.microsoft.com/office/powerpoint/2013/main/command"/>
      <pc:sldMk xmlns:pc="http://schemas.microsoft.com/office/powerpoint/2013/main/command" cId="3366865761" sldId="274"/>
      <ac:spMk id="6" creationId="{67434B86-8D01-4DE8-6418-E0A70E77A5DB}"/>
    </ac:deMkLst>
    <p188:txBody>
      <a:bodyPr/>
      <a:lstStyle/>
      <a:p>
        <a:r>
          <a:rPr lang="en-AU"/>
          <a:t>I'd probably also mention where this formula came from and the rationale behind it.</a:t>
        </a:r>
      </a:p>
    </p188:txBody>
  </p188:cm>
</p188:cmLst>
</file>

<file path=ppt/diagrams/_rels/data1.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B15C1F9-D38B-441E-92E1-F7C264C4555C}"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5C8EF95-5A3B-4C16-BAD1-2010D93E9490}">
      <dgm:prSet custT="1"/>
      <dgm:spPr/>
      <dgm:t>
        <a:bodyPr/>
        <a:lstStyle/>
        <a:p>
          <a:pPr algn="l">
            <a:lnSpc>
              <a:spcPct val="100000"/>
            </a:lnSpc>
          </a:pPr>
          <a:r>
            <a:rPr lang="en-AU" sz="1200" b="1" i="0" baseline="0" noProof="0">
              <a:latin typeface="Calibri" panose="020F0502020204030204" pitchFamily="34" charset="0"/>
              <a:ea typeface="Calibri" panose="020F0502020204030204" pitchFamily="34" charset="0"/>
              <a:cs typeface="Calibri" panose="020F0502020204030204" pitchFamily="34" charset="0"/>
            </a:rPr>
            <a:t>Retention Focus:</a:t>
          </a:r>
          <a:r>
            <a:rPr lang="en-AU" sz="1200" b="0" i="0" baseline="0" noProof="0">
              <a:latin typeface="Calibri" panose="020F0502020204030204" pitchFamily="34" charset="0"/>
              <a:ea typeface="Calibri" panose="020F0502020204030204" pitchFamily="34" charset="0"/>
              <a:cs typeface="Calibri" panose="020F0502020204030204" pitchFamily="34" charset="0"/>
            </a:rPr>
            <a:t> Reinforce loyalty for top CLV segments and omnichannel champions. </a:t>
          </a:r>
          <a:endParaRPr lang="en-AU" sz="1200" noProof="0">
            <a:latin typeface="Calibri" panose="020F0502020204030204" pitchFamily="34" charset="0"/>
            <a:ea typeface="Calibri" panose="020F0502020204030204" pitchFamily="34" charset="0"/>
            <a:cs typeface="Calibri" panose="020F0502020204030204" pitchFamily="34" charset="0"/>
          </a:endParaRPr>
        </a:p>
      </dgm:t>
    </dgm:pt>
    <dgm:pt modelId="{75A3CF94-6C86-40E3-87A6-3D356065332A}" type="parTrans" cxnId="{7BDBE7DF-44CA-4125-9C7F-392EF6D3BDDB}">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79A80082-CC96-40DD-A418-B9E7543A59CA}" type="sibTrans" cxnId="{7BDBE7DF-44CA-4125-9C7F-392EF6D3BDDB}">
      <dgm:prSet/>
      <dgm:spPr/>
      <dgm:t>
        <a:bodyPr/>
        <a:lstStyle/>
        <a:p>
          <a:pPr>
            <a:lnSpc>
              <a:spcPct val="100000"/>
            </a:lnSpc>
          </a:pPr>
          <a:endParaRPr lang="en-US">
            <a:latin typeface="Calibri" panose="020F0502020204030204" pitchFamily="34" charset="0"/>
            <a:ea typeface="Calibri" panose="020F0502020204030204" pitchFamily="34" charset="0"/>
            <a:cs typeface="Calibri" panose="020F0502020204030204" pitchFamily="34" charset="0"/>
          </a:endParaRPr>
        </a:p>
      </dgm:t>
    </dgm:pt>
    <dgm:pt modelId="{67E4B170-458B-4181-BFAD-A215E446FCB2}">
      <dgm:prSet/>
      <dgm:spPr/>
      <dgm:t>
        <a:bodyPr/>
        <a:lstStyle/>
        <a:p>
          <a:pPr>
            <a:lnSpc>
              <a:spcPct val="100000"/>
            </a:lnSpc>
          </a:pPr>
          <a:r>
            <a:rPr lang="en-AU" b="1" i="0" baseline="0" noProof="0">
              <a:latin typeface="Calibri" panose="020F0502020204030204" pitchFamily="34" charset="0"/>
              <a:ea typeface="Calibri" panose="020F0502020204030204" pitchFamily="34" charset="0"/>
              <a:cs typeface="Calibri" panose="020F0502020204030204" pitchFamily="34" charset="0"/>
            </a:rPr>
            <a:t>Upsell Opportunities:</a:t>
          </a:r>
          <a:r>
            <a:rPr lang="en-AU" b="0" i="0" baseline="0" noProof="0">
              <a:latin typeface="Calibri" panose="020F0502020204030204" pitchFamily="34" charset="0"/>
              <a:ea typeface="Calibri" panose="020F0502020204030204" pitchFamily="34" charset="0"/>
              <a:cs typeface="Calibri" panose="020F0502020204030204" pitchFamily="34" charset="0"/>
            </a:rPr>
            <a:t> </a:t>
          </a:r>
          <a:endParaRPr lang="en-AU" noProof="0">
            <a:latin typeface="Calibri" panose="020F0502020204030204" pitchFamily="34" charset="0"/>
            <a:ea typeface="Calibri" panose="020F0502020204030204" pitchFamily="34" charset="0"/>
            <a:cs typeface="Calibri" panose="020F0502020204030204" pitchFamily="34" charset="0"/>
          </a:endParaRPr>
        </a:p>
      </dgm:t>
    </dgm:pt>
    <dgm:pt modelId="{67B076F5-3812-4DF0-A4A3-601E1B615DE4}" type="parTrans" cxnId="{87DEBD18-1319-4477-B6B5-771A48A5B144}">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20121F8D-5BA1-40B9-A73A-84488F5F0168}" type="sibTrans" cxnId="{87DEBD18-1319-4477-B6B5-771A48A5B144}">
      <dgm:prSet/>
      <dgm:spPr/>
      <dgm:t>
        <a:bodyPr/>
        <a:lstStyle/>
        <a:p>
          <a:pPr>
            <a:lnSpc>
              <a:spcPct val="100000"/>
            </a:lnSpc>
          </a:pPr>
          <a:endParaRPr lang="en-US">
            <a:latin typeface="Calibri" panose="020F0502020204030204" pitchFamily="34" charset="0"/>
            <a:ea typeface="Calibri" panose="020F0502020204030204" pitchFamily="34" charset="0"/>
            <a:cs typeface="Calibri" panose="020F0502020204030204" pitchFamily="34" charset="0"/>
          </a:endParaRPr>
        </a:p>
      </dgm:t>
    </dgm:pt>
    <dgm:pt modelId="{FC2E52B1-8E23-4444-8067-DB7DEDCC3702}">
      <dgm:prSet/>
      <dgm:spPr/>
      <dgm:t>
        <a:bodyPr/>
        <a:lstStyle/>
        <a:p>
          <a:pPr>
            <a:lnSpc>
              <a:spcPct val="100000"/>
            </a:lnSpc>
          </a:pPr>
          <a:r>
            <a:rPr lang="en-AU" b="0" i="0" baseline="0" noProof="0">
              <a:latin typeface="Calibri" panose="020F0502020204030204" pitchFamily="34" charset="0"/>
              <a:ea typeface="Calibri" panose="020F0502020204030204" pitchFamily="34" charset="0"/>
              <a:cs typeface="Calibri" panose="020F0502020204030204" pitchFamily="34" charset="0"/>
            </a:rPr>
            <a:t>Merchandise offers for membership loyalists (high membership, low e-commerce). </a:t>
          </a:r>
          <a:endParaRPr lang="en-AU" noProof="0">
            <a:latin typeface="Calibri" panose="020F0502020204030204" pitchFamily="34" charset="0"/>
            <a:ea typeface="Calibri" panose="020F0502020204030204" pitchFamily="34" charset="0"/>
            <a:cs typeface="Calibri" panose="020F0502020204030204" pitchFamily="34" charset="0"/>
          </a:endParaRPr>
        </a:p>
      </dgm:t>
    </dgm:pt>
    <dgm:pt modelId="{CC98F8C6-B93F-411C-B560-7CF782728AE8}" type="parTrans" cxnId="{0CA6772F-DC43-4F85-986C-A657BCE59FC0}">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22E28609-0EB6-48E4-81AD-2A1C92D0CCFA}" type="sibTrans" cxnId="{0CA6772F-DC43-4F85-986C-A657BCE59FC0}">
      <dgm:prSet/>
      <dgm:spPr/>
      <dgm:t>
        <a:bodyPr/>
        <a:lstStyle/>
        <a:p>
          <a:pPr>
            <a:lnSpc>
              <a:spcPct val="100000"/>
            </a:lnSpc>
          </a:pPr>
          <a:endParaRPr lang="en-US">
            <a:latin typeface="Calibri" panose="020F0502020204030204" pitchFamily="34" charset="0"/>
            <a:ea typeface="Calibri" panose="020F0502020204030204" pitchFamily="34" charset="0"/>
            <a:cs typeface="Calibri" panose="020F0502020204030204" pitchFamily="34" charset="0"/>
          </a:endParaRPr>
        </a:p>
      </dgm:t>
    </dgm:pt>
    <dgm:pt modelId="{F735C4B1-1DA9-4F76-A64A-628370598639}">
      <dgm:prSet/>
      <dgm:spPr/>
      <dgm:t>
        <a:bodyPr/>
        <a:lstStyle/>
        <a:p>
          <a:pPr>
            <a:lnSpc>
              <a:spcPct val="100000"/>
            </a:lnSpc>
          </a:pPr>
          <a:r>
            <a:rPr lang="en-AU" b="0" i="0" baseline="0" noProof="0">
              <a:latin typeface="Calibri" panose="020F0502020204030204" pitchFamily="34" charset="0"/>
              <a:ea typeface="Calibri" panose="020F0502020204030204" pitchFamily="34" charset="0"/>
              <a:cs typeface="Calibri" panose="020F0502020204030204" pitchFamily="34" charset="0"/>
            </a:rPr>
            <a:t>Membership upgrades for merchandise fans (high e-commerce, low membership). </a:t>
          </a:r>
          <a:endParaRPr lang="en-AU" noProof="0">
            <a:latin typeface="Calibri" panose="020F0502020204030204" pitchFamily="34" charset="0"/>
            <a:ea typeface="Calibri" panose="020F0502020204030204" pitchFamily="34" charset="0"/>
            <a:cs typeface="Calibri" panose="020F0502020204030204" pitchFamily="34" charset="0"/>
          </a:endParaRPr>
        </a:p>
      </dgm:t>
    </dgm:pt>
    <dgm:pt modelId="{5BA00A5F-08DD-4732-86FB-6D70E996E563}" type="parTrans" cxnId="{B126F0C0-9CA7-4B90-B81C-D79E388E31AF}">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F9B00EF1-927E-4807-BE02-19CBE663EC69}" type="sibTrans" cxnId="{B126F0C0-9CA7-4B90-B81C-D79E388E31AF}">
      <dgm:prSet/>
      <dgm:spPr/>
      <dgm:t>
        <a:bodyPr/>
        <a:lstStyle/>
        <a:p>
          <a:pPr>
            <a:lnSpc>
              <a:spcPct val="100000"/>
            </a:lnSpc>
          </a:pPr>
          <a:endParaRPr lang="en-US">
            <a:latin typeface="Calibri" panose="020F0502020204030204" pitchFamily="34" charset="0"/>
            <a:ea typeface="Calibri" panose="020F0502020204030204" pitchFamily="34" charset="0"/>
            <a:cs typeface="Calibri" panose="020F0502020204030204" pitchFamily="34" charset="0"/>
          </a:endParaRPr>
        </a:p>
      </dgm:t>
    </dgm:pt>
    <dgm:pt modelId="{514F3B79-3EC4-452E-8F7B-11BEB97A6BB4}">
      <dgm:prSet custT="1"/>
      <dgm:spPr/>
      <dgm:t>
        <a:bodyPr/>
        <a:lstStyle/>
        <a:p>
          <a:pPr>
            <a:lnSpc>
              <a:spcPct val="100000"/>
            </a:lnSpc>
          </a:pPr>
          <a:r>
            <a:rPr lang="en-AU" sz="1200" b="1" i="0" baseline="0" noProof="0">
              <a:latin typeface="Calibri" panose="020F0502020204030204" pitchFamily="34" charset="0"/>
              <a:ea typeface="Calibri" panose="020F0502020204030204" pitchFamily="34" charset="0"/>
              <a:cs typeface="Calibri" panose="020F0502020204030204" pitchFamily="34" charset="0"/>
            </a:rPr>
            <a:t>Engagement Boost:</a:t>
          </a:r>
          <a:r>
            <a:rPr lang="en-AU" sz="1200" b="0" i="0" baseline="0" noProof="0">
              <a:latin typeface="Calibri" panose="020F0502020204030204" pitchFamily="34" charset="0"/>
              <a:ea typeface="Calibri" panose="020F0502020204030204" pitchFamily="34" charset="0"/>
              <a:cs typeface="Calibri" panose="020F0502020204030204" pitchFamily="34" charset="0"/>
            </a:rPr>
            <a:t> Target short-tenure, low-frequency customers with onboarding campaigns. </a:t>
          </a:r>
          <a:endParaRPr lang="en-AU" sz="1200" noProof="0">
            <a:latin typeface="Calibri" panose="020F0502020204030204" pitchFamily="34" charset="0"/>
            <a:ea typeface="Calibri" panose="020F0502020204030204" pitchFamily="34" charset="0"/>
            <a:cs typeface="Calibri" panose="020F0502020204030204" pitchFamily="34" charset="0"/>
          </a:endParaRPr>
        </a:p>
      </dgm:t>
    </dgm:pt>
    <dgm:pt modelId="{FB077D62-17F7-4298-AE92-D761A7607A96}" type="parTrans" cxnId="{E501177B-D165-4514-841E-CF6A15E4E1E1}">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D3D7A804-704A-4F5A-9023-E3BF972A47F5}" type="sibTrans" cxnId="{E501177B-D165-4514-841E-CF6A15E4E1E1}">
      <dgm:prSet/>
      <dgm:spPr/>
      <dgm:t>
        <a:bodyPr/>
        <a:lstStyle/>
        <a:p>
          <a:pPr>
            <a:lnSpc>
              <a:spcPct val="100000"/>
            </a:lnSpc>
          </a:pPr>
          <a:endParaRPr lang="en-US">
            <a:latin typeface="Calibri" panose="020F0502020204030204" pitchFamily="34" charset="0"/>
            <a:ea typeface="Calibri" panose="020F0502020204030204" pitchFamily="34" charset="0"/>
            <a:cs typeface="Calibri" panose="020F0502020204030204" pitchFamily="34" charset="0"/>
          </a:endParaRPr>
        </a:p>
      </dgm:t>
    </dgm:pt>
    <dgm:pt modelId="{5DA6CFBB-3223-4522-8B8F-293BD1F2E3FC}">
      <dgm:prSet custT="1"/>
      <dgm:spPr/>
      <dgm:t>
        <a:bodyPr/>
        <a:lstStyle/>
        <a:p>
          <a:pPr>
            <a:lnSpc>
              <a:spcPct val="100000"/>
            </a:lnSpc>
          </a:pPr>
          <a:r>
            <a:rPr lang="en-AU" sz="1200" b="1" i="0" baseline="0" noProof="0">
              <a:latin typeface="Calibri" panose="020F0502020204030204" pitchFamily="34" charset="0"/>
              <a:ea typeface="Calibri" panose="020F0502020204030204" pitchFamily="34" charset="0"/>
              <a:cs typeface="Calibri" panose="020F0502020204030204" pitchFamily="34" charset="0"/>
            </a:rPr>
            <a:t>Personalization:</a:t>
          </a:r>
          <a:r>
            <a:rPr lang="en-AU" sz="1200" b="0" i="0" baseline="0" noProof="0">
              <a:latin typeface="Calibri" panose="020F0502020204030204" pitchFamily="34" charset="0"/>
              <a:ea typeface="Calibri" panose="020F0502020204030204" pitchFamily="34" charset="0"/>
              <a:cs typeface="Calibri" panose="020F0502020204030204" pitchFamily="34" charset="0"/>
            </a:rPr>
            <a:t> Use CLV bands and engagement signals to tailor offers and NBA (Next Best Action) recommendations. </a:t>
          </a:r>
          <a:endParaRPr lang="en-AU" sz="1200" noProof="0">
            <a:latin typeface="Calibri" panose="020F0502020204030204" pitchFamily="34" charset="0"/>
            <a:ea typeface="Calibri" panose="020F0502020204030204" pitchFamily="34" charset="0"/>
            <a:cs typeface="Calibri" panose="020F0502020204030204" pitchFamily="34" charset="0"/>
          </a:endParaRPr>
        </a:p>
      </dgm:t>
    </dgm:pt>
    <dgm:pt modelId="{0A74B67B-902C-475E-A19A-D261837CEDC7}" type="parTrans" cxnId="{DE6C6B29-D2E1-44E7-ABA0-8DCAD1393704}">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0F95FCA2-1355-44AC-AB4B-FD08AB619F7C}" type="sibTrans" cxnId="{DE6C6B29-D2E1-44E7-ABA0-8DCAD1393704}">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D80B2CCB-D6F7-402C-ADF1-7B02BDF5A8A7}" type="pres">
      <dgm:prSet presAssocID="{5B15C1F9-D38B-441E-92E1-F7C264C4555C}" presName="root" presStyleCnt="0">
        <dgm:presLayoutVars>
          <dgm:dir/>
          <dgm:resizeHandles val="exact"/>
        </dgm:presLayoutVars>
      </dgm:prSet>
      <dgm:spPr/>
    </dgm:pt>
    <dgm:pt modelId="{A852606B-2C06-4969-8B0F-88C2034CFB66}" type="pres">
      <dgm:prSet presAssocID="{5B15C1F9-D38B-441E-92E1-F7C264C4555C}" presName="container" presStyleCnt="0">
        <dgm:presLayoutVars>
          <dgm:dir/>
          <dgm:resizeHandles val="exact"/>
        </dgm:presLayoutVars>
      </dgm:prSet>
      <dgm:spPr/>
    </dgm:pt>
    <dgm:pt modelId="{0201CF8D-21A3-4892-BB68-17B283AF60C3}" type="pres">
      <dgm:prSet presAssocID="{B5C8EF95-5A3B-4C16-BAD1-2010D93E9490}" presName="compNode" presStyleCnt="0"/>
      <dgm:spPr/>
    </dgm:pt>
    <dgm:pt modelId="{246530CF-18AE-4081-9EDF-BBDAAAD65659}" type="pres">
      <dgm:prSet presAssocID="{B5C8EF95-5A3B-4C16-BAD1-2010D93E9490}" presName="iconBgRect" presStyleLbl="bgShp" presStyleIdx="0" presStyleCnt="6" custLinFactX="20139" custLinFactNeighborX="100000" custLinFactNeighborY="-63527"/>
      <dgm:spPr/>
    </dgm:pt>
    <dgm:pt modelId="{BC0F7379-4DCA-452E-88FA-69020C4972EC}" type="pres">
      <dgm:prSet presAssocID="{B5C8EF95-5A3B-4C16-BAD1-2010D93E9490}" presName="iconRect" presStyleLbl="node1" presStyleIdx="0" presStyleCnt="6" custLinFactX="100000" custLinFactY="-9530" custLinFactNeighborX="107134" custLinFactNeighborY="-100000"/>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iosk"/>
        </a:ext>
      </dgm:extLst>
    </dgm:pt>
    <dgm:pt modelId="{33AD37A4-4A8B-4B39-A8AE-396572BDBF6A}" type="pres">
      <dgm:prSet presAssocID="{B5C8EF95-5A3B-4C16-BAD1-2010D93E9490}" presName="spaceRect" presStyleCnt="0"/>
      <dgm:spPr/>
    </dgm:pt>
    <dgm:pt modelId="{84D0FBF5-8ABD-4412-B342-1126F64723FD}" type="pres">
      <dgm:prSet presAssocID="{B5C8EF95-5A3B-4C16-BAD1-2010D93E9490}" presName="textRect" presStyleLbl="revTx" presStyleIdx="0" presStyleCnt="6" custLinFactNeighborX="50967" custLinFactNeighborY="-63527">
        <dgm:presLayoutVars>
          <dgm:chMax val="1"/>
          <dgm:chPref val="1"/>
        </dgm:presLayoutVars>
      </dgm:prSet>
      <dgm:spPr/>
    </dgm:pt>
    <dgm:pt modelId="{2E0E4F2F-FC4F-4DD4-A0C3-339B5ED49F3B}" type="pres">
      <dgm:prSet presAssocID="{79A80082-CC96-40DD-A418-B9E7543A59CA}" presName="sibTrans" presStyleLbl="sibTrans2D1" presStyleIdx="0" presStyleCnt="0"/>
      <dgm:spPr/>
    </dgm:pt>
    <dgm:pt modelId="{F9D3EEFB-7B29-4D84-8241-12268BA77B2A}" type="pres">
      <dgm:prSet presAssocID="{67E4B170-458B-4181-BFAD-A215E446FCB2}" presName="compNode" presStyleCnt="0"/>
      <dgm:spPr/>
    </dgm:pt>
    <dgm:pt modelId="{9DCDA7C2-A22E-437A-8812-57606300E854}" type="pres">
      <dgm:prSet presAssocID="{67E4B170-458B-4181-BFAD-A215E446FCB2}" presName="iconBgRect" presStyleLbl="bgShp" presStyleIdx="1" presStyleCnt="6" custLinFactX="100000" custLinFactNeighborX="164066" custLinFactNeighborY="-57815"/>
      <dgm:spPr/>
    </dgm:pt>
    <dgm:pt modelId="{0C9F448E-F92A-4D02-A724-0A7747F6D9C3}" type="pres">
      <dgm:prSet presAssocID="{67E4B170-458B-4181-BFAD-A215E446FCB2}" presName="iconRect" presStyleLbl="node1" presStyleIdx="1" presStyleCnt="6" custLinFactX="200000" custLinFactNeighborX="255285" custLinFactNeighborY="-9968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raffic cone"/>
        </a:ext>
      </dgm:extLst>
    </dgm:pt>
    <dgm:pt modelId="{104785DB-B6E9-4FA4-927F-EF0C4AF2FAA0}" type="pres">
      <dgm:prSet presAssocID="{67E4B170-458B-4181-BFAD-A215E446FCB2}" presName="spaceRect" presStyleCnt="0"/>
      <dgm:spPr/>
    </dgm:pt>
    <dgm:pt modelId="{8387FF69-54B5-4A79-9618-4FED89A02113}" type="pres">
      <dgm:prSet presAssocID="{67E4B170-458B-4181-BFAD-A215E446FCB2}" presName="textRect" presStyleLbl="revTx" presStyleIdx="1" presStyleCnt="6" custLinFactX="12027" custLinFactNeighborX="100000" custLinFactNeighborY="-57815">
        <dgm:presLayoutVars>
          <dgm:chMax val="1"/>
          <dgm:chPref val="1"/>
        </dgm:presLayoutVars>
      </dgm:prSet>
      <dgm:spPr/>
    </dgm:pt>
    <dgm:pt modelId="{5ACEB00E-D4BC-4946-8217-AC66D5C5D73A}" type="pres">
      <dgm:prSet presAssocID="{20121F8D-5BA1-40B9-A73A-84488F5F0168}" presName="sibTrans" presStyleLbl="sibTrans2D1" presStyleIdx="0" presStyleCnt="0"/>
      <dgm:spPr/>
    </dgm:pt>
    <dgm:pt modelId="{A0B32440-D2DE-47FA-B6BA-0AB33345882D}" type="pres">
      <dgm:prSet presAssocID="{FC2E52B1-8E23-4444-8067-DB7DEDCC3702}" presName="compNode" presStyleCnt="0"/>
      <dgm:spPr/>
    </dgm:pt>
    <dgm:pt modelId="{6222FE74-0DB9-47FE-8819-131C09B9A6DE}" type="pres">
      <dgm:prSet presAssocID="{FC2E52B1-8E23-4444-8067-DB7DEDCC3702}" presName="iconBgRect" presStyleLbl="bgShp" presStyleIdx="2" presStyleCnt="6" custLinFactNeighborX="-44011" custLinFactNeighborY="92408"/>
      <dgm:spPr/>
    </dgm:pt>
    <dgm:pt modelId="{22D9DCF7-8380-4FE5-90AD-B77385C64079}" type="pres">
      <dgm:prSet presAssocID="{FC2E52B1-8E23-4444-8067-DB7DEDCC3702}" presName="iconRect" presStyleLbl="node1" presStyleIdx="2" presStyleCnt="6" custLinFactY="59324" custLinFactNeighborX="-75881" custLinFactNeighborY="100000"/>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seball Hat"/>
        </a:ext>
      </dgm:extLst>
    </dgm:pt>
    <dgm:pt modelId="{F0FAD0F0-03F3-4615-A15F-F6C029E43D34}" type="pres">
      <dgm:prSet presAssocID="{FC2E52B1-8E23-4444-8067-DB7DEDCC3702}" presName="spaceRect" presStyleCnt="0"/>
      <dgm:spPr/>
    </dgm:pt>
    <dgm:pt modelId="{7E71A57C-C5D9-42A7-9150-89C2A101453E}" type="pres">
      <dgm:prSet presAssocID="{FC2E52B1-8E23-4444-8067-DB7DEDCC3702}" presName="textRect" presStyleLbl="revTx" presStyleIdx="2" presStyleCnt="6" custLinFactNeighborX="-18671" custLinFactNeighborY="92408">
        <dgm:presLayoutVars>
          <dgm:chMax val="1"/>
          <dgm:chPref val="1"/>
        </dgm:presLayoutVars>
      </dgm:prSet>
      <dgm:spPr/>
    </dgm:pt>
    <dgm:pt modelId="{79BA8E85-F8D2-4438-A63D-26F949B45E23}" type="pres">
      <dgm:prSet presAssocID="{22E28609-0EB6-48E4-81AD-2A1C92D0CCFA}" presName="sibTrans" presStyleLbl="sibTrans2D1" presStyleIdx="0" presStyleCnt="0"/>
      <dgm:spPr/>
    </dgm:pt>
    <dgm:pt modelId="{6E05A137-CDBD-4957-9EA8-4D4255D23D63}" type="pres">
      <dgm:prSet presAssocID="{F735C4B1-1DA9-4F76-A64A-628370598639}" presName="compNode" presStyleCnt="0"/>
      <dgm:spPr/>
    </dgm:pt>
    <dgm:pt modelId="{B7BA7B77-4F53-4CC5-95A5-2DB938459ADE}" type="pres">
      <dgm:prSet presAssocID="{F735C4B1-1DA9-4F76-A64A-628370598639}" presName="iconBgRect" presStyleLbl="bgShp" presStyleIdx="3" presStyleCnt="6" custLinFactX="350984" custLinFactNeighborX="400000" custLinFactNeighborY="73613"/>
      <dgm:spPr/>
    </dgm:pt>
    <dgm:pt modelId="{F429D40C-93BB-4015-9D39-1B5E0EB4890D}" type="pres">
      <dgm:prSet presAssocID="{F735C4B1-1DA9-4F76-A64A-628370598639}" presName="iconRect" presStyleLbl="node1" presStyleIdx="3" presStyleCnt="6" custLinFactX="600000" custLinFactY="30555" custLinFactNeighborX="694799" custLinFactNeighborY="100000"/>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an"/>
        </a:ext>
      </dgm:extLst>
    </dgm:pt>
    <dgm:pt modelId="{FCCBF549-0A7B-40F9-88CA-C3F9C4BB58A7}" type="pres">
      <dgm:prSet presAssocID="{F735C4B1-1DA9-4F76-A64A-628370598639}" presName="spaceRect" presStyleCnt="0"/>
      <dgm:spPr/>
    </dgm:pt>
    <dgm:pt modelId="{E5256C35-56BE-4403-B82F-A2A72EF2BFDF}" type="pres">
      <dgm:prSet presAssocID="{F735C4B1-1DA9-4F76-A64A-628370598639}" presName="textRect" presStyleLbl="revTx" presStyleIdx="3" presStyleCnt="6" custLinFactX="118600" custLinFactNeighborX="200000" custLinFactNeighborY="73613">
        <dgm:presLayoutVars>
          <dgm:chMax val="1"/>
          <dgm:chPref val="1"/>
        </dgm:presLayoutVars>
      </dgm:prSet>
      <dgm:spPr/>
    </dgm:pt>
    <dgm:pt modelId="{BC48E3DD-8BBB-403F-A98B-8E5CA937EC9A}" type="pres">
      <dgm:prSet presAssocID="{F9B00EF1-927E-4807-BE02-19CBE663EC69}" presName="sibTrans" presStyleLbl="sibTrans2D1" presStyleIdx="0" presStyleCnt="0"/>
      <dgm:spPr/>
    </dgm:pt>
    <dgm:pt modelId="{34EB6842-F7FE-4445-8364-52435AE130C3}" type="pres">
      <dgm:prSet presAssocID="{514F3B79-3EC4-452E-8F7B-11BEB97A6BB4}" presName="compNode" presStyleCnt="0"/>
      <dgm:spPr/>
    </dgm:pt>
    <dgm:pt modelId="{F67DC22D-E516-48D4-8B34-ADEC1F171671}" type="pres">
      <dgm:prSet presAssocID="{514F3B79-3EC4-452E-8F7B-11BEB97A6BB4}" presName="iconBgRect" presStyleLbl="bgShp" presStyleIdx="4" presStyleCnt="6" custLinFactX="-100000" custLinFactNeighborX="-180717" custLinFactNeighborY="-89013"/>
      <dgm:spPr/>
    </dgm:pt>
    <dgm:pt modelId="{29A1D50B-FE7E-4BF5-A1E5-34FAE02AF6D2}" type="pres">
      <dgm:prSet presAssocID="{514F3B79-3EC4-452E-8F7B-11BEB97A6BB4}" presName="iconRect" presStyleLbl="node1" presStyleIdx="4" presStyleCnt="6" custLinFactX="-200000" custLinFactY="-53472" custLinFactNeighborX="-283993" custLinFactNeighborY="-100000"/>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Optical disc"/>
        </a:ext>
      </dgm:extLst>
    </dgm:pt>
    <dgm:pt modelId="{389850CB-2849-47CF-9056-6A97D054F2F5}" type="pres">
      <dgm:prSet presAssocID="{514F3B79-3EC4-452E-8F7B-11BEB97A6BB4}" presName="spaceRect" presStyleCnt="0"/>
      <dgm:spPr/>
    </dgm:pt>
    <dgm:pt modelId="{F08ABB80-FF65-48F1-A7C3-747BC207F6B5}" type="pres">
      <dgm:prSet presAssocID="{514F3B79-3EC4-452E-8F7B-11BEB97A6BB4}" presName="textRect" presStyleLbl="revTx" presStyleIdx="4" presStyleCnt="6" custLinFactX="-19092" custLinFactNeighborX="-100000" custLinFactNeighborY="-89013">
        <dgm:presLayoutVars>
          <dgm:chMax val="1"/>
          <dgm:chPref val="1"/>
        </dgm:presLayoutVars>
      </dgm:prSet>
      <dgm:spPr/>
    </dgm:pt>
    <dgm:pt modelId="{D03EB814-03D2-471D-A2BA-B97B37973668}" type="pres">
      <dgm:prSet presAssocID="{D3D7A804-704A-4F5A-9023-E3BF972A47F5}" presName="sibTrans" presStyleLbl="sibTrans2D1" presStyleIdx="0" presStyleCnt="0"/>
      <dgm:spPr/>
    </dgm:pt>
    <dgm:pt modelId="{452F2E2D-72D5-44F1-87A0-8C05A21D3C1D}" type="pres">
      <dgm:prSet presAssocID="{5DA6CFBB-3223-4522-8B8F-293BD1F2E3FC}" presName="compNode" presStyleCnt="0"/>
      <dgm:spPr/>
    </dgm:pt>
    <dgm:pt modelId="{4958C0B9-E7A0-4F6D-8C98-6CBD54838881}" type="pres">
      <dgm:prSet presAssocID="{5DA6CFBB-3223-4522-8B8F-293BD1F2E3FC}" presName="iconBgRect" presStyleLbl="bgShp" presStyleIdx="5" presStyleCnt="6" custLinFactX="-300000" custLinFactNeighborX="-375035" custLinFactNeighborY="77317"/>
      <dgm:spPr/>
    </dgm:pt>
    <dgm:pt modelId="{3217B1F7-6A9C-4BD1-96E4-10F263D5B46E}" type="pres">
      <dgm:prSet presAssocID="{5DA6CFBB-3223-4522-8B8F-293BD1F2E3FC}" presName="iconRect" presStyleLbl="node1" presStyleIdx="5" presStyleCnt="6" custLinFactX="-563854" custLinFactY="33304" custLinFactNeighborX="-600000" custLinFactNeighborY="100000"/>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Basketball"/>
        </a:ext>
      </dgm:extLst>
    </dgm:pt>
    <dgm:pt modelId="{A6A297CF-75B0-49FE-848A-C6E25DD23421}" type="pres">
      <dgm:prSet presAssocID="{5DA6CFBB-3223-4522-8B8F-293BD1F2E3FC}" presName="spaceRect" presStyleCnt="0"/>
      <dgm:spPr/>
    </dgm:pt>
    <dgm:pt modelId="{13E64130-963F-4D82-BAC2-38D0466F74D9}" type="pres">
      <dgm:prSet presAssocID="{5DA6CFBB-3223-4522-8B8F-293BD1F2E3FC}" presName="textRect" presStyleLbl="revTx" presStyleIdx="5" presStyleCnt="6" custLinFactX="-100000" custLinFactNeighborX="-186379" custLinFactNeighborY="77317">
        <dgm:presLayoutVars>
          <dgm:chMax val="1"/>
          <dgm:chPref val="1"/>
        </dgm:presLayoutVars>
      </dgm:prSet>
      <dgm:spPr/>
    </dgm:pt>
  </dgm:ptLst>
  <dgm:cxnLst>
    <dgm:cxn modelId="{FA5EBC04-1D79-40F5-8695-46AEE342A758}" type="presOf" srcId="{F735C4B1-1DA9-4F76-A64A-628370598639}" destId="{E5256C35-56BE-4403-B82F-A2A72EF2BFDF}" srcOrd="0" destOrd="0" presId="urn:microsoft.com/office/officeart/2018/2/layout/IconCircleList"/>
    <dgm:cxn modelId="{87DEBD18-1319-4477-B6B5-771A48A5B144}" srcId="{5B15C1F9-D38B-441E-92E1-F7C264C4555C}" destId="{67E4B170-458B-4181-BFAD-A215E446FCB2}" srcOrd="1" destOrd="0" parTransId="{67B076F5-3812-4DF0-A4A3-601E1B615DE4}" sibTransId="{20121F8D-5BA1-40B9-A73A-84488F5F0168}"/>
    <dgm:cxn modelId="{DE6C6B29-D2E1-44E7-ABA0-8DCAD1393704}" srcId="{5B15C1F9-D38B-441E-92E1-F7C264C4555C}" destId="{5DA6CFBB-3223-4522-8B8F-293BD1F2E3FC}" srcOrd="5" destOrd="0" parTransId="{0A74B67B-902C-475E-A19A-D261837CEDC7}" sibTransId="{0F95FCA2-1355-44AC-AB4B-FD08AB619F7C}"/>
    <dgm:cxn modelId="{0CA6772F-DC43-4F85-986C-A657BCE59FC0}" srcId="{5B15C1F9-D38B-441E-92E1-F7C264C4555C}" destId="{FC2E52B1-8E23-4444-8067-DB7DEDCC3702}" srcOrd="2" destOrd="0" parTransId="{CC98F8C6-B93F-411C-B560-7CF782728AE8}" sibTransId="{22E28609-0EB6-48E4-81AD-2A1C92D0CCFA}"/>
    <dgm:cxn modelId="{A2A99E3B-B46E-4EBA-8B0D-965C8F6BF0AC}" type="presOf" srcId="{79A80082-CC96-40DD-A418-B9E7543A59CA}" destId="{2E0E4F2F-FC4F-4DD4-A0C3-339B5ED49F3B}" srcOrd="0" destOrd="0" presId="urn:microsoft.com/office/officeart/2018/2/layout/IconCircleList"/>
    <dgm:cxn modelId="{0CE78E43-400A-4B25-BADE-EB38A0DA77C8}" type="presOf" srcId="{514F3B79-3EC4-452E-8F7B-11BEB97A6BB4}" destId="{F08ABB80-FF65-48F1-A7C3-747BC207F6B5}" srcOrd="0" destOrd="0" presId="urn:microsoft.com/office/officeart/2018/2/layout/IconCircleList"/>
    <dgm:cxn modelId="{76EAD34A-7600-4378-802C-C5065798C9D7}" type="presOf" srcId="{5DA6CFBB-3223-4522-8B8F-293BD1F2E3FC}" destId="{13E64130-963F-4D82-BAC2-38D0466F74D9}" srcOrd="0" destOrd="0" presId="urn:microsoft.com/office/officeart/2018/2/layout/IconCircleList"/>
    <dgm:cxn modelId="{7EC46B6D-CA9F-4CDC-B706-CA3A3A27F49A}" type="presOf" srcId="{B5C8EF95-5A3B-4C16-BAD1-2010D93E9490}" destId="{84D0FBF5-8ABD-4412-B342-1126F64723FD}" srcOrd="0" destOrd="0" presId="urn:microsoft.com/office/officeart/2018/2/layout/IconCircleList"/>
    <dgm:cxn modelId="{41BE1175-F101-4826-8401-DC81DF7B58CD}" type="presOf" srcId="{5B15C1F9-D38B-441E-92E1-F7C264C4555C}" destId="{D80B2CCB-D6F7-402C-ADF1-7B02BDF5A8A7}" srcOrd="0" destOrd="0" presId="urn:microsoft.com/office/officeart/2018/2/layout/IconCircleList"/>
    <dgm:cxn modelId="{E501177B-D165-4514-841E-CF6A15E4E1E1}" srcId="{5B15C1F9-D38B-441E-92E1-F7C264C4555C}" destId="{514F3B79-3EC4-452E-8F7B-11BEB97A6BB4}" srcOrd="4" destOrd="0" parTransId="{FB077D62-17F7-4298-AE92-D761A7607A96}" sibTransId="{D3D7A804-704A-4F5A-9023-E3BF972A47F5}"/>
    <dgm:cxn modelId="{37753D7B-2CAC-4931-A001-E7D6D6697F36}" type="presOf" srcId="{D3D7A804-704A-4F5A-9023-E3BF972A47F5}" destId="{D03EB814-03D2-471D-A2BA-B97B37973668}" srcOrd="0" destOrd="0" presId="urn:microsoft.com/office/officeart/2018/2/layout/IconCircleList"/>
    <dgm:cxn modelId="{10AE578D-1599-44FF-8EA6-078EBD11349E}" type="presOf" srcId="{20121F8D-5BA1-40B9-A73A-84488F5F0168}" destId="{5ACEB00E-D4BC-4946-8217-AC66D5C5D73A}" srcOrd="0" destOrd="0" presId="urn:microsoft.com/office/officeart/2018/2/layout/IconCircleList"/>
    <dgm:cxn modelId="{46A5D290-1A56-46C6-BC23-88C813BBD0F7}" type="presOf" srcId="{F9B00EF1-927E-4807-BE02-19CBE663EC69}" destId="{BC48E3DD-8BBB-403F-A98B-8E5CA937EC9A}" srcOrd="0" destOrd="0" presId="urn:microsoft.com/office/officeart/2018/2/layout/IconCircleList"/>
    <dgm:cxn modelId="{316BEFB2-61B3-4AB5-A7B6-5A07F8A4AE0E}" type="presOf" srcId="{FC2E52B1-8E23-4444-8067-DB7DEDCC3702}" destId="{7E71A57C-C5D9-42A7-9150-89C2A101453E}" srcOrd="0" destOrd="0" presId="urn:microsoft.com/office/officeart/2018/2/layout/IconCircleList"/>
    <dgm:cxn modelId="{B126F0C0-9CA7-4B90-B81C-D79E388E31AF}" srcId="{5B15C1F9-D38B-441E-92E1-F7C264C4555C}" destId="{F735C4B1-1DA9-4F76-A64A-628370598639}" srcOrd="3" destOrd="0" parTransId="{5BA00A5F-08DD-4732-86FB-6D70E996E563}" sibTransId="{F9B00EF1-927E-4807-BE02-19CBE663EC69}"/>
    <dgm:cxn modelId="{74947BC6-C567-4A69-960F-7394E8D11BD5}" type="presOf" srcId="{67E4B170-458B-4181-BFAD-A215E446FCB2}" destId="{8387FF69-54B5-4A79-9618-4FED89A02113}" srcOrd="0" destOrd="0" presId="urn:microsoft.com/office/officeart/2018/2/layout/IconCircleList"/>
    <dgm:cxn modelId="{7BDBE7DF-44CA-4125-9C7F-392EF6D3BDDB}" srcId="{5B15C1F9-D38B-441E-92E1-F7C264C4555C}" destId="{B5C8EF95-5A3B-4C16-BAD1-2010D93E9490}" srcOrd="0" destOrd="0" parTransId="{75A3CF94-6C86-40E3-87A6-3D356065332A}" sibTransId="{79A80082-CC96-40DD-A418-B9E7543A59CA}"/>
    <dgm:cxn modelId="{5EF593F8-8A4A-4995-AD4D-08CD919722C7}" type="presOf" srcId="{22E28609-0EB6-48E4-81AD-2A1C92D0CCFA}" destId="{79BA8E85-F8D2-4438-A63D-26F949B45E23}" srcOrd="0" destOrd="0" presId="urn:microsoft.com/office/officeart/2018/2/layout/IconCircleList"/>
    <dgm:cxn modelId="{740D423E-A0F9-49C9-954D-6E0180BA057C}" type="presParOf" srcId="{D80B2CCB-D6F7-402C-ADF1-7B02BDF5A8A7}" destId="{A852606B-2C06-4969-8B0F-88C2034CFB66}" srcOrd="0" destOrd="0" presId="urn:microsoft.com/office/officeart/2018/2/layout/IconCircleList"/>
    <dgm:cxn modelId="{A7F8755A-E16E-4A78-B15D-678322969315}" type="presParOf" srcId="{A852606B-2C06-4969-8B0F-88C2034CFB66}" destId="{0201CF8D-21A3-4892-BB68-17B283AF60C3}" srcOrd="0" destOrd="0" presId="urn:microsoft.com/office/officeart/2018/2/layout/IconCircleList"/>
    <dgm:cxn modelId="{0166E95D-3A42-449E-8407-2C8EB68FDCED}" type="presParOf" srcId="{0201CF8D-21A3-4892-BB68-17B283AF60C3}" destId="{246530CF-18AE-4081-9EDF-BBDAAAD65659}" srcOrd="0" destOrd="0" presId="urn:microsoft.com/office/officeart/2018/2/layout/IconCircleList"/>
    <dgm:cxn modelId="{EE6621F4-20BE-4767-A2CE-3320613B730C}" type="presParOf" srcId="{0201CF8D-21A3-4892-BB68-17B283AF60C3}" destId="{BC0F7379-4DCA-452E-88FA-69020C4972EC}" srcOrd="1" destOrd="0" presId="urn:microsoft.com/office/officeart/2018/2/layout/IconCircleList"/>
    <dgm:cxn modelId="{1BD5889F-5881-4C31-BBD8-3903D83AB1E8}" type="presParOf" srcId="{0201CF8D-21A3-4892-BB68-17B283AF60C3}" destId="{33AD37A4-4A8B-4B39-A8AE-396572BDBF6A}" srcOrd="2" destOrd="0" presId="urn:microsoft.com/office/officeart/2018/2/layout/IconCircleList"/>
    <dgm:cxn modelId="{312746EA-2E67-470F-A401-76C904064979}" type="presParOf" srcId="{0201CF8D-21A3-4892-BB68-17B283AF60C3}" destId="{84D0FBF5-8ABD-4412-B342-1126F64723FD}" srcOrd="3" destOrd="0" presId="urn:microsoft.com/office/officeart/2018/2/layout/IconCircleList"/>
    <dgm:cxn modelId="{60133132-ECAA-4FDE-BC29-D51388BC572B}" type="presParOf" srcId="{A852606B-2C06-4969-8B0F-88C2034CFB66}" destId="{2E0E4F2F-FC4F-4DD4-A0C3-339B5ED49F3B}" srcOrd="1" destOrd="0" presId="urn:microsoft.com/office/officeart/2018/2/layout/IconCircleList"/>
    <dgm:cxn modelId="{9F461945-F575-4282-93A4-06C1D3888842}" type="presParOf" srcId="{A852606B-2C06-4969-8B0F-88C2034CFB66}" destId="{F9D3EEFB-7B29-4D84-8241-12268BA77B2A}" srcOrd="2" destOrd="0" presId="urn:microsoft.com/office/officeart/2018/2/layout/IconCircleList"/>
    <dgm:cxn modelId="{ACDA935A-58C5-46A5-8334-A6AD10297CE9}" type="presParOf" srcId="{F9D3EEFB-7B29-4D84-8241-12268BA77B2A}" destId="{9DCDA7C2-A22E-437A-8812-57606300E854}" srcOrd="0" destOrd="0" presId="urn:microsoft.com/office/officeart/2018/2/layout/IconCircleList"/>
    <dgm:cxn modelId="{1700E3CC-E21D-43C6-9246-197CBE216313}" type="presParOf" srcId="{F9D3EEFB-7B29-4D84-8241-12268BA77B2A}" destId="{0C9F448E-F92A-4D02-A724-0A7747F6D9C3}" srcOrd="1" destOrd="0" presId="urn:microsoft.com/office/officeart/2018/2/layout/IconCircleList"/>
    <dgm:cxn modelId="{BF09CA1B-F3E2-4512-B304-D05267E44E74}" type="presParOf" srcId="{F9D3EEFB-7B29-4D84-8241-12268BA77B2A}" destId="{104785DB-B6E9-4FA4-927F-EF0C4AF2FAA0}" srcOrd="2" destOrd="0" presId="urn:microsoft.com/office/officeart/2018/2/layout/IconCircleList"/>
    <dgm:cxn modelId="{4B30AC05-4A62-47F7-AFFD-49BB468B5979}" type="presParOf" srcId="{F9D3EEFB-7B29-4D84-8241-12268BA77B2A}" destId="{8387FF69-54B5-4A79-9618-4FED89A02113}" srcOrd="3" destOrd="0" presId="urn:microsoft.com/office/officeart/2018/2/layout/IconCircleList"/>
    <dgm:cxn modelId="{B3FCDA2A-39D6-4091-BFE9-267544FC33BE}" type="presParOf" srcId="{A852606B-2C06-4969-8B0F-88C2034CFB66}" destId="{5ACEB00E-D4BC-4946-8217-AC66D5C5D73A}" srcOrd="3" destOrd="0" presId="urn:microsoft.com/office/officeart/2018/2/layout/IconCircleList"/>
    <dgm:cxn modelId="{1E6E22DA-9897-432A-AC53-8E1945234356}" type="presParOf" srcId="{A852606B-2C06-4969-8B0F-88C2034CFB66}" destId="{A0B32440-D2DE-47FA-B6BA-0AB33345882D}" srcOrd="4" destOrd="0" presId="urn:microsoft.com/office/officeart/2018/2/layout/IconCircleList"/>
    <dgm:cxn modelId="{448E8BBC-35F4-4DAB-A792-8FA0B473D863}" type="presParOf" srcId="{A0B32440-D2DE-47FA-B6BA-0AB33345882D}" destId="{6222FE74-0DB9-47FE-8819-131C09B9A6DE}" srcOrd="0" destOrd="0" presId="urn:microsoft.com/office/officeart/2018/2/layout/IconCircleList"/>
    <dgm:cxn modelId="{651A0A54-E9A4-41DE-95E8-13741CC1B9AF}" type="presParOf" srcId="{A0B32440-D2DE-47FA-B6BA-0AB33345882D}" destId="{22D9DCF7-8380-4FE5-90AD-B77385C64079}" srcOrd="1" destOrd="0" presId="urn:microsoft.com/office/officeart/2018/2/layout/IconCircleList"/>
    <dgm:cxn modelId="{11666FFC-44AB-492F-B396-BF6695A322B8}" type="presParOf" srcId="{A0B32440-D2DE-47FA-B6BA-0AB33345882D}" destId="{F0FAD0F0-03F3-4615-A15F-F6C029E43D34}" srcOrd="2" destOrd="0" presId="urn:microsoft.com/office/officeart/2018/2/layout/IconCircleList"/>
    <dgm:cxn modelId="{445181BE-6639-4886-A90D-BF5FDDBDFB27}" type="presParOf" srcId="{A0B32440-D2DE-47FA-B6BA-0AB33345882D}" destId="{7E71A57C-C5D9-42A7-9150-89C2A101453E}" srcOrd="3" destOrd="0" presId="urn:microsoft.com/office/officeart/2018/2/layout/IconCircleList"/>
    <dgm:cxn modelId="{98B5CA20-2CB9-4555-AFFA-16D62AB184DD}" type="presParOf" srcId="{A852606B-2C06-4969-8B0F-88C2034CFB66}" destId="{79BA8E85-F8D2-4438-A63D-26F949B45E23}" srcOrd="5" destOrd="0" presId="urn:microsoft.com/office/officeart/2018/2/layout/IconCircleList"/>
    <dgm:cxn modelId="{F69924E4-2F90-419D-90B3-23E4707CDB3C}" type="presParOf" srcId="{A852606B-2C06-4969-8B0F-88C2034CFB66}" destId="{6E05A137-CDBD-4957-9EA8-4D4255D23D63}" srcOrd="6" destOrd="0" presId="urn:microsoft.com/office/officeart/2018/2/layout/IconCircleList"/>
    <dgm:cxn modelId="{20F881AD-869B-4A12-9532-B5C39B5A015C}" type="presParOf" srcId="{6E05A137-CDBD-4957-9EA8-4D4255D23D63}" destId="{B7BA7B77-4F53-4CC5-95A5-2DB938459ADE}" srcOrd="0" destOrd="0" presId="urn:microsoft.com/office/officeart/2018/2/layout/IconCircleList"/>
    <dgm:cxn modelId="{CC51E84D-9BAC-40BF-91E5-BA3C82BEAE69}" type="presParOf" srcId="{6E05A137-CDBD-4957-9EA8-4D4255D23D63}" destId="{F429D40C-93BB-4015-9D39-1B5E0EB4890D}" srcOrd="1" destOrd="0" presId="urn:microsoft.com/office/officeart/2018/2/layout/IconCircleList"/>
    <dgm:cxn modelId="{DA0CC593-7F17-4616-9FC3-B7DA7D85120F}" type="presParOf" srcId="{6E05A137-CDBD-4957-9EA8-4D4255D23D63}" destId="{FCCBF549-0A7B-40F9-88CA-C3F9C4BB58A7}" srcOrd="2" destOrd="0" presId="urn:microsoft.com/office/officeart/2018/2/layout/IconCircleList"/>
    <dgm:cxn modelId="{2CC40537-6E52-4A34-9DD9-A6CF151BD47E}" type="presParOf" srcId="{6E05A137-CDBD-4957-9EA8-4D4255D23D63}" destId="{E5256C35-56BE-4403-B82F-A2A72EF2BFDF}" srcOrd="3" destOrd="0" presId="urn:microsoft.com/office/officeart/2018/2/layout/IconCircleList"/>
    <dgm:cxn modelId="{4299DE0E-F740-44F9-A819-EE1350A102D8}" type="presParOf" srcId="{A852606B-2C06-4969-8B0F-88C2034CFB66}" destId="{BC48E3DD-8BBB-403F-A98B-8E5CA937EC9A}" srcOrd="7" destOrd="0" presId="urn:microsoft.com/office/officeart/2018/2/layout/IconCircleList"/>
    <dgm:cxn modelId="{64050664-F25B-45FB-AF61-1B8E2891B6C5}" type="presParOf" srcId="{A852606B-2C06-4969-8B0F-88C2034CFB66}" destId="{34EB6842-F7FE-4445-8364-52435AE130C3}" srcOrd="8" destOrd="0" presId="urn:microsoft.com/office/officeart/2018/2/layout/IconCircleList"/>
    <dgm:cxn modelId="{860AFE62-D174-46CF-90C8-1F894D4C4453}" type="presParOf" srcId="{34EB6842-F7FE-4445-8364-52435AE130C3}" destId="{F67DC22D-E516-48D4-8B34-ADEC1F171671}" srcOrd="0" destOrd="0" presId="urn:microsoft.com/office/officeart/2018/2/layout/IconCircleList"/>
    <dgm:cxn modelId="{D9BFD8B0-86BB-442E-B8DF-CD8ACB03CD22}" type="presParOf" srcId="{34EB6842-F7FE-4445-8364-52435AE130C3}" destId="{29A1D50B-FE7E-4BF5-A1E5-34FAE02AF6D2}" srcOrd="1" destOrd="0" presId="urn:microsoft.com/office/officeart/2018/2/layout/IconCircleList"/>
    <dgm:cxn modelId="{9A06D13E-32D5-41F8-9D0B-1F4CDF22F70A}" type="presParOf" srcId="{34EB6842-F7FE-4445-8364-52435AE130C3}" destId="{389850CB-2849-47CF-9056-6A97D054F2F5}" srcOrd="2" destOrd="0" presId="urn:microsoft.com/office/officeart/2018/2/layout/IconCircleList"/>
    <dgm:cxn modelId="{3C1B65A6-9633-416F-9272-5F96C8E4CBA7}" type="presParOf" srcId="{34EB6842-F7FE-4445-8364-52435AE130C3}" destId="{F08ABB80-FF65-48F1-A7C3-747BC207F6B5}" srcOrd="3" destOrd="0" presId="urn:microsoft.com/office/officeart/2018/2/layout/IconCircleList"/>
    <dgm:cxn modelId="{6C079412-10D7-4633-83A4-34A53B752FDB}" type="presParOf" srcId="{A852606B-2C06-4969-8B0F-88C2034CFB66}" destId="{D03EB814-03D2-471D-A2BA-B97B37973668}" srcOrd="9" destOrd="0" presId="urn:microsoft.com/office/officeart/2018/2/layout/IconCircleList"/>
    <dgm:cxn modelId="{65C71F3E-DD01-487E-9C9E-AB79F01B6F7D}" type="presParOf" srcId="{A852606B-2C06-4969-8B0F-88C2034CFB66}" destId="{452F2E2D-72D5-44F1-87A0-8C05A21D3C1D}" srcOrd="10" destOrd="0" presId="urn:microsoft.com/office/officeart/2018/2/layout/IconCircleList"/>
    <dgm:cxn modelId="{A0782B4B-64C8-41B5-8F7B-7D4799B36A1B}" type="presParOf" srcId="{452F2E2D-72D5-44F1-87A0-8C05A21D3C1D}" destId="{4958C0B9-E7A0-4F6D-8C98-6CBD54838881}" srcOrd="0" destOrd="0" presId="urn:microsoft.com/office/officeart/2018/2/layout/IconCircleList"/>
    <dgm:cxn modelId="{16F74F01-4E4C-40FE-8847-AB8DF7EA60AC}" type="presParOf" srcId="{452F2E2D-72D5-44F1-87A0-8C05A21D3C1D}" destId="{3217B1F7-6A9C-4BD1-96E4-10F263D5B46E}" srcOrd="1" destOrd="0" presId="urn:microsoft.com/office/officeart/2018/2/layout/IconCircleList"/>
    <dgm:cxn modelId="{D6D750DC-BFC0-4C10-8B4B-08490BFC64DF}" type="presParOf" srcId="{452F2E2D-72D5-44F1-87A0-8C05A21D3C1D}" destId="{A6A297CF-75B0-49FE-848A-C6E25DD23421}" srcOrd="2" destOrd="0" presId="urn:microsoft.com/office/officeart/2018/2/layout/IconCircleList"/>
    <dgm:cxn modelId="{B73C1BF1-8B28-495F-AEFE-E5253622B16C}" type="presParOf" srcId="{452F2E2D-72D5-44F1-87A0-8C05A21D3C1D}" destId="{13E64130-963F-4D82-BAC2-38D0466F74D9}"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0128577-9121-4F6D-8B14-26AE0433DFD4}" type="doc">
      <dgm:prSet loTypeId="urn:microsoft.com/office/officeart/2005/8/layout/vProcess5" loCatId="process" qsTypeId="urn:microsoft.com/office/officeart/2005/8/quickstyle/simple1" qsCatId="simple" csTypeId="urn:microsoft.com/office/officeart/2005/8/colors/accent1_2" csCatId="accent1"/>
      <dgm:spPr/>
      <dgm:t>
        <a:bodyPr/>
        <a:lstStyle/>
        <a:p>
          <a:endParaRPr lang="en-US"/>
        </a:p>
      </dgm:t>
    </dgm:pt>
    <dgm:pt modelId="{DD27D86B-9E8E-448F-A413-57EC77D657EC}">
      <dgm:prSet custT="1"/>
      <dgm:spPr/>
      <dgm:t>
        <a:bodyPr/>
        <a:lstStyle/>
        <a:p>
          <a:r>
            <a:rPr lang="en-AU" sz="1400" b="0" i="0" baseline="0" noProof="0">
              <a:latin typeface="Calibri" panose="020F0502020204030204" pitchFamily="34" charset="0"/>
              <a:ea typeface="Calibri" panose="020F0502020204030204" pitchFamily="34" charset="0"/>
              <a:cs typeface="Calibri" panose="020F0502020204030204" pitchFamily="34" charset="0"/>
            </a:rPr>
            <a:t>Revenue is concentrated in top CLV segments — retention is critical. </a:t>
          </a:r>
          <a:endParaRPr lang="en-AU" sz="1400" b="0" noProof="0">
            <a:latin typeface="Calibri" panose="020F0502020204030204" pitchFamily="34" charset="0"/>
            <a:ea typeface="Calibri" panose="020F0502020204030204" pitchFamily="34" charset="0"/>
            <a:cs typeface="Calibri" panose="020F0502020204030204" pitchFamily="34" charset="0"/>
          </a:endParaRPr>
        </a:p>
      </dgm:t>
    </dgm:pt>
    <dgm:pt modelId="{20784C4E-8A3A-4C78-BBD7-D43CFBC850DE}" type="parTrans" cxnId="{68470C5A-B161-43C6-8EE8-7E134D347825}">
      <dgm:prSet/>
      <dgm:spPr/>
      <dgm:t>
        <a:bodyPr/>
        <a:lstStyle/>
        <a:p>
          <a:endParaRPr lang="en-US"/>
        </a:p>
      </dgm:t>
    </dgm:pt>
    <dgm:pt modelId="{BD00FB82-85B2-4FB0-A5BC-3338BC25FFBB}" type="sibTrans" cxnId="{68470C5A-B161-43C6-8EE8-7E134D347825}">
      <dgm:prSet/>
      <dgm:spPr/>
      <dgm:t>
        <a:bodyPr/>
        <a:lstStyle/>
        <a:p>
          <a:endParaRPr lang="en-AU" noProof="0"/>
        </a:p>
      </dgm:t>
    </dgm:pt>
    <dgm:pt modelId="{BF5CB639-186A-48BF-8B5F-51FA46DC43FE}">
      <dgm:prSet custT="1"/>
      <dgm:spPr/>
      <dgm:t>
        <a:bodyPr/>
        <a:lstStyle/>
        <a:p>
          <a:r>
            <a:rPr lang="en-AU" sz="1400" b="0" i="0" baseline="0" noProof="0">
              <a:latin typeface="Calibri" panose="020F0502020204030204" pitchFamily="34" charset="0"/>
              <a:ea typeface="Calibri" panose="020F0502020204030204" pitchFamily="34" charset="0"/>
              <a:cs typeface="Calibri" panose="020F0502020204030204" pitchFamily="34" charset="0"/>
            </a:rPr>
            <a:t>Engagement and tenure drive value — boost mid-tier engagement. </a:t>
          </a:r>
          <a:endParaRPr lang="en-AU" sz="1400" b="0" noProof="0">
            <a:latin typeface="Calibri" panose="020F0502020204030204" pitchFamily="34" charset="0"/>
            <a:ea typeface="Calibri" panose="020F0502020204030204" pitchFamily="34" charset="0"/>
            <a:cs typeface="Calibri" panose="020F0502020204030204" pitchFamily="34" charset="0"/>
          </a:endParaRPr>
        </a:p>
      </dgm:t>
    </dgm:pt>
    <dgm:pt modelId="{FB228902-A171-4FB6-990F-6301CCB8B8C9}" type="parTrans" cxnId="{1ADA67BE-8647-4D4E-AC75-D4582B84B85E}">
      <dgm:prSet/>
      <dgm:spPr/>
      <dgm:t>
        <a:bodyPr/>
        <a:lstStyle/>
        <a:p>
          <a:endParaRPr lang="en-US"/>
        </a:p>
      </dgm:t>
    </dgm:pt>
    <dgm:pt modelId="{7D877C79-0BFF-4AEA-A868-7D71683B0ED2}" type="sibTrans" cxnId="{1ADA67BE-8647-4D4E-AC75-D4582B84B85E}">
      <dgm:prSet/>
      <dgm:spPr/>
      <dgm:t>
        <a:bodyPr/>
        <a:lstStyle/>
        <a:p>
          <a:endParaRPr lang="en-AU" noProof="0"/>
        </a:p>
      </dgm:t>
    </dgm:pt>
    <dgm:pt modelId="{7559486C-3B88-4204-B167-4A36EB813C7A}">
      <dgm:prSet custT="1"/>
      <dgm:spPr/>
      <dgm:t>
        <a:bodyPr/>
        <a:lstStyle/>
        <a:p>
          <a:r>
            <a:rPr lang="en-AU" sz="1400" b="0" i="0" baseline="0" noProof="0">
              <a:latin typeface="Calibri" panose="020F0502020204030204" pitchFamily="34" charset="0"/>
              <a:ea typeface="Calibri" panose="020F0502020204030204" pitchFamily="34" charset="0"/>
              <a:cs typeface="Calibri" panose="020F0502020204030204" pitchFamily="34" charset="0"/>
            </a:rPr>
            <a:t>Cross-channel gaps exist — merchandise and membership upsell opportunities. </a:t>
          </a:r>
          <a:endParaRPr lang="en-AU" sz="1400" b="0" noProof="0">
            <a:latin typeface="Calibri" panose="020F0502020204030204" pitchFamily="34" charset="0"/>
            <a:ea typeface="Calibri" panose="020F0502020204030204" pitchFamily="34" charset="0"/>
            <a:cs typeface="Calibri" panose="020F0502020204030204" pitchFamily="34" charset="0"/>
          </a:endParaRPr>
        </a:p>
      </dgm:t>
    </dgm:pt>
    <dgm:pt modelId="{D7DF924B-0687-406D-AC49-72EED7D7DD71}" type="parTrans" cxnId="{75576652-9D1A-4A15-B6F9-4609C823998A}">
      <dgm:prSet/>
      <dgm:spPr/>
      <dgm:t>
        <a:bodyPr/>
        <a:lstStyle/>
        <a:p>
          <a:endParaRPr lang="en-US"/>
        </a:p>
      </dgm:t>
    </dgm:pt>
    <dgm:pt modelId="{57876463-0759-4447-AE28-40B1B987B410}" type="sibTrans" cxnId="{75576652-9D1A-4A15-B6F9-4609C823998A}">
      <dgm:prSet/>
      <dgm:spPr/>
      <dgm:t>
        <a:bodyPr/>
        <a:lstStyle/>
        <a:p>
          <a:endParaRPr lang="en-AU" noProof="0"/>
        </a:p>
      </dgm:t>
    </dgm:pt>
    <dgm:pt modelId="{58CBF91E-2AF0-4327-AAB7-3E3A7816489E}">
      <dgm:prSet custT="1"/>
      <dgm:spPr/>
      <dgm:t>
        <a:bodyPr/>
        <a:lstStyle/>
        <a:p>
          <a:r>
            <a:rPr lang="en-AU" sz="1400" b="0" i="0" baseline="0" noProof="0">
              <a:latin typeface="Calibri" panose="020F0502020204030204" pitchFamily="34" charset="0"/>
              <a:ea typeface="Calibri" panose="020F0502020204030204" pitchFamily="34" charset="0"/>
              <a:cs typeface="Calibri" panose="020F0502020204030204" pitchFamily="34" charset="0"/>
            </a:rPr>
            <a:t>Action plan ready — targeted campaigns and NBA integration. </a:t>
          </a:r>
          <a:endParaRPr lang="en-AU" sz="1400" b="0" noProof="0">
            <a:latin typeface="Calibri" panose="020F0502020204030204" pitchFamily="34" charset="0"/>
            <a:ea typeface="Calibri" panose="020F0502020204030204" pitchFamily="34" charset="0"/>
            <a:cs typeface="Calibri" panose="020F0502020204030204" pitchFamily="34" charset="0"/>
          </a:endParaRPr>
        </a:p>
      </dgm:t>
    </dgm:pt>
    <dgm:pt modelId="{9FDCB903-77F2-4D49-A97F-EC038DE0ECAF}" type="parTrans" cxnId="{B33E85CE-3528-4659-87EE-6B45019A046F}">
      <dgm:prSet/>
      <dgm:spPr/>
      <dgm:t>
        <a:bodyPr/>
        <a:lstStyle/>
        <a:p>
          <a:endParaRPr lang="en-US"/>
        </a:p>
      </dgm:t>
    </dgm:pt>
    <dgm:pt modelId="{FC5ECA9D-7F04-4AC4-8A4E-8FA43608BF6E}" type="sibTrans" cxnId="{B33E85CE-3528-4659-87EE-6B45019A046F}">
      <dgm:prSet/>
      <dgm:spPr/>
      <dgm:t>
        <a:bodyPr/>
        <a:lstStyle/>
        <a:p>
          <a:endParaRPr lang="en-US"/>
        </a:p>
      </dgm:t>
    </dgm:pt>
    <dgm:pt modelId="{1DA3C786-6085-4449-BCFD-26F42D88D9AE}" type="pres">
      <dgm:prSet presAssocID="{50128577-9121-4F6D-8B14-26AE0433DFD4}" presName="outerComposite" presStyleCnt="0">
        <dgm:presLayoutVars>
          <dgm:chMax val="5"/>
          <dgm:dir/>
          <dgm:resizeHandles val="exact"/>
        </dgm:presLayoutVars>
      </dgm:prSet>
      <dgm:spPr/>
    </dgm:pt>
    <dgm:pt modelId="{D19C3110-E42B-4AFE-93DE-6E05DD1584F4}" type="pres">
      <dgm:prSet presAssocID="{50128577-9121-4F6D-8B14-26AE0433DFD4}" presName="dummyMaxCanvas" presStyleCnt="0">
        <dgm:presLayoutVars/>
      </dgm:prSet>
      <dgm:spPr/>
    </dgm:pt>
    <dgm:pt modelId="{F11559A7-515C-4281-81FF-29AD5F02EADF}" type="pres">
      <dgm:prSet presAssocID="{50128577-9121-4F6D-8B14-26AE0433DFD4}" presName="FourNodes_1" presStyleLbl="node1" presStyleIdx="0" presStyleCnt="4">
        <dgm:presLayoutVars>
          <dgm:bulletEnabled val="1"/>
        </dgm:presLayoutVars>
      </dgm:prSet>
      <dgm:spPr/>
    </dgm:pt>
    <dgm:pt modelId="{E18273AE-D1DD-40B5-8E4D-72C8ECE145C4}" type="pres">
      <dgm:prSet presAssocID="{50128577-9121-4F6D-8B14-26AE0433DFD4}" presName="FourNodes_2" presStyleLbl="node1" presStyleIdx="1" presStyleCnt="4">
        <dgm:presLayoutVars>
          <dgm:bulletEnabled val="1"/>
        </dgm:presLayoutVars>
      </dgm:prSet>
      <dgm:spPr/>
    </dgm:pt>
    <dgm:pt modelId="{D8789633-AA47-4527-AAD9-DBDAD5E1FB11}" type="pres">
      <dgm:prSet presAssocID="{50128577-9121-4F6D-8B14-26AE0433DFD4}" presName="FourNodes_3" presStyleLbl="node1" presStyleIdx="2" presStyleCnt="4">
        <dgm:presLayoutVars>
          <dgm:bulletEnabled val="1"/>
        </dgm:presLayoutVars>
      </dgm:prSet>
      <dgm:spPr/>
    </dgm:pt>
    <dgm:pt modelId="{799807A4-1858-4B68-9584-F762C0834002}" type="pres">
      <dgm:prSet presAssocID="{50128577-9121-4F6D-8B14-26AE0433DFD4}" presName="FourNodes_4" presStyleLbl="node1" presStyleIdx="3" presStyleCnt="4">
        <dgm:presLayoutVars>
          <dgm:bulletEnabled val="1"/>
        </dgm:presLayoutVars>
      </dgm:prSet>
      <dgm:spPr/>
    </dgm:pt>
    <dgm:pt modelId="{AFE1BB49-0205-4C9E-9600-461E9DFEF701}" type="pres">
      <dgm:prSet presAssocID="{50128577-9121-4F6D-8B14-26AE0433DFD4}" presName="FourConn_1-2" presStyleLbl="fgAccFollowNode1" presStyleIdx="0" presStyleCnt="3">
        <dgm:presLayoutVars>
          <dgm:bulletEnabled val="1"/>
        </dgm:presLayoutVars>
      </dgm:prSet>
      <dgm:spPr/>
    </dgm:pt>
    <dgm:pt modelId="{CC10305C-2689-4480-ADC9-3B2D0691DC1C}" type="pres">
      <dgm:prSet presAssocID="{50128577-9121-4F6D-8B14-26AE0433DFD4}" presName="FourConn_2-3" presStyleLbl="fgAccFollowNode1" presStyleIdx="1" presStyleCnt="3">
        <dgm:presLayoutVars>
          <dgm:bulletEnabled val="1"/>
        </dgm:presLayoutVars>
      </dgm:prSet>
      <dgm:spPr/>
    </dgm:pt>
    <dgm:pt modelId="{AFB13E91-4673-4A79-B8F1-A6633E02F4C0}" type="pres">
      <dgm:prSet presAssocID="{50128577-9121-4F6D-8B14-26AE0433DFD4}" presName="FourConn_3-4" presStyleLbl="fgAccFollowNode1" presStyleIdx="2" presStyleCnt="3">
        <dgm:presLayoutVars>
          <dgm:bulletEnabled val="1"/>
        </dgm:presLayoutVars>
      </dgm:prSet>
      <dgm:spPr/>
    </dgm:pt>
    <dgm:pt modelId="{A6347049-5D5C-4CF0-A189-33BCAC1E01E4}" type="pres">
      <dgm:prSet presAssocID="{50128577-9121-4F6D-8B14-26AE0433DFD4}" presName="FourNodes_1_text" presStyleLbl="node1" presStyleIdx="3" presStyleCnt="4">
        <dgm:presLayoutVars>
          <dgm:bulletEnabled val="1"/>
        </dgm:presLayoutVars>
      </dgm:prSet>
      <dgm:spPr/>
    </dgm:pt>
    <dgm:pt modelId="{8C76B7DD-B7E5-4B70-B5D5-54394CCB888A}" type="pres">
      <dgm:prSet presAssocID="{50128577-9121-4F6D-8B14-26AE0433DFD4}" presName="FourNodes_2_text" presStyleLbl="node1" presStyleIdx="3" presStyleCnt="4">
        <dgm:presLayoutVars>
          <dgm:bulletEnabled val="1"/>
        </dgm:presLayoutVars>
      </dgm:prSet>
      <dgm:spPr/>
    </dgm:pt>
    <dgm:pt modelId="{E40BEB13-F666-4A92-9D09-8B9A8301253E}" type="pres">
      <dgm:prSet presAssocID="{50128577-9121-4F6D-8B14-26AE0433DFD4}" presName="FourNodes_3_text" presStyleLbl="node1" presStyleIdx="3" presStyleCnt="4">
        <dgm:presLayoutVars>
          <dgm:bulletEnabled val="1"/>
        </dgm:presLayoutVars>
      </dgm:prSet>
      <dgm:spPr/>
    </dgm:pt>
    <dgm:pt modelId="{71421624-0867-41A0-AFB6-2F3552941DCF}" type="pres">
      <dgm:prSet presAssocID="{50128577-9121-4F6D-8B14-26AE0433DFD4}" presName="FourNodes_4_text" presStyleLbl="node1" presStyleIdx="3" presStyleCnt="4">
        <dgm:presLayoutVars>
          <dgm:bulletEnabled val="1"/>
        </dgm:presLayoutVars>
      </dgm:prSet>
      <dgm:spPr/>
    </dgm:pt>
  </dgm:ptLst>
  <dgm:cxnLst>
    <dgm:cxn modelId="{6AE3CA1F-4063-49B9-B13F-6A989CE94E83}" type="presOf" srcId="{7559486C-3B88-4204-B167-4A36EB813C7A}" destId="{E40BEB13-F666-4A92-9D09-8B9A8301253E}" srcOrd="1" destOrd="0" presId="urn:microsoft.com/office/officeart/2005/8/layout/vProcess5"/>
    <dgm:cxn modelId="{B4F95C24-417A-427D-8AC8-DA1D4C96FBEB}" type="presOf" srcId="{DD27D86B-9E8E-448F-A413-57EC77D657EC}" destId="{A6347049-5D5C-4CF0-A189-33BCAC1E01E4}" srcOrd="1" destOrd="0" presId="urn:microsoft.com/office/officeart/2005/8/layout/vProcess5"/>
    <dgm:cxn modelId="{AC404E68-9334-4F80-A116-A1CA112E0E62}" type="presOf" srcId="{BF5CB639-186A-48BF-8B5F-51FA46DC43FE}" destId="{8C76B7DD-B7E5-4B70-B5D5-54394CCB888A}" srcOrd="1" destOrd="0" presId="urn:microsoft.com/office/officeart/2005/8/layout/vProcess5"/>
    <dgm:cxn modelId="{75576652-9D1A-4A15-B6F9-4609C823998A}" srcId="{50128577-9121-4F6D-8B14-26AE0433DFD4}" destId="{7559486C-3B88-4204-B167-4A36EB813C7A}" srcOrd="2" destOrd="0" parTransId="{D7DF924B-0687-406D-AC49-72EED7D7DD71}" sibTransId="{57876463-0759-4447-AE28-40B1B987B410}"/>
    <dgm:cxn modelId="{4B64007A-1557-45AD-9C75-31212E064DBA}" type="presOf" srcId="{58CBF91E-2AF0-4327-AAB7-3E3A7816489E}" destId="{71421624-0867-41A0-AFB6-2F3552941DCF}" srcOrd="1" destOrd="0" presId="urn:microsoft.com/office/officeart/2005/8/layout/vProcess5"/>
    <dgm:cxn modelId="{68470C5A-B161-43C6-8EE8-7E134D347825}" srcId="{50128577-9121-4F6D-8B14-26AE0433DFD4}" destId="{DD27D86B-9E8E-448F-A413-57EC77D657EC}" srcOrd="0" destOrd="0" parTransId="{20784C4E-8A3A-4C78-BBD7-D43CFBC850DE}" sibTransId="{BD00FB82-85B2-4FB0-A5BC-3338BC25FFBB}"/>
    <dgm:cxn modelId="{C1DAA67B-3436-4BC8-8D22-864629CE3321}" type="presOf" srcId="{BF5CB639-186A-48BF-8B5F-51FA46DC43FE}" destId="{E18273AE-D1DD-40B5-8E4D-72C8ECE145C4}" srcOrd="0" destOrd="0" presId="urn:microsoft.com/office/officeart/2005/8/layout/vProcess5"/>
    <dgm:cxn modelId="{54901B7D-07A7-4270-9C37-172E2F3A0876}" type="presOf" srcId="{50128577-9121-4F6D-8B14-26AE0433DFD4}" destId="{1DA3C786-6085-4449-BCFD-26F42D88D9AE}" srcOrd="0" destOrd="0" presId="urn:microsoft.com/office/officeart/2005/8/layout/vProcess5"/>
    <dgm:cxn modelId="{2564B38C-3BC4-4470-A602-451EBC94CE5A}" type="presOf" srcId="{7559486C-3B88-4204-B167-4A36EB813C7A}" destId="{D8789633-AA47-4527-AAD9-DBDAD5E1FB11}" srcOrd="0" destOrd="0" presId="urn:microsoft.com/office/officeart/2005/8/layout/vProcess5"/>
    <dgm:cxn modelId="{636BAFAA-E6CE-4F26-877B-70D98BFE7FDB}" type="presOf" srcId="{57876463-0759-4447-AE28-40B1B987B410}" destId="{AFB13E91-4673-4A79-B8F1-A6633E02F4C0}" srcOrd="0" destOrd="0" presId="urn:microsoft.com/office/officeart/2005/8/layout/vProcess5"/>
    <dgm:cxn modelId="{1ADA67BE-8647-4D4E-AC75-D4582B84B85E}" srcId="{50128577-9121-4F6D-8B14-26AE0433DFD4}" destId="{BF5CB639-186A-48BF-8B5F-51FA46DC43FE}" srcOrd="1" destOrd="0" parTransId="{FB228902-A171-4FB6-990F-6301CCB8B8C9}" sibTransId="{7D877C79-0BFF-4AEA-A868-7D71683B0ED2}"/>
    <dgm:cxn modelId="{CC3459C4-C605-48D9-A968-978A453CCF26}" type="presOf" srcId="{7D877C79-0BFF-4AEA-A868-7D71683B0ED2}" destId="{CC10305C-2689-4480-ADC9-3B2D0691DC1C}" srcOrd="0" destOrd="0" presId="urn:microsoft.com/office/officeart/2005/8/layout/vProcess5"/>
    <dgm:cxn modelId="{B33E85CE-3528-4659-87EE-6B45019A046F}" srcId="{50128577-9121-4F6D-8B14-26AE0433DFD4}" destId="{58CBF91E-2AF0-4327-AAB7-3E3A7816489E}" srcOrd="3" destOrd="0" parTransId="{9FDCB903-77F2-4D49-A97F-EC038DE0ECAF}" sibTransId="{FC5ECA9D-7F04-4AC4-8A4E-8FA43608BF6E}"/>
    <dgm:cxn modelId="{65D443F2-5644-4941-8404-BBFB04399E9F}" type="presOf" srcId="{58CBF91E-2AF0-4327-AAB7-3E3A7816489E}" destId="{799807A4-1858-4B68-9584-F762C0834002}" srcOrd="0" destOrd="0" presId="urn:microsoft.com/office/officeart/2005/8/layout/vProcess5"/>
    <dgm:cxn modelId="{90C95EF5-8F6A-4D76-BB14-5782E21C7169}" type="presOf" srcId="{BD00FB82-85B2-4FB0-A5BC-3338BC25FFBB}" destId="{AFE1BB49-0205-4C9E-9600-461E9DFEF701}" srcOrd="0" destOrd="0" presId="urn:microsoft.com/office/officeart/2005/8/layout/vProcess5"/>
    <dgm:cxn modelId="{679C36FD-F57F-48B1-AFBE-F719A3D79A48}" type="presOf" srcId="{DD27D86B-9E8E-448F-A413-57EC77D657EC}" destId="{F11559A7-515C-4281-81FF-29AD5F02EADF}" srcOrd="0" destOrd="0" presId="urn:microsoft.com/office/officeart/2005/8/layout/vProcess5"/>
    <dgm:cxn modelId="{8EE72B7E-DD47-4545-B077-B31554A9CA33}" type="presParOf" srcId="{1DA3C786-6085-4449-BCFD-26F42D88D9AE}" destId="{D19C3110-E42B-4AFE-93DE-6E05DD1584F4}" srcOrd="0" destOrd="0" presId="urn:microsoft.com/office/officeart/2005/8/layout/vProcess5"/>
    <dgm:cxn modelId="{E59E6E0A-ABC0-463C-A783-84047AA68A12}" type="presParOf" srcId="{1DA3C786-6085-4449-BCFD-26F42D88D9AE}" destId="{F11559A7-515C-4281-81FF-29AD5F02EADF}" srcOrd="1" destOrd="0" presId="urn:microsoft.com/office/officeart/2005/8/layout/vProcess5"/>
    <dgm:cxn modelId="{09B903A4-E50F-49F4-ACE3-0F2F237D59A9}" type="presParOf" srcId="{1DA3C786-6085-4449-BCFD-26F42D88D9AE}" destId="{E18273AE-D1DD-40B5-8E4D-72C8ECE145C4}" srcOrd="2" destOrd="0" presId="urn:microsoft.com/office/officeart/2005/8/layout/vProcess5"/>
    <dgm:cxn modelId="{58775EDA-DCDC-4E8C-B797-BB5CEAA183AB}" type="presParOf" srcId="{1DA3C786-6085-4449-BCFD-26F42D88D9AE}" destId="{D8789633-AA47-4527-AAD9-DBDAD5E1FB11}" srcOrd="3" destOrd="0" presId="urn:microsoft.com/office/officeart/2005/8/layout/vProcess5"/>
    <dgm:cxn modelId="{8A9906F0-A9D1-46C5-B84E-4FF6F47D9D1A}" type="presParOf" srcId="{1DA3C786-6085-4449-BCFD-26F42D88D9AE}" destId="{799807A4-1858-4B68-9584-F762C0834002}" srcOrd="4" destOrd="0" presId="urn:microsoft.com/office/officeart/2005/8/layout/vProcess5"/>
    <dgm:cxn modelId="{F921F677-0CB9-4444-9381-31FA34E5207B}" type="presParOf" srcId="{1DA3C786-6085-4449-BCFD-26F42D88D9AE}" destId="{AFE1BB49-0205-4C9E-9600-461E9DFEF701}" srcOrd="5" destOrd="0" presId="urn:microsoft.com/office/officeart/2005/8/layout/vProcess5"/>
    <dgm:cxn modelId="{D21A32CD-6421-4743-A7B5-C3444280F93E}" type="presParOf" srcId="{1DA3C786-6085-4449-BCFD-26F42D88D9AE}" destId="{CC10305C-2689-4480-ADC9-3B2D0691DC1C}" srcOrd="6" destOrd="0" presId="urn:microsoft.com/office/officeart/2005/8/layout/vProcess5"/>
    <dgm:cxn modelId="{5B286F7B-AC24-4653-809E-AC25DCE259A1}" type="presParOf" srcId="{1DA3C786-6085-4449-BCFD-26F42D88D9AE}" destId="{AFB13E91-4673-4A79-B8F1-A6633E02F4C0}" srcOrd="7" destOrd="0" presId="urn:microsoft.com/office/officeart/2005/8/layout/vProcess5"/>
    <dgm:cxn modelId="{FB3CBB5D-3DF5-4F93-B321-168A7A39561E}" type="presParOf" srcId="{1DA3C786-6085-4449-BCFD-26F42D88D9AE}" destId="{A6347049-5D5C-4CF0-A189-33BCAC1E01E4}" srcOrd="8" destOrd="0" presId="urn:microsoft.com/office/officeart/2005/8/layout/vProcess5"/>
    <dgm:cxn modelId="{1E7BABEB-327F-4E8D-9E9B-9F2880B97577}" type="presParOf" srcId="{1DA3C786-6085-4449-BCFD-26F42D88D9AE}" destId="{8C76B7DD-B7E5-4B70-B5D5-54394CCB888A}" srcOrd="9" destOrd="0" presId="urn:microsoft.com/office/officeart/2005/8/layout/vProcess5"/>
    <dgm:cxn modelId="{02B32676-2B77-46D6-B25D-5692603E79A2}" type="presParOf" srcId="{1DA3C786-6085-4449-BCFD-26F42D88D9AE}" destId="{E40BEB13-F666-4A92-9D09-8B9A8301253E}" srcOrd="10" destOrd="0" presId="urn:microsoft.com/office/officeart/2005/8/layout/vProcess5"/>
    <dgm:cxn modelId="{0CAFC339-F9C2-44F3-BF25-D5A316826F02}" type="presParOf" srcId="{1DA3C786-6085-4449-BCFD-26F42D88D9AE}" destId="{71421624-0867-41A0-AFB6-2F3552941DCF}"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6530CF-18AE-4081-9EDF-BBDAAAD65659}">
      <dsp:nvSpPr>
        <dsp:cNvPr id="0" name=""/>
        <dsp:cNvSpPr/>
      </dsp:nvSpPr>
      <dsp:spPr>
        <a:xfrm>
          <a:off x="1156018" y="185540"/>
          <a:ext cx="800766" cy="80076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0F7379-4DCA-452E-88FA-69020C4972EC}">
      <dsp:nvSpPr>
        <dsp:cNvPr id="0" name=""/>
        <dsp:cNvSpPr/>
      </dsp:nvSpPr>
      <dsp:spPr>
        <a:xfrm>
          <a:off x="1324169" y="353698"/>
          <a:ext cx="464444" cy="4644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4D0FBF5-8ABD-4412-B342-1126F64723FD}">
      <dsp:nvSpPr>
        <dsp:cNvPr id="0" name=""/>
        <dsp:cNvSpPr/>
      </dsp:nvSpPr>
      <dsp:spPr>
        <a:xfrm>
          <a:off x="2128357" y="185540"/>
          <a:ext cx="1887520" cy="800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AU" sz="1200" b="1" i="0" kern="1200" baseline="0" noProof="0">
              <a:latin typeface="Calibri" panose="020F0502020204030204" pitchFamily="34" charset="0"/>
              <a:ea typeface="Calibri" panose="020F0502020204030204" pitchFamily="34" charset="0"/>
              <a:cs typeface="Calibri" panose="020F0502020204030204" pitchFamily="34" charset="0"/>
            </a:rPr>
            <a:t>Retention Focus:</a:t>
          </a:r>
          <a:r>
            <a:rPr lang="en-AU" sz="1200" b="0" i="0" kern="1200" baseline="0" noProof="0">
              <a:latin typeface="Calibri" panose="020F0502020204030204" pitchFamily="34" charset="0"/>
              <a:ea typeface="Calibri" panose="020F0502020204030204" pitchFamily="34" charset="0"/>
              <a:cs typeface="Calibri" panose="020F0502020204030204" pitchFamily="34" charset="0"/>
            </a:rPr>
            <a:t> Reinforce loyalty for top CLV segments and omnichannel champions. </a:t>
          </a:r>
          <a:endParaRPr lang="en-AU" sz="1200" kern="1200" noProof="0">
            <a:latin typeface="Calibri" panose="020F0502020204030204" pitchFamily="34" charset="0"/>
            <a:ea typeface="Calibri" panose="020F0502020204030204" pitchFamily="34" charset="0"/>
            <a:cs typeface="Calibri" panose="020F0502020204030204" pitchFamily="34" charset="0"/>
          </a:endParaRPr>
        </a:p>
      </dsp:txBody>
      <dsp:txXfrm>
        <a:off x="2128357" y="185540"/>
        <a:ext cx="1887520" cy="800766"/>
      </dsp:txXfrm>
    </dsp:sp>
    <dsp:sp modelId="{9DCDA7C2-A22E-437A-8812-57606300E854}">
      <dsp:nvSpPr>
        <dsp:cNvPr id="0" name=""/>
        <dsp:cNvSpPr/>
      </dsp:nvSpPr>
      <dsp:spPr>
        <a:xfrm>
          <a:off x="5497303" y="231280"/>
          <a:ext cx="800766" cy="80076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9F448E-F92A-4D02-A724-0A7747F6D9C3}">
      <dsp:nvSpPr>
        <dsp:cNvPr id="0" name=""/>
        <dsp:cNvSpPr/>
      </dsp:nvSpPr>
      <dsp:spPr>
        <a:xfrm>
          <a:off x="5665458" y="399437"/>
          <a:ext cx="464444" cy="4644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387FF69-54B5-4A79-9618-4FED89A02113}">
      <dsp:nvSpPr>
        <dsp:cNvPr id="0" name=""/>
        <dsp:cNvSpPr/>
      </dsp:nvSpPr>
      <dsp:spPr>
        <a:xfrm>
          <a:off x="6469643" y="231280"/>
          <a:ext cx="1887520" cy="800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AU" sz="1200" b="1" i="0" kern="1200" baseline="0" noProof="0">
              <a:latin typeface="Calibri" panose="020F0502020204030204" pitchFamily="34" charset="0"/>
              <a:ea typeface="Calibri" panose="020F0502020204030204" pitchFamily="34" charset="0"/>
              <a:cs typeface="Calibri" panose="020F0502020204030204" pitchFamily="34" charset="0"/>
            </a:rPr>
            <a:t>Upsell Opportunities:</a:t>
          </a:r>
          <a:r>
            <a:rPr lang="en-AU" sz="1200" b="0" i="0" kern="1200" baseline="0" noProof="0">
              <a:latin typeface="Calibri" panose="020F0502020204030204" pitchFamily="34" charset="0"/>
              <a:ea typeface="Calibri" panose="020F0502020204030204" pitchFamily="34" charset="0"/>
              <a:cs typeface="Calibri" panose="020F0502020204030204" pitchFamily="34" charset="0"/>
            </a:rPr>
            <a:t> </a:t>
          </a:r>
          <a:endParaRPr lang="en-AU" sz="1200" kern="1200" noProof="0">
            <a:latin typeface="Calibri" panose="020F0502020204030204" pitchFamily="34" charset="0"/>
            <a:ea typeface="Calibri" panose="020F0502020204030204" pitchFamily="34" charset="0"/>
            <a:cs typeface="Calibri" panose="020F0502020204030204" pitchFamily="34" charset="0"/>
          </a:endParaRPr>
        </a:p>
      </dsp:txBody>
      <dsp:txXfrm>
        <a:off x="6469643" y="231280"/>
        <a:ext cx="1887520" cy="800766"/>
      </dsp:txXfrm>
    </dsp:sp>
    <dsp:sp modelId="{6222FE74-0DB9-47FE-8819-131C09B9A6DE}">
      <dsp:nvSpPr>
        <dsp:cNvPr id="0" name=""/>
        <dsp:cNvSpPr/>
      </dsp:nvSpPr>
      <dsp:spPr>
        <a:xfrm>
          <a:off x="6219092" y="1434215"/>
          <a:ext cx="800766" cy="80076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D9DCF7-8380-4FE5-90AD-B77385C64079}">
      <dsp:nvSpPr>
        <dsp:cNvPr id="0" name=""/>
        <dsp:cNvSpPr/>
      </dsp:nvSpPr>
      <dsp:spPr>
        <a:xfrm>
          <a:off x="6387253" y="1602376"/>
          <a:ext cx="464444" cy="4644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E71A57C-C5D9-42A7-9150-89C2A101453E}">
      <dsp:nvSpPr>
        <dsp:cNvPr id="0" name=""/>
        <dsp:cNvSpPr/>
      </dsp:nvSpPr>
      <dsp:spPr>
        <a:xfrm>
          <a:off x="7191457" y="1434215"/>
          <a:ext cx="1887520" cy="800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AU" sz="1200" b="0" i="0" kern="1200" baseline="0" noProof="0">
              <a:latin typeface="Calibri" panose="020F0502020204030204" pitchFamily="34" charset="0"/>
              <a:ea typeface="Calibri" panose="020F0502020204030204" pitchFamily="34" charset="0"/>
              <a:cs typeface="Calibri" panose="020F0502020204030204" pitchFamily="34" charset="0"/>
            </a:rPr>
            <a:t>Merchandise offers for membership loyalists (high membership, low e-commerce). </a:t>
          </a:r>
          <a:endParaRPr lang="en-AU" sz="1200" kern="1200" noProof="0">
            <a:latin typeface="Calibri" panose="020F0502020204030204" pitchFamily="34" charset="0"/>
            <a:ea typeface="Calibri" panose="020F0502020204030204" pitchFamily="34" charset="0"/>
            <a:cs typeface="Calibri" panose="020F0502020204030204" pitchFamily="34" charset="0"/>
          </a:endParaRPr>
        </a:p>
      </dsp:txBody>
      <dsp:txXfrm>
        <a:off x="7191457" y="1434215"/>
        <a:ext cx="1887520" cy="800766"/>
      </dsp:txXfrm>
    </dsp:sp>
    <dsp:sp modelId="{B7BA7B77-4F53-4CC5-95A5-2DB938459ADE}">
      <dsp:nvSpPr>
        <dsp:cNvPr id="0" name=""/>
        <dsp:cNvSpPr/>
      </dsp:nvSpPr>
      <dsp:spPr>
        <a:xfrm>
          <a:off x="6207612" y="2696891"/>
          <a:ext cx="800766" cy="80076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29D40C-93BB-4015-9D39-1B5E0EB4890D}">
      <dsp:nvSpPr>
        <dsp:cNvPr id="0" name=""/>
        <dsp:cNvSpPr/>
      </dsp:nvSpPr>
      <dsp:spPr>
        <a:xfrm>
          <a:off x="6375768" y="2881940"/>
          <a:ext cx="464444" cy="46444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5256C35-56BE-4403-B82F-A2A72EF2BFDF}">
      <dsp:nvSpPr>
        <dsp:cNvPr id="0" name=""/>
        <dsp:cNvSpPr/>
      </dsp:nvSpPr>
      <dsp:spPr>
        <a:xfrm>
          <a:off x="7179985" y="2696891"/>
          <a:ext cx="1887520" cy="800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AU" sz="1200" b="0" i="0" kern="1200" baseline="0" noProof="0">
              <a:latin typeface="Calibri" panose="020F0502020204030204" pitchFamily="34" charset="0"/>
              <a:ea typeface="Calibri" panose="020F0502020204030204" pitchFamily="34" charset="0"/>
              <a:cs typeface="Calibri" panose="020F0502020204030204" pitchFamily="34" charset="0"/>
            </a:rPr>
            <a:t>Membership upgrades for merchandise fans (high e-commerce, low membership). </a:t>
          </a:r>
          <a:endParaRPr lang="en-AU" sz="1200" kern="1200" noProof="0">
            <a:latin typeface="Calibri" panose="020F0502020204030204" pitchFamily="34" charset="0"/>
            <a:ea typeface="Calibri" panose="020F0502020204030204" pitchFamily="34" charset="0"/>
            <a:cs typeface="Calibri" panose="020F0502020204030204" pitchFamily="34" charset="0"/>
          </a:endParaRPr>
        </a:p>
      </dsp:txBody>
      <dsp:txXfrm>
        <a:off x="7179985" y="2696891"/>
        <a:ext cx="1887520" cy="800766"/>
      </dsp:txXfrm>
    </dsp:sp>
    <dsp:sp modelId="{F67DC22D-E516-48D4-8B34-ADEC1F171671}">
      <dsp:nvSpPr>
        <dsp:cNvPr id="0" name=""/>
        <dsp:cNvSpPr/>
      </dsp:nvSpPr>
      <dsp:spPr>
        <a:xfrm>
          <a:off x="1134864" y="1394637"/>
          <a:ext cx="800766" cy="800766"/>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A1D50B-FE7E-4BF5-A1E5-34FAE02AF6D2}">
      <dsp:nvSpPr>
        <dsp:cNvPr id="0" name=""/>
        <dsp:cNvSpPr/>
      </dsp:nvSpPr>
      <dsp:spPr>
        <a:xfrm>
          <a:off x="1303033" y="1562792"/>
          <a:ext cx="464444" cy="46444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08ABB80-FF65-48F1-A7C3-747BC207F6B5}">
      <dsp:nvSpPr>
        <dsp:cNvPr id="0" name=""/>
        <dsp:cNvSpPr/>
      </dsp:nvSpPr>
      <dsp:spPr>
        <a:xfrm>
          <a:off x="2107224" y="1394637"/>
          <a:ext cx="1887520" cy="800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AU" sz="1200" b="1" i="0" kern="1200" baseline="0" noProof="0">
              <a:latin typeface="Calibri" panose="020F0502020204030204" pitchFamily="34" charset="0"/>
              <a:ea typeface="Calibri" panose="020F0502020204030204" pitchFamily="34" charset="0"/>
              <a:cs typeface="Calibri" panose="020F0502020204030204" pitchFamily="34" charset="0"/>
            </a:rPr>
            <a:t>Engagement Boost:</a:t>
          </a:r>
          <a:r>
            <a:rPr lang="en-AU" sz="1200" b="0" i="0" kern="1200" baseline="0" noProof="0">
              <a:latin typeface="Calibri" panose="020F0502020204030204" pitchFamily="34" charset="0"/>
              <a:ea typeface="Calibri" panose="020F0502020204030204" pitchFamily="34" charset="0"/>
              <a:cs typeface="Calibri" panose="020F0502020204030204" pitchFamily="34" charset="0"/>
            </a:rPr>
            <a:t> Target short-tenure, low-frequency customers with onboarding campaigns. </a:t>
          </a:r>
          <a:endParaRPr lang="en-AU" sz="1200" kern="1200" noProof="0">
            <a:latin typeface="Calibri" panose="020F0502020204030204" pitchFamily="34" charset="0"/>
            <a:ea typeface="Calibri" panose="020F0502020204030204" pitchFamily="34" charset="0"/>
            <a:cs typeface="Calibri" panose="020F0502020204030204" pitchFamily="34" charset="0"/>
          </a:endParaRPr>
        </a:p>
      </dsp:txBody>
      <dsp:txXfrm>
        <a:off x="2107224" y="1394637"/>
        <a:ext cx="1887520" cy="800766"/>
      </dsp:txXfrm>
    </dsp:sp>
    <dsp:sp modelId="{4958C0B9-E7A0-4F6D-8C98-6CBD54838881}">
      <dsp:nvSpPr>
        <dsp:cNvPr id="0" name=""/>
        <dsp:cNvSpPr/>
      </dsp:nvSpPr>
      <dsp:spPr>
        <a:xfrm>
          <a:off x="1166064" y="2726552"/>
          <a:ext cx="800766" cy="80076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17B1F7-6A9C-4BD1-96E4-10F263D5B46E}">
      <dsp:nvSpPr>
        <dsp:cNvPr id="0" name=""/>
        <dsp:cNvSpPr/>
      </dsp:nvSpPr>
      <dsp:spPr>
        <a:xfrm>
          <a:off x="1334223" y="2894707"/>
          <a:ext cx="464444" cy="464444"/>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3E64130-963F-4D82-BAC2-38D0466F74D9}">
      <dsp:nvSpPr>
        <dsp:cNvPr id="0" name=""/>
        <dsp:cNvSpPr/>
      </dsp:nvSpPr>
      <dsp:spPr>
        <a:xfrm>
          <a:off x="2138414" y="2726552"/>
          <a:ext cx="1887520" cy="800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AU" sz="1200" b="1" i="0" kern="1200" baseline="0" noProof="0">
              <a:latin typeface="Calibri" panose="020F0502020204030204" pitchFamily="34" charset="0"/>
              <a:ea typeface="Calibri" panose="020F0502020204030204" pitchFamily="34" charset="0"/>
              <a:cs typeface="Calibri" panose="020F0502020204030204" pitchFamily="34" charset="0"/>
            </a:rPr>
            <a:t>Personalization:</a:t>
          </a:r>
          <a:r>
            <a:rPr lang="en-AU" sz="1200" b="0" i="0" kern="1200" baseline="0" noProof="0">
              <a:latin typeface="Calibri" panose="020F0502020204030204" pitchFamily="34" charset="0"/>
              <a:ea typeface="Calibri" panose="020F0502020204030204" pitchFamily="34" charset="0"/>
              <a:cs typeface="Calibri" panose="020F0502020204030204" pitchFamily="34" charset="0"/>
            </a:rPr>
            <a:t> Use CLV bands and engagement signals to tailor offers and NBA (Next Best Action) recommendations. </a:t>
          </a:r>
          <a:endParaRPr lang="en-AU" sz="1200" kern="1200" noProof="0">
            <a:latin typeface="Calibri" panose="020F0502020204030204" pitchFamily="34" charset="0"/>
            <a:ea typeface="Calibri" panose="020F0502020204030204" pitchFamily="34" charset="0"/>
            <a:cs typeface="Calibri" panose="020F0502020204030204" pitchFamily="34" charset="0"/>
          </a:endParaRPr>
        </a:p>
      </dsp:txBody>
      <dsp:txXfrm>
        <a:off x="2138414" y="2726552"/>
        <a:ext cx="1887520" cy="8007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1559A7-515C-4281-81FF-29AD5F02EADF}">
      <dsp:nvSpPr>
        <dsp:cNvPr id="0" name=""/>
        <dsp:cNvSpPr/>
      </dsp:nvSpPr>
      <dsp:spPr>
        <a:xfrm>
          <a:off x="0" y="0"/>
          <a:ext cx="7060527" cy="54483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AU" sz="1400" b="0" i="0" kern="1200" baseline="0" noProof="0">
              <a:latin typeface="Calibri" panose="020F0502020204030204" pitchFamily="34" charset="0"/>
              <a:ea typeface="Calibri" panose="020F0502020204030204" pitchFamily="34" charset="0"/>
              <a:cs typeface="Calibri" panose="020F0502020204030204" pitchFamily="34" charset="0"/>
            </a:rPr>
            <a:t>Revenue is concentrated in top CLV segments — retention is critical. </a:t>
          </a:r>
          <a:endParaRPr lang="en-AU" sz="1400" b="0" kern="1200" noProof="0">
            <a:latin typeface="Calibri" panose="020F0502020204030204" pitchFamily="34" charset="0"/>
            <a:ea typeface="Calibri" panose="020F0502020204030204" pitchFamily="34" charset="0"/>
            <a:cs typeface="Calibri" panose="020F0502020204030204" pitchFamily="34" charset="0"/>
          </a:endParaRPr>
        </a:p>
      </dsp:txBody>
      <dsp:txXfrm>
        <a:off x="15958" y="15958"/>
        <a:ext cx="6426574" cy="512914"/>
      </dsp:txXfrm>
    </dsp:sp>
    <dsp:sp modelId="{E18273AE-D1DD-40B5-8E4D-72C8ECE145C4}">
      <dsp:nvSpPr>
        <dsp:cNvPr id="0" name=""/>
        <dsp:cNvSpPr/>
      </dsp:nvSpPr>
      <dsp:spPr>
        <a:xfrm>
          <a:off x="591319" y="643890"/>
          <a:ext cx="7060527" cy="54483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AU" sz="1400" b="0" i="0" kern="1200" baseline="0" noProof="0">
              <a:latin typeface="Calibri" panose="020F0502020204030204" pitchFamily="34" charset="0"/>
              <a:ea typeface="Calibri" panose="020F0502020204030204" pitchFamily="34" charset="0"/>
              <a:cs typeface="Calibri" panose="020F0502020204030204" pitchFamily="34" charset="0"/>
            </a:rPr>
            <a:t>Engagement and tenure drive value — boost mid-tier engagement. </a:t>
          </a:r>
          <a:endParaRPr lang="en-AU" sz="1400" b="0" kern="1200" noProof="0">
            <a:latin typeface="Calibri" panose="020F0502020204030204" pitchFamily="34" charset="0"/>
            <a:ea typeface="Calibri" panose="020F0502020204030204" pitchFamily="34" charset="0"/>
            <a:cs typeface="Calibri" panose="020F0502020204030204" pitchFamily="34" charset="0"/>
          </a:endParaRPr>
        </a:p>
      </dsp:txBody>
      <dsp:txXfrm>
        <a:off x="607277" y="659848"/>
        <a:ext cx="6083152" cy="512914"/>
      </dsp:txXfrm>
    </dsp:sp>
    <dsp:sp modelId="{D8789633-AA47-4527-AAD9-DBDAD5E1FB11}">
      <dsp:nvSpPr>
        <dsp:cNvPr id="0" name=""/>
        <dsp:cNvSpPr/>
      </dsp:nvSpPr>
      <dsp:spPr>
        <a:xfrm>
          <a:off x="1173812" y="1287780"/>
          <a:ext cx="7060527" cy="54483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AU" sz="1400" b="0" i="0" kern="1200" baseline="0" noProof="0">
              <a:latin typeface="Calibri" panose="020F0502020204030204" pitchFamily="34" charset="0"/>
              <a:ea typeface="Calibri" panose="020F0502020204030204" pitchFamily="34" charset="0"/>
              <a:cs typeface="Calibri" panose="020F0502020204030204" pitchFamily="34" charset="0"/>
            </a:rPr>
            <a:t>Cross-channel gaps exist — merchandise and membership upsell opportunities. </a:t>
          </a:r>
          <a:endParaRPr lang="en-AU" sz="1400" b="0" kern="1200" noProof="0">
            <a:latin typeface="Calibri" panose="020F0502020204030204" pitchFamily="34" charset="0"/>
            <a:ea typeface="Calibri" panose="020F0502020204030204" pitchFamily="34" charset="0"/>
            <a:cs typeface="Calibri" panose="020F0502020204030204" pitchFamily="34" charset="0"/>
          </a:endParaRPr>
        </a:p>
      </dsp:txBody>
      <dsp:txXfrm>
        <a:off x="1189770" y="1303738"/>
        <a:ext cx="6091978" cy="512914"/>
      </dsp:txXfrm>
    </dsp:sp>
    <dsp:sp modelId="{799807A4-1858-4B68-9584-F762C0834002}">
      <dsp:nvSpPr>
        <dsp:cNvPr id="0" name=""/>
        <dsp:cNvSpPr/>
      </dsp:nvSpPr>
      <dsp:spPr>
        <a:xfrm>
          <a:off x="1765131" y="1931670"/>
          <a:ext cx="7060527" cy="54483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AU" sz="1400" b="0" i="0" kern="1200" baseline="0" noProof="0">
              <a:latin typeface="Calibri" panose="020F0502020204030204" pitchFamily="34" charset="0"/>
              <a:ea typeface="Calibri" panose="020F0502020204030204" pitchFamily="34" charset="0"/>
              <a:cs typeface="Calibri" panose="020F0502020204030204" pitchFamily="34" charset="0"/>
            </a:rPr>
            <a:t>Action plan ready — targeted campaigns and NBA integration. </a:t>
          </a:r>
          <a:endParaRPr lang="en-AU" sz="1400" b="0" kern="1200" noProof="0">
            <a:latin typeface="Calibri" panose="020F0502020204030204" pitchFamily="34" charset="0"/>
            <a:ea typeface="Calibri" panose="020F0502020204030204" pitchFamily="34" charset="0"/>
            <a:cs typeface="Calibri" panose="020F0502020204030204" pitchFamily="34" charset="0"/>
          </a:endParaRPr>
        </a:p>
      </dsp:txBody>
      <dsp:txXfrm>
        <a:off x="1781089" y="1947628"/>
        <a:ext cx="6083152" cy="512914"/>
      </dsp:txXfrm>
    </dsp:sp>
    <dsp:sp modelId="{AFE1BB49-0205-4C9E-9600-461E9DFEF701}">
      <dsp:nvSpPr>
        <dsp:cNvPr id="0" name=""/>
        <dsp:cNvSpPr/>
      </dsp:nvSpPr>
      <dsp:spPr>
        <a:xfrm>
          <a:off x="6706387" y="417290"/>
          <a:ext cx="354139" cy="354139"/>
        </a:xfrm>
        <a:prstGeom prst="downArrow">
          <a:avLst>
            <a:gd name="adj1" fmla="val 55000"/>
            <a:gd name="adj2" fmla="val 45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AU" sz="1600" kern="1200" noProof="0"/>
        </a:p>
      </dsp:txBody>
      <dsp:txXfrm>
        <a:off x="6786068" y="417290"/>
        <a:ext cx="194777" cy="266490"/>
      </dsp:txXfrm>
    </dsp:sp>
    <dsp:sp modelId="{CC10305C-2689-4480-ADC9-3B2D0691DC1C}">
      <dsp:nvSpPr>
        <dsp:cNvPr id="0" name=""/>
        <dsp:cNvSpPr/>
      </dsp:nvSpPr>
      <dsp:spPr>
        <a:xfrm>
          <a:off x="7297706" y="1061180"/>
          <a:ext cx="354139" cy="354139"/>
        </a:xfrm>
        <a:prstGeom prst="downArrow">
          <a:avLst>
            <a:gd name="adj1" fmla="val 55000"/>
            <a:gd name="adj2" fmla="val 45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AU" sz="1600" kern="1200" noProof="0"/>
        </a:p>
      </dsp:txBody>
      <dsp:txXfrm>
        <a:off x="7377387" y="1061180"/>
        <a:ext cx="194777" cy="266490"/>
      </dsp:txXfrm>
    </dsp:sp>
    <dsp:sp modelId="{AFB13E91-4673-4A79-B8F1-A6633E02F4C0}">
      <dsp:nvSpPr>
        <dsp:cNvPr id="0" name=""/>
        <dsp:cNvSpPr/>
      </dsp:nvSpPr>
      <dsp:spPr>
        <a:xfrm>
          <a:off x="7880200" y="1705070"/>
          <a:ext cx="354139" cy="354139"/>
        </a:xfrm>
        <a:prstGeom prst="downArrow">
          <a:avLst>
            <a:gd name="adj1" fmla="val 55000"/>
            <a:gd name="adj2" fmla="val 45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AU" sz="1600" kern="1200" noProof="0"/>
        </a:p>
      </dsp:txBody>
      <dsp:txXfrm>
        <a:off x="7959881" y="1705070"/>
        <a:ext cx="194777" cy="266490"/>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156AFD-B426-4B2D-8C60-53782E1B8782}" type="datetimeFigureOut">
              <a:rPr lang="en-AU" smtClean="0"/>
              <a:t>20/10/2025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DBA5D4-EA92-4BD3-BD9C-11A1A0F3311D}" type="slidenum">
              <a:rPr lang="en-AU" smtClean="0"/>
              <a:t>‹#›</a:t>
            </a:fld>
            <a:endParaRPr lang="en-AU"/>
          </a:p>
        </p:txBody>
      </p:sp>
    </p:spTree>
    <p:extLst>
      <p:ext uri="{BB962C8B-B14F-4D97-AF65-F5344CB8AC3E}">
        <p14:creationId xmlns:p14="http://schemas.microsoft.com/office/powerpoint/2010/main" val="2919445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Test</a:t>
            </a:r>
            <a:endParaRPr lang="en-AU"/>
          </a:p>
        </p:txBody>
      </p:sp>
      <p:sp>
        <p:nvSpPr>
          <p:cNvPr id="4" name="Slide Number Placeholder 3"/>
          <p:cNvSpPr>
            <a:spLocks noGrp="1"/>
          </p:cNvSpPr>
          <p:nvPr>
            <p:ph type="sldNum" sz="quarter" idx="5"/>
          </p:nvPr>
        </p:nvSpPr>
        <p:spPr/>
        <p:txBody>
          <a:bodyPr/>
          <a:lstStyle/>
          <a:p>
            <a:fld id="{3ADBA5D4-EA92-4BD3-BD9C-11A1A0F3311D}" type="slidenum">
              <a:rPr lang="en-AU" smtClean="0"/>
              <a:t>1</a:t>
            </a:fld>
            <a:endParaRPr lang="en-AU"/>
          </a:p>
        </p:txBody>
      </p:sp>
    </p:spTree>
    <p:extLst>
      <p:ext uri="{BB962C8B-B14F-4D97-AF65-F5344CB8AC3E}">
        <p14:creationId xmlns:p14="http://schemas.microsoft.com/office/powerpoint/2010/main" val="1142222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3ADBA5D4-EA92-4BD3-BD9C-11A1A0F3311D}" type="slidenum">
              <a:rPr lang="en-AU" smtClean="0"/>
              <a:t>3</a:t>
            </a:fld>
            <a:endParaRPr lang="en-AU"/>
          </a:p>
        </p:txBody>
      </p:sp>
    </p:spTree>
    <p:extLst>
      <p:ext uri="{BB962C8B-B14F-4D97-AF65-F5344CB8AC3E}">
        <p14:creationId xmlns:p14="http://schemas.microsoft.com/office/powerpoint/2010/main" val="3458810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3ADBA5D4-EA92-4BD3-BD9C-11A1A0F3311D}" type="slidenum">
              <a:rPr lang="en-AU" smtClean="0"/>
              <a:t>8</a:t>
            </a:fld>
            <a:endParaRPr lang="en-AU"/>
          </a:p>
        </p:txBody>
      </p:sp>
    </p:spTree>
    <p:extLst>
      <p:ext uri="{BB962C8B-B14F-4D97-AF65-F5344CB8AC3E}">
        <p14:creationId xmlns:p14="http://schemas.microsoft.com/office/powerpoint/2010/main" val="8781851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EED1C14C-A143-42F5-B247-D0E800131009}" type="datetimeFigureOut">
              <a:rPr lang="en-US" smtClean="0"/>
              <a:t>10/20/2025</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3638961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D1C14C-A143-42F5-B247-D0E800131009}"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452872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D1C14C-A143-42F5-B247-D0E800131009}"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266174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ED1C14C-A143-42F5-B247-D0E800131009}" type="datetimeFigureOut">
              <a:rPr lang="en-US" smtClean="0"/>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2325936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ED1C14C-A143-42F5-B247-D0E800131009}" type="datetimeFigureOut">
              <a:rPr lang="en-US" smtClean="0"/>
              <a:t>10/20/2025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1228825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EED1C14C-A143-42F5-B247-D0E800131009}" type="datetimeFigureOut">
              <a:rPr lang="en-US" smtClean="0"/>
              <a:t>10/20/2025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3111885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D1C14C-A143-42F5-B247-D0E800131009}" type="datetimeFigureOut">
              <a:rPr lang="en-US" smtClean="0"/>
              <a:t>10/20/2025</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926197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AU"/>
            </a:p>
          </p:txBody>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AU"/>
            </a:p>
          </p:txBody>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AU"/>
            </a:p>
          </p:txBody>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D1C14C-A143-42F5-B247-D0E800131009}" type="datetimeFigureOut">
              <a:rPr lang="en-US" smtClean="0"/>
              <a:t>10/20/2025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7" name="Slide Number Placeholder 6"/>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1986041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D1C14C-A143-42F5-B247-D0E800131009}" type="datetimeFigureOut">
              <a:rPr lang="en-US" smtClean="0"/>
              <a:t>10/20/2025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676530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D1C14C-A143-42F5-B247-D0E800131009}" type="datetimeFigureOut">
              <a:rPr lang="en-US" smtClean="0"/>
              <a:t>10/20/2025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1375199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ED1C14C-A143-42F5-B247-D0E800131009}"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29728912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ED1C14C-A143-42F5-B247-D0E800131009}"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30626682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D1C14C-A143-42F5-B247-D0E800131009}"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27445519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ED1C14C-A143-42F5-B247-D0E800131009}" type="datetimeFigureOut">
              <a:rPr lang="en-US" smtClean="0"/>
              <a:t>10/20/2025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3812895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ED1C14C-A143-42F5-B247-D0E800131009}" type="datetimeFigureOut">
              <a:rPr lang="en-US" smtClean="0"/>
              <a:t>10/20/2025</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18924301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695439" y="6391838"/>
            <a:ext cx="990599" cy="304799"/>
          </a:xfrm>
        </p:spPr>
        <p:txBody>
          <a:bodyPr/>
          <a:lstStyle/>
          <a:p>
            <a:fld id="{EED1C14C-A143-42F5-B247-D0E800131009}"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24114983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653104" y="6391838"/>
            <a:ext cx="992135" cy="304799"/>
          </a:xfrm>
        </p:spPr>
        <p:txBody>
          <a:bodyPr/>
          <a:lstStyle/>
          <a:p>
            <a:fld id="{EED1C14C-A143-42F5-B247-D0E800131009}"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1503671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AU"/>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AU"/>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AU"/>
            </a:p>
          </p:txBody>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EED1C14C-A143-42F5-B247-D0E800131009}" type="datetimeFigureOut">
              <a:rPr lang="en-US" smtClean="0"/>
              <a:t>10/20/2025</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5B03D32D-F1BC-4E9C-97E1-36CFF5B22341}" type="slidenum">
              <a:rPr lang="en-US" smtClean="0"/>
              <a:t>‹#›</a:t>
            </a:fld>
            <a:endParaRPr lang="en-US"/>
          </a:p>
        </p:txBody>
      </p:sp>
    </p:spTree>
    <p:extLst>
      <p:ext uri="{BB962C8B-B14F-4D97-AF65-F5344CB8AC3E}">
        <p14:creationId xmlns:p14="http://schemas.microsoft.com/office/powerpoint/2010/main" val="3566024864"/>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 id="2147483888" r:id="rId12"/>
    <p:sldLayoutId id="2147483889" r:id="rId13"/>
    <p:sldLayoutId id="2147483890" r:id="rId14"/>
    <p:sldLayoutId id="2147483891" r:id="rId15"/>
    <p:sldLayoutId id="2147483892" r:id="rId16"/>
    <p:sldLayoutId id="2147483893"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microsoft.com/office/2018/10/relationships/comments" Target="../comments/modernComment_110_7A5757E5.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11_1FEDA3B7.xml"/><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microsoft.com/office/2018/10/relationships/comments" Target="../comments/modernComment_112_C8AE4B61.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8/10/relationships/comments" Target="../comments/modernComment_101_5B8BB09.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microsoft.com/office/2018/10/relationships/comments" Target="../comments/modernComment_102_5B8BB09.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microsoft.com/office/2018/10/relationships/comments" Target="../comments/modernComment_10A_5B8BB09.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microsoft.com/office/2018/10/relationships/comments" Target="../comments/modernComment_10D_5B8BB09.xm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10">
          <a:fgClr>
            <a:schemeClr val="accent1"/>
          </a:fgClr>
          <a:bgClr>
            <a:schemeClr val="accent6">
              <a:lumMod val="40000"/>
              <a:lumOff val="6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A8D26-FD7A-0ED6-8900-7699B94F9394}"/>
              </a:ext>
            </a:extLst>
          </p:cNvPr>
          <p:cNvSpPr>
            <a:spLocks noGrp="1"/>
          </p:cNvSpPr>
          <p:nvPr>
            <p:ph type="title"/>
          </p:nvPr>
        </p:nvSpPr>
        <p:spPr>
          <a:xfrm>
            <a:off x="4375757" y="4473677"/>
            <a:ext cx="7438430" cy="1805092"/>
          </a:xfrm>
        </p:spPr>
        <p:txBody>
          <a:bodyPr vert="horz" lIns="91440" tIns="45720" rIns="91440" bIns="45720" rtlCol="0" anchor="ctr">
            <a:normAutofit/>
          </a:bodyPr>
          <a:lstStyle/>
          <a:p>
            <a:pPr algn="ctr"/>
            <a:r>
              <a:rPr lang="en-AU" sz="2400" b="1" i="0" kern="1200" noProof="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Customer Lifetime Value &amp; Engagement Insights</a:t>
            </a:r>
            <a:br>
              <a:rPr lang="en-AU" sz="2000" b="1" i="0" kern="1200" noProof="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br>
            <a:r>
              <a:rPr lang="en-AU" sz="2000" b="1" i="0" kern="1200" noProof="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 </a:t>
            </a:r>
            <a:br>
              <a:rPr lang="en-AU" sz="1800" b="1" i="0" kern="1200" noProof="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br>
            <a:r>
              <a:rPr lang="en-AU" sz="1800" b="1" i="0" kern="1200" noProof="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 Prepared by: Avni Dubey</a:t>
            </a:r>
            <a:br>
              <a:rPr lang="en-AU" sz="1800" b="1" i="0" kern="1200" noProof="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br>
            <a:r>
              <a:rPr lang="en-AU" sz="1800" b="1" i="0" kern="1200" noProof="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 Date: October 2025</a:t>
            </a:r>
            <a:br>
              <a:rPr lang="en-AU" sz="1800" b="1" i="0" kern="1200" noProof="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br>
            <a:r>
              <a:rPr lang="en-AU" sz="1800" b="1" i="0" kern="1200" noProof="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 Organization: NMFC</a:t>
            </a:r>
            <a:endParaRPr lang="en-AU" sz="1800" b="1" i="0" kern="1200" noProof="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pic>
        <p:nvPicPr>
          <p:cNvPr id="35" name="Picture 34" descr="A picture of a person carrying popcorn">
            <a:extLst>
              <a:ext uri="{FF2B5EF4-FFF2-40B4-BE49-F238E27FC236}">
                <a16:creationId xmlns:a16="http://schemas.microsoft.com/office/drawing/2014/main" id="{41D9ACA5-47C1-DFDD-C147-F373BAA9B94E}"/>
              </a:ext>
            </a:extLst>
          </p:cNvPr>
          <p:cNvPicPr>
            <a:picLocks noChangeAspect="1"/>
          </p:cNvPicPr>
          <p:nvPr/>
        </p:nvPicPr>
        <p:blipFill>
          <a:blip r:embed="rId3"/>
          <a:srcRect l="25588" r="23491" b="-1"/>
          <a:stretch>
            <a:fillRect/>
          </a:stretch>
        </p:blipFill>
        <p:spPr>
          <a:xfrm>
            <a:off x="648929" y="578734"/>
            <a:ext cx="3557508" cy="5613722"/>
          </a:xfrm>
          <a:prstGeom prst="roundRect">
            <a:avLst>
              <a:gd name="adj" fmla="val 1858"/>
            </a:avLst>
          </a:prstGeom>
          <a:effectLst>
            <a:outerShdw blurRad="50800" dist="50800" dir="5400000" algn="tl" rotWithShape="0">
              <a:srgbClr val="000000">
                <a:alpha val="43000"/>
              </a:srgbClr>
            </a:outerShdw>
          </a:effectLst>
        </p:spPr>
      </p:pic>
      <p:pic>
        <p:nvPicPr>
          <p:cNvPr id="6" name="Picture 5">
            <a:extLst>
              <a:ext uri="{FF2B5EF4-FFF2-40B4-BE49-F238E27FC236}">
                <a16:creationId xmlns:a16="http://schemas.microsoft.com/office/drawing/2014/main" id="{7A1F9370-ABA6-2C7D-5B7A-8A16540E569F}"/>
              </a:ext>
            </a:extLst>
          </p:cNvPr>
          <p:cNvPicPr>
            <a:picLocks noChangeAspect="1"/>
          </p:cNvPicPr>
          <p:nvPr/>
        </p:nvPicPr>
        <p:blipFill>
          <a:blip r:embed="rId4">
            <a:duotone>
              <a:prstClr val="black"/>
              <a:schemeClr val="accent6">
                <a:tint val="45000"/>
                <a:satMod val="400000"/>
              </a:schemeClr>
            </a:duotone>
            <a:extLst>
              <a:ext uri="{BEBA8EAE-BF5A-486C-A8C5-ECC9F3942E4B}">
                <a14:imgProps xmlns:a14="http://schemas.microsoft.com/office/drawing/2010/main">
                  <a14:imgLayer r:embed="rId5">
                    <a14:imgEffect>
                      <a14:artisticPlasticWrap/>
                    </a14:imgEffect>
                    <a14:imgEffect>
                      <a14:brightnessContrast bright="-20000" contrast="-40000"/>
                    </a14:imgEffect>
                  </a14:imgLayer>
                </a14:imgProps>
              </a:ext>
            </a:extLst>
          </a:blip>
          <a:stretch>
            <a:fillRect/>
          </a:stretch>
        </p:blipFill>
        <p:spPr>
          <a:xfrm>
            <a:off x="4281114" y="2462815"/>
            <a:ext cx="7627716" cy="1476166"/>
          </a:xfrm>
          <a:prstGeom prst="rect">
            <a:avLst/>
          </a:prstGeom>
          <a:ln>
            <a:noFill/>
          </a:ln>
          <a:effectLst>
            <a:outerShdw blurRad="292100" dist="139700" dir="2700000" algn="tl" rotWithShape="0">
              <a:srgbClr val="333333">
                <a:alpha val="65000"/>
              </a:srgbClr>
            </a:outerShdw>
          </a:effectLst>
        </p:spPr>
      </p:pic>
      <p:pic>
        <p:nvPicPr>
          <p:cNvPr id="11" name="Picture 10" descr="A logo of a kangaroo&#10;&#10;AI-generated content may be incorrect.">
            <a:extLst>
              <a:ext uri="{FF2B5EF4-FFF2-40B4-BE49-F238E27FC236}">
                <a16:creationId xmlns:a16="http://schemas.microsoft.com/office/drawing/2014/main" id="{07E9E120-2E96-96F9-B7C8-678BD4E077D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62078" y="769395"/>
            <a:ext cx="1751467" cy="1733953"/>
          </a:xfrm>
          <a:prstGeom prst="rect">
            <a:avLst/>
          </a:prstGeom>
        </p:spPr>
      </p:pic>
    </p:spTree>
    <p:extLst>
      <p:ext uri="{BB962C8B-B14F-4D97-AF65-F5344CB8AC3E}">
        <p14:creationId xmlns:p14="http://schemas.microsoft.com/office/powerpoint/2010/main" val="3194933256"/>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8FE01-C3BF-9C3D-F669-664976B203ED}"/>
              </a:ext>
            </a:extLst>
          </p:cNvPr>
          <p:cNvSpPr>
            <a:spLocks noGrp="1"/>
          </p:cNvSpPr>
          <p:nvPr>
            <p:ph type="title"/>
          </p:nvPr>
        </p:nvSpPr>
        <p:spPr>
          <a:xfrm>
            <a:off x="1715293" y="944792"/>
            <a:ext cx="8761413" cy="706964"/>
          </a:xfrm>
        </p:spPr>
        <p:txBody>
          <a:bodyPr anchor="ctr">
            <a:normAutofit/>
          </a:bodyPr>
          <a:lstStyle/>
          <a:p>
            <a:pPr algn="ctr"/>
            <a:r>
              <a:rPr lang="en-AU" sz="3200" b="1" noProof="0">
                <a:solidFill>
                  <a:srgbClr val="EBEBEB"/>
                </a:solidFill>
                <a:latin typeface="Calibri" panose="020F0502020204030204" pitchFamily="34" charset="0"/>
                <a:ea typeface="Calibri" panose="020F0502020204030204" pitchFamily="34" charset="0"/>
                <a:cs typeface="Calibri" panose="020F0502020204030204" pitchFamily="34" charset="0"/>
              </a:rPr>
              <a:t>Project Overview</a:t>
            </a:r>
            <a:endParaRPr lang="en-AU" sz="3200" noProof="0">
              <a:solidFill>
                <a:srgbClr val="EBEBEB"/>
              </a:solidFill>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05458A53-6CAA-6342-9079-1D3F394DC7A0}"/>
              </a:ext>
            </a:extLst>
          </p:cNvPr>
          <p:cNvSpPr>
            <a:spLocks noGrp="1"/>
          </p:cNvSpPr>
          <p:nvPr>
            <p:ph sz="half" idx="1"/>
          </p:nvPr>
        </p:nvSpPr>
        <p:spPr>
          <a:xfrm>
            <a:off x="1154954" y="3736903"/>
            <a:ext cx="4825158" cy="2314576"/>
          </a:xfrm>
        </p:spPr>
        <p:txBody>
          <a:bodyPr anchor="ctr">
            <a:normAutofit lnSpcReduction="10000"/>
          </a:bodyPr>
          <a:lstStyle/>
          <a:p>
            <a:pPr>
              <a:lnSpc>
                <a:spcPct val="90000"/>
              </a:lnSpc>
            </a:pPr>
            <a:r>
              <a:rPr lang="en-AU" b="1" noProof="0">
                <a:latin typeface="Calibri" panose="020F0502020204030204" pitchFamily="34" charset="0"/>
                <a:ea typeface="Calibri" panose="020F0502020204030204" pitchFamily="34" charset="0"/>
                <a:cs typeface="Calibri" panose="020F0502020204030204" pitchFamily="34" charset="0"/>
              </a:rPr>
              <a:t>Key Goals:</a:t>
            </a:r>
            <a:endParaRPr lang="en-AU" noProof="0">
              <a:latin typeface="Calibri" panose="020F0502020204030204" pitchFamily="34" charset="0"/>
              <a:ea typeface="Calibri" panose="020F0502020204030204" pitchFamily="34" charset="0"/>
              <a:cs typeface="Calibri" panose="020F0502020204030204" pitchFamily="34" charset="0"/>
            </a:endParaRPr>
          </a:p>
          <a:p>
            <a:pPr>
              <a:lnSpc>
                <a:spcPct val="90000"/>
              </a:lnSpc>
              <a:buFont typeface="Wingdings" panose="05000000000000000000" pitchFamily="2" charset="2"/>
              <a:buChar char="q"/>
            </a:pPr>
            <a:r>
              <a:rPr lang="en-AU" sz="1700" noProof="0">
                <a:latin typeface="Calibri" panose="020F0502020204030204" pitchFamily="34" charset="0"/>
                <a:ea typeface="Calibri" panose="020F0502020204030204" pitchFamily="34" charset="0"/>
                <a:cs typeface="Calibri" panose="020F0502020204030204" pitchFamily="34" charset="0"/>
              </a:rPr>
              <a:t>Calculate Customer Lifetime Value (CLV) – both historical and projected</a:t>
            </a:r>
          </a:p>
          <a:p>
            <a:pPr>
              <a:lnSpc>
                <a:spcPct val="90000"/>
              </a:lnSpc>
              <a:buFont typeface="Wingdings" panose="05000000000000000000" pitchFamily="2" charset="2"/>
              <a:buChar char="q"/>
            </a:pPr>
            <a:r>
              <a:rPr lang="en-AU" sz="1700" noProof="0">
                <a:latin typeface="Calibri" panose="020F0502020204030204" pitchFamily="34" charset="0"/>
                <a:ea typeface="Calibri" panose="020F0502020204030204" pitchFamily="34" charset="0"/>
                <a:cs typeface="Calibri" panose="020F0502020204030204" pitchFamily="34" charset="0"/>
              </a:rPr>
              <a:t>Segment customers into CLV percentile bands</a:t>
            </a:r>
          </a:p>
          <a:p>
            <a:pPr>
              <a:lnSpc>
                <a:spcPct val="90000"/>
              </a:lnSpc>
              <a:buFont typeface="Wingdings" panose="05000000000000000000" pitchFamily="2" charset="2"/>
              <a:buChar char="q"/>
            </a:pPr>
            <a:r>
              <a:rPr lang="en-AU" sz="1700" noProof="0">
                <a:latin typeface="Calibri" panose="020F0502020204030204" pitchFamily="34" charset="0"/>
                <a:ea typeface="Calibri" panose="020F0502020204030204" pitchFamily="34" charset="0"/>
                <a:cs typeface="Calibri" panose="020F0502020204030204" pitchFamily="34" charset="0"/>
              </a:rPr>
              <a:t>Analyse fan engagement and e-commerce behaviour</a:t>
            </a:r>
          </a:p>
          <a:p>
            <a:pPr>
              <a:lnSpc>
                <a:spcPct val="90000"/>
              </a:lnSpc>
              <a:buFont typeface="Wingdings" panose="05000000000000000000" pitchFamily="2" charset="2"/>
              <a:buChar char="q"/>
            </a:pPr>
            <a:r>
              <a:rPr lang="en-AU" sz="1700" noProof="0">
                <a:latin typeface="Calibri" panose="020F0502020204030204" pitchFamily="34" charset="0"/>
                <a:ea typeface="Calibri" panose="020F0502020204030204" pitchFamily="34" charset="0"/>
                <a:cs typeface="Calibri" panose="020F0502020204030204" pitchFamily="34" charset="0"/>
              </a:rPr>
              <a:t>Build interactive dashboards to support strategic decision-making</a:t>
            </a:r>
          </a:p>
        </p:txBody>
      </p:sp>
      <p:sp>
        <p:nvSpPr>
          <p:cNvPr id="4" name="Content Placeholder 3">
            <a:extLst>
              <a:ext uri="{FF2B5EF4-FFF2-40B4-BE49-F238E27FC236}">
                <a16:creationId xmlns:a16="http://schemas.microsoft.com/office/drawing/2014/main" id="{7AC26181-9113-0766-CD69-5F5772310368}"/>
              </a:ext>
            </a:extLst>
          </p:cNvPr>
          <p:cNvSpPr>
            <a:spLocks noGrp="1"/>
          </p:cNvSpPr>
          <p:nvPr>
            <p:ph sz="half" idx="2"/>
          </p:nvPr>
        </p:nvSpPr>
        <p:spPr>
          <a:xfrm>
            <a:off x="6211890" y="3736903"/>
            <a:ext cx="4825159" cy="2314576"/>
          </a:xfrm>
        </p:spPr>
        <p:txBody>
          <a:bodyPr>
            <a:normAutofit lnSpcReduction="10000"/>
          </a:bodyPr>
          <a:lstStyle/>
          <a:p>
            <a:pPr>
              <a:lnSpc>
                <a:spcPct val="90000"/>
              </a:lnSpc>
            </a:pPr>
            <a:r>
              <a:rPr lang="en-AU" sz="2000" b="1" noProof="0">
                <a:latin typeface="Calibri" panose="020F0502020204030204" pitchFamily="34" charset="0"/>
                <a:ea typeface="Calibri" panose="020F0502020204030204" pitchFamily="34" charset="0"/>
                <a:cs typeface="Calibri" panose="020F0502020204030204" pitchFamily="34" charset="0"/>
              </a:rPr>
              <a:t>Data Sources:</a:t>
            </a:r>
            <a:endParaRPr lang="en-AU" sz="2000" noProof="0">
              <a:latin typeface="Calibri" panose="020F0502020204030204" pitchFamily="34" charset="0"/>
              <a:ea typeface="Calibri" panose="020F0502020204030204" pitchFamily="34" charset="0"/>
              <a:cs typeface="Calibri" panose="020F0502020204030204" pitchFamily="34" charset="0"/>
            </a:endParaRPr>
          </a:p>
          <a:p>
            <a:pPr>
              <a:lnSpc>
                <a:spcPct val="90000"/>
              </a:lnSpc>
              <a:buFont typeface="Wingdings" panose="05000000000000000000" pitchFamily="2" charset="2"/>
              <a:buChar char="v"/>
            </a:pPr>
            <a:r>
              <a:rPr lang="en-AU" noProof="0">
                <a:latin typeface="Calibri" panose="020F0502020204030204" pitchFamily="34" charset="0"/>
                <a:ea typeface="Calibri" panose="020F0502020204030204" pitchFamily="34" charset="0"/>
                <a:cs typeface="Calibri" panose="020F0502020204030204" pitchFamily="34" charset="0"/>
              </a:rPr>
              <a:t>Customer Data</a:t>
            </a:r>
          </a:p>
          <a:p>
            <a:pPr>
              <a:lnSpc>
                <a:spcPct val="90000"/>
              </a:lnSpc>
              <a:buFont typeface="Wingdings" panose="05000000000000000000" pitchFamily="2" charset="2"/>
              <a:buChar char="v"/>
            </a:pPr>
            <a:r>
              <a:rPr lang="en-AU" noProof="0">
                <a:latin typeface="Calibri" panose="020F0502020204030204" pitchFamily="34" charset="0"/>
                <a:ea typeface="Calibri" panose="020F0502020204030204" pitchFamily="34" charset="0"/>
                <a:cs typeface="Calibri" panose="020F0502020204030204" pitchFamily="34" charset="0"/>
              </a:rPr>
              <a:t>Sales Transactions</a:t>
            </a:r>
            <a:r>
              <a:rPr lang="en-AU">
                <a:latin typeface="Calibri" panose="020F0502020204030204" pitchFamily="34" charset="0"/>
                <a:ea typeface="Calibri" panose="020F0502020204030204" pitchFamily="34" charset="0"/>
                <a:cs typeface="Calibri" panose="020F0502020204030204" pitchFamily="34" charset="0"/>
              </a:rPr>
              <a:t>  &amp; Membership Data</a:t>
            </a:r>
            <a:endParaRPr lang="en-AU" noProof="0">
              <a:latin typeface="Calibri" panose="020F0502020204030204" pitchFamily="34" charset="0"/>
              <a:ea typeface="Calibri" panose="020F0502020204030204" pitchFamily="34" charset="0"/>
              <a:cs typeface="Calibri" panose="020F0502020204030204" pitchFamily="34" charset="0"/>
            </a:endParaRPr>
          </a:p>
          <a:p>
            <a:pPr>
              <a:lnSpc>
                <a:spcPct val="90000"/>
              </a:lnSpc>
              <a:buFont typeface="Wingdings" panose="05000000000000000000" pitchFamily="2" charset="2"/>
              <a:buChar char="v"/>
            </a:pPr>
            <a:r>
              <a:rPr lang="en-AU">
                <a:latin typeface="Calibri" panose="020F0502020204030204" pitchFamily="34" charset="0"/>
                <a:ea typeface="Calibri" panose="020F0502020204030204" pitchFamily="34" charset="0"/>
                <a:cs typeface="Calibri" panose="020F0502020204030204" pitchFamily="34" charset="0"/>
              </a:rPr>
              <a:t>Merchandise Data</a:t>
            </a:r>
          </a:p>
          <a:p>
            <a:pPr>
              <a:lnSpc>
                <a:spcPct val="90000"/>
              </a:lnSpc>
              <a:buFont typeface="Wingdings" panose="05000000000000000000" pitchFamily="2" charset="2"/>
              <a:buChar char="v"/>
            </a:pPr>
            <a:r>
              <a:rPr lang="en-AU" noProof="0">
                <a:latin typeface="Calibri" panose="020F0502020204030204" pitchFamily="34" charset="0"/>
                <a:ea typeface="Calibri" panose="020F0502020204030204" pitchFamily="34" charset="0"/>
                <a:cs typeface="Calibri" panose="020F0502020204030204" pitchFamily="34" charset="0"/>
              </a:rPr>
              <a:t>Fan Engagement (Tradable Bits)</a:t>
            </a:r>
          </a:p>
          <a:p>
            <a:pPr marL="0" indent="0">
              <a:lnSpc>
                <a:spcPct val="90000"/>
              </a:lnSpc>
              <a:buNone/>
            </a:pPr>
            <a:endParaRPr lang="en-AU" noProof="0">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5717294B-83A8-7248-0AE4-7FB5BB1745D7}"/>
              </a:ext>
            </a:extLst>
          </p:cNvPr>
          <p:cNvSpPr txBox="1"/>
          <p:nvPr/>
        </p:nvSpPr>
        <p:spPr>
          <a:xfrm>
            <a:off x="941286" y="2447318"/>
            <a:ext cx="10077651" cy="954107"/>
          </a:xfrm>
          <a:prstGeom prst="rect">
            <a:avLst/>
          </a:prstGeom>
          <a:noFill/>
        </p:spPr>
        <p:txBody>
          <a:bodyPr wrap="square">
            <a:spAutoFit/>
          </a:bodyPr>
          <a:lstStyle/>
          <a:p>
            <a:r>
              <a:rPr lang="en-AU" sz="2000" b="1" noProof="0">
                <a:latin typeface="Calibri" panose="020F0502020204030204" pitchFamily="34" charset="0"/>
                <a:ea typeface="Calibri" panose="020F0502020204030204" pitchFamily="34" charset="0"/>
                <a:cs typeface="Calibri" panose="020F0502020204030204" pitchFamily="34" charset="0"/>
              </a:rPr>
              <a:t>Objective:</a:t>
            </a:r>
            <a:br>
              <a:rPr lang="en-AU" noProof="0">
                <a:latin typeface="Calibri" panose="020F0502020204030204" pitchFamily="34" charset="0"/>
                <a:ea typeface="Calibri" panose="020F0502020204030204" pitchFamily="34" charset="0"/>
                <a:cs typeface="Calibri" panose="020F0502020204030204" pitchFamily="34" charset="0"/>
              </a:rPr>
            </a:br>
            <a:r>
              <a:rPr lang="en-AU" noProof="0">
                <a:latin typeface="Calibri" panose="020F0502020204030204" pitchFamily="34" charset="0"/>
                <a:ea typeface="Calibri" panose="020F0502020204030204" pitchFamily="34" charset="0"/>
                <a:cs typeface="Calibri" panose="020F0502020204030204" pitchFamily="34" charset="0"/>
              </a:rPr>
              <a:t>To integrate and analyse customer, sales, and engagement data to derive actionable insights for fan-based engagement and value segmentation.</a:t>
            </a:r>
          </a:p>
        </p:txBody>
      </p:sp>
    </p:spTree>
    <p:extLst>
      <p:ext uri="{BB962C8B-B14F-4D97-AF65-F5344CB8AC3E}">
        <p14:creationId xmlns:p14="http://schemas.microsoft.com/office/powerpoint/2010/main" val="205254448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6DFC25E-2DB1-3FFD-A3BE-0845CB29D41B}"/>
              </a:ext>
            </a:extLst>
          </p:cNvPr>
          <p:cNvSpPr>
            <a:spLocks noGrp="1"/>
          </p:cNvSpPr>
          <p:nvPr>
            <p:ph type="title"/>
          </p:nvPr>
        </p:nvSpPr>
        <p:spPr/>
        <p:txBody>
          <a:bodyPr/>
          <a:lstStyle/>
          <a:p>
            <a:pPr algn="ctr"/>
            <a:r>
              <a:rPr lang="en-AU" sz="3200" b="1" noProof="0">
                <a:solidFill>
                  <a:srgbClr val="FFFFFF"/>
                </a:solidFill>
                <a:latin typeface="Calibri" panose="020F0502020204030204" pitchFamily="34" charset="0"/>
                <a:ea typeface="Calibri" panose="020F0502020204030204" pitchFamily="34" charset="0"/>
                <a:cs typeface="Calibri" panose="020F0502020204030204" pitchFamily="34" charset="0"/>
              </a:rPr>
              <a:t>🧹 Data Preparation &amp; Cleaning</a:t>
            </a:r>
            <a:endParaRPr lang="en-AU" sz="3200" noProof="0">
              <a:latin typeface="Calibri" panose="020F0502020204030204" pitchFamily="34" charset="0"/>
              <a:ea typeface="Calibri" panose="020F0502020204030204" pitchFamily="34" charset="0"/>
              <a:cs typeface="Calibri" panose="020F0502020204030204" pitchFamily="34" charset="0"/>
            </a:endParaRPr>
          </a:p>
        </p:txBody>
      </p:sp>
      <p:grpSp>
        <p:nvGrpSpPr>
          <p:cNvPr id="121" name="Group 120">
            <a:extLst>
              <a:ext uri="{FF2B5EF4-FFF2-40B4-BE49-F238E27FC236}">
                <a16:creationId xmlns:a16="http://schemas.microsoft.com/office/drawing/2014/main" id="{6AA07C04-F74C-18EE-D3A3-AFBEAE6526DB}"/>
              </a:ext>
            </a:extLst>
          </p:cNvPr>
          <p:cNvGrpSpPr/>
          <p:nvPr/>
        </p:nvGrpSpPr>
        <p:grpSpPr>
          <a:xfrm>
            <a:off x="2518109" y="2326901"/>
            <a:ext cx="9032207" cy="4342737"/>
            <a:chOff x="2304511" y="-446505"/>
            <a:chExt cx="9032207" cy="4342737"/>
          </a:xfrm>
        </p:grpSpPr>
        <p:sp>
          <p:nvSpPr>
            <p:cNvPr id="122" name="Freeform: Shape 121">
              <a:extLst>
                <a:ext uri="{FF2B5EF4-FFF2-40B4-BE49-F238E27FC236}">
                  <a16:creationId xmlns:a16="http://schemas.microsoft.com/office/drawing/2014/main" id="{EB43D148-87CD-C6C9-D33E-182060F33BCC}"/>
                </a:ext>
              </a:extLst>
            </p:cNvPr>
            <p:cNvSpPr/>
            <p:nvPr/>
          </p:nvSpPr>
          <p:spPr>
            <a:xfrm>
              <a:off x="2304512" y="-442111"/>
              <a:ext cx="3478428" cy="1269693"/>
            </a:xfrm>
            <a:custGeom>
              <a:avLst/>
              <a:gdLst>
                <a:gd name="connsiteX0" fmla="*/ 0 w 2631959"/>
                <a:gd name="connsiteY0" fmla="*/ 0 h 1579175"/>
                <a:gd name="connsiteX1" fmla="*/ 2631959 w 2631959"/>
                <a:gd name="connsiteY1" fmla="*/ 0 h 1579175"/>
                <a:gd name="connsiteX2" fmla="*/ 2631959 w 2631959"/>
                <a:gd name="connsiteY2" fmla="*/ 1579175 h 1579175"/>
                <a:gd name="connsiteX3" fmla="*/ 0 w 2631959"/>
                <a:gd name="connsiteY3" fmla="*/ 1579175 h 1579175"/>
                <a:gd name="connsiteX4" fmla="*/ 0 w 2631959"/>
                <a:gd name="connsiteY4" fmla="*/ 0 h 1579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31959" h="1579175">
                  <a:moveTo>
                    <a:pt x="0" y="0"/>
                  </a:moveTo>
                  <a:lnTo>
                    <a:pt x="2631959" y="0"/>
                  </a:lnTo>
                  <a:lnTo>
                    <a:pt x="2631959" y="1579175"/>
                  </a:lnTo>
                  <a:lnTo>
                    <a:pt x="0" y="1579175"/>
                  </a:lnTo>
                  <a:lnTo>
                    <a:pt x="0" y="0"/>
                  </a:lnTo>
                  <a:close/>
                </a:path>
              </a:pathLst>
            </a:custGeom>
            <a:ln/>
          </p:spPr>
          <p:style>
            <a:lnRef idx="0">
              <a:schemeClr val="accent3"/>
            </a:lnRef>
            <a:fillRef idx="3">
              <a:schemeClr val="accent3"/>
            </a:fillRef>
            <a:effectRef idx="3">
              <a:schemeClr val="accent3"/>
            </a:effectRef>
            <a:fontRef idx="minor">
              <a:schemeClr val="lt1"/>
            </a:fontRef>
          </p:style>
          <p:txBody>
            <a:bodyPr spcFirstLastPara="0" vert="horz" wrap="square" lIns="60960" tIns="60960" rIns="60960" bIns="60960" numCol="1" spcCol="1270" anchor="ctr" anchorCtr="0">
              <a:noAutofit/>
            </a:bodyPr>
            <a:lstStyle/>
            <a:p>
              <a:pPr marL="0" lvl="0" indent="0" defTabSz="711200">
                <a:lnSpc>
                  <a:spcPct val="90000"/>
                </a:lnSpc>
                <a:spcBef>
                  <a:spcPct val="0"/>
                </a:spcBef>
                <a:spcAft>
                  <a:spcPct val="35000"/>
                </a:spcAft>
                <a:buNone/>
              </a:pPr>
              <a:r>
                <a:rPr lang="en-AU" sz="1600" kern="1200" noProof="0">
                  <a:latin typeface="Calibri" panose="020F0502020204030204" pitchFamily="34" charset="0"/>
                  <a:ea typeface="Calibri" panose="020F0502020204030204" pitchFamily="34" charset="0"/>
                  <a:cs typeface="Calibri" panose="020F0502020204030204" pitchFamily="34" charset="0"/>
                </a:rPr>
                <a:t>Selected only active customers from the customer and sales datasets. </a:t>
              </a:r>
            </a:p>
          </p:txBody>
        </p:sp>
        <p:sp>
          <p:nvSpPr>
            <p:cNvPr id="123" name="Freeform: Shape 122">
              <a:extLst>
                <a:ext uri="{FF2B5EF4-FFF2-40B4-BE49-F238E27FC236}">
                  <a16:creationId xmlns:a16="http://schemas.microsoft.com/office/drawing/2014/main" id="{034E1F91-7637-98F6-95E6-DEF9FBD38C9F}"/>
                </a:ext>
              </a:extLst>
            </p:cNvPr>
            <p:cNvSpPr/>
            <p:nvPr/>
          </p:nvSpPr>
          <p:spPr>
            <a:xfrm>
              <a:off x="6052448" y="-446505"/>
              <a:ext cx="2631959" cy="1271890"/>
            </a:xfrm>
            <a:custGeom>
              <a:avLst/>
              <a:gdLst>
                <a:gd name="connsiteX0" fmla="*/ 0 w 2631959"/>
                <a:gd name="connsiteY0" fmla="*/ 0 h 1579175"/>
                <a:gd name="connsiteX1" fmla="*/ 2631959 w 2631959"/>
                <a:gd name="connsiteY1" fmla="*/ 0 h 1579175"/>
                <a:gd name="connsiteX2" fmla="*/ 2631959 w 2631959"/>
                <a:gd name="connsiteY2" fmla="*/ 1579175 h 1579175"/>
                <a:gd name="connsiteX3" fmla="*/ 0 w 2631959"/>
                <a:gd name="connsiteY3" fmla="*/ 1579175 h 1579175"/>
                <a:gd name="connsiteX4" fmla="*/ 0 w 2631959"/>
                <a:gd name="connsiteY4" fmla="*/ 0 h 1579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31959" h="1579175">
                  <a:moveTo>
                    <a:pt x="0" y="0"/>
                  </a:moveTo>
                  <a:lnTo>
                    <a:pt x="2631959" y="0"/>
                  </a:lnTo>
                  <a:lnTo>
                    <a:pt x="2631959" y="1579175"/>
                  </a:lnTo>
                  <a:lnTo>
                    <a:pt x="0" y="1579175"/>
                  </a:lnTo>
                  <a:lnTo>
                    <a:pt x="0" y="0"/>
                  </a:lnTo>
                  <a:close/>
                </a:path>
              </a:pathLst>
            </a:custGeom>
          </p:spPr>
          <p:style>
            <a:lnRef idx="0">
              <a:schemeClr val="accent5"/>
            </a:lnRef>
            <a:fillRef idx="3">
              <a:schemeClr val="accent5"/>
            </a:fillRef>
            <a:effectRef idx="3">
              <a:schemeClr val="accent5"/>
            </a:effectRef>
            <a:fontRef idx="minor">
              <a:schemeClr val="lt1"/>
            </a:fontRef>
          </p:style>
          <p:txBody>
            <a:bodyPr spcFirstLastPara="0" vert="horz" wrap="square" lIns="60960" tIns="60960" rIns="60960" bIns="60960" numCol="1" spcCol="1270" anchor="ctr" anchorCtr="0">
              <a:noAutofit/>
            </a:bodyPr>
            <a:lstStyle/>
            <a:p>
              <a:pPr marL="0" lvl="0" indent="0" defTabSz="711200">
                <a:spcBef>
                  <a:spcPct val="0"/>
                </a:spcBef>
                <a:spcAft>
                  <a:spcPct val="35000"/>
                </a:spcAft>
                <a:buNone/>
              </a:pPr>
              <a:r>
                <a:rPr lang="en-AU" sz="1600" b="1" kern="1200" noProof="0">
                  <a:latin typeface="Calibri" panose="020F0502020204030204" pitchFamily="34" charset="0"/>
                  <a:ea typeface="Calibri" panose="020F0502020204030204" pitchFamily="34" charset="0"/>
                  <a:cs typeface="Calibri" panose="020F0502020204030204" pitchFamily="34" charset="0"/>
                </a:rPr>
                <a:t>Removed records with: </a:t>
              </a:r>
            </a:p>
            <a:p>
              <a:pPr marL="114300" lvl="1" indent="-114300" defTabSz="533400">
                <a:spcBef>
                  <a:spcPct val="0"/>
                </a:spcBef>
                <a:spcAft>
                  <a:spcPct val="15000"/>
                </a:spcAft>
                <a:buChar char="•"/>
              </a:pPr>
              <a:r>
                <a:rPr lang="en-AU" sz="1200" kern="1200" noProof="0">
                  <a:latin typeface="Calibri" panose="020F0502020204030204" pitchFamily="34" charset="0"/>
                  <a:ea typeface="Calibri" panose="020F0502020204030204" pitchFamily="34" charset="0"/>
                  <a:cs typeface="Calibri" panose="020F0502020204030204" pitchFamily="34" charset="0"/>
                </a:rPr>
                <a:t>Missing or invalid emails </a:t>
              </a:r>
            </a:p>
            <a:p>
              <a:pPr marL="114300" lvl="1" indent="-114300" defTabSz="533400">
                <a:spcBef>
                  <a:spcPct val="0"/>
                </a:spcBef>
                <a:spcAft>
                  <a:spcPct val="15000"/>
                </a:spcAft>
                <a:buChar char="•"/>
              </a:pPr>
              <a:r>
                <a:rPr lang="en-AU" sz="1200" kern="1200" noProof="0">
                  <a:latin typeface="Calibri" panose="020F0502020204030204" pitchFamily="34" charset="0"/>
                  <a:ea typeface="Calibri" panose="020F0502020204030204" pitchFamily="34" charset="0"/>
                  <a:cs typeface="Calibri" panose="020F0502020204030204" pitchFamily="34" charset="0"/>
                </a:rPr>
                <a:t>Internal club emails (@nmfc.com.au) </a:t>
              </a:r>
            </a:p>
            <a:p>
              <a:pPr marL="114300" lvl="1" indent="-114300" defTabSz="533400">
                <a:lnSpc>
                  <a:spcPct val="90000"/>
                </a:lnSpc>
                <a:spcBef>
                  <a:spcPct val="0"/>
                </a:spcBef>
                <a:spcAft>
                  <a:spcPct val="15000"/>
                </a:spcAft>
                <a:buChar char="•"/>
              </a:pPr>
              <a:r>
                <a:rPr lang="en-AU" sz="1200" kern="1200" noProof="0">
                  <a:latin typeface="Calibri" panose="020F0502020204030204" pitchFamily="34" charset="0"/>
                  <a:ea typeface="Calibri" panose="020F0502020204030204" pitchFamily="34" charset="0"/>
                  <a:cs typeface="Calibri" panose="020F0502020204030204" pitchFamily="34" charset="0"/>
                </a:rPr>
                <a:t>Unknown email addresses </a:t>
              </a:r>
            </a:p>
            <a:p>
              <a:pPr marL="114300" lvl="1" indent="-114300" defTabSz="533400">
                <a:lnSpc>
                  <a:spcPct val="90000"/>
                </a:lnSpc>
                <a:spcBef>
                  <a:spcPct val="0"/>
                </a:spcBef>
                <a:spcAft>
                  <a:spcPct val="15000"/>
                </a:spcAft>
                <a:buChar char="•"/>
              </a:pPr>
              <a:r>
                <a:rPr lang="en-AU" sz="1200" kern="1200" noProof="0">
                  <a:latin typeface="Calibri" panose="020F0502020204030204" pitchFamily="34" charset="0"/>
                  <a:ea typeface="Calibri" panose="020F0502020204030204" pitchFamily="34" charset="0"/>
                  <a:cs typeface="Calibri" panose="020F0502020204030204" pitchFamily="34" charset="0"/>
                </a:rPr>
                <a:t>Complimentary or non-membership sales </a:t>
              </a:r>
            </a:p>
          </p:txBody>
        </p:sp>
        <p:sp>
          <p:nvSpPr>
            <p:cNvPr id="124" name="Freeform: Shape 123">
              <a:extLst>
                <a:ext uri="{FF2B5EF4-FFF2-40B4-BE49-F238E27FC236}">
                  <a16:creationId xmlns:a16="http://schemas.microsoft.com/office/drawing/2014/main" id="{42727281-E750-5961-4B52-6BA76E6BEB11}"/>
                </a:ext>
              </a:extLst>
            </p:cNvPr>
            <p:cNvSpPr/>
            <p:nvPr/>
          </p:nvSpPr>
          <p:spPr>
            <a:xfrm>
              <a:off x="2304511" y="1063639"/>
              <a:ext cx="3478429" cy="1269693"/>
            </a:xfrm>
            <a:custGeom>
              <a:avLst/>
              <a:gdLst>
                <a:gd name="connsiteX0" fmla="*/ 0 w 2631959"/>
                <a:gd name="connsiteY0" fmla="*/ 0 h 1579175"/>
                <a:gd name="connsiteX1" fmla="*/ 2631959 w 2631959"/>
                <a:gd name="connsiteY1" fmla="*/ 0 h 1579175"/>
                <a:gd name="connsiteX2" fmla="*/ 2631959 w 2631959"/>
                <a:gd name="connsiteY2" fmla="*/ 1579175 h 1579175"/>
                <a:gd name="connsiteX3" fmla="*/ 0 w 2631959"/>
                <a:gd name="connsiteY3" fmla="*/ 1579175 h 1579175"/>
                <a:gd name="connsiteX4" fmla="*/ 0 w 2631959"/>
                <a:gd name="connsiteY4" fmla="*/ 0 h 1579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31959" h="1579175">
                  <a:moveTo>
                    <a:pt x="0" y="0"/>
                  </a:moveTo>
                  <a:lnTo>
                    <a:pt x="2631959" y="0"/>
                  </a:lnTo>
                  <a:lnTo>
                    <a:pt x="2631959" y="1579175"/>
                  </a:lnTo>
                  <a:lnTo>
                    <a:pt x="0" y="1579175"/>
                  </a:lnTo>
                  <a:lnTo>
                    <a:pt x="0" y="0"/>
                  </a:lnTo>
                  <a:close/>
                </a:path>
              </a:pathLst>
            </a:custGeom>
          </p:spPr>
          <p:style>
            <a:lnRef idx="0">
              <a:schemeClr val="accent3"/>
            </a:lnRef>
            <a:fillRef idx="3">
              <a:schemeClr val="accent3"/>
            </a:fillRef>
            <a:effectRef idx="3">
              <a:schemeClr val="accent3"/>
            </a:effectRef>
            <a:fontRef idx="minor">
              <a:schemeClr val="lt1"/>
            </a:fontRef>
          </p:style>
          <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AU" sz="1600" b="1" kern="1200" noProof="0">
                  <a:latin typeface="Calibri" panose="020F0502020204030204" pitchFamily="34" charset="0"/>
                  <a:ea typeface="Calibri" panose="020F0502020204030204" pitchFamily="34" charset="0"/>
                  <a:cs typeface="Calibri" panose="020F0502020204030204" pitchFamily="34" charset="0"/>
                </a:rPr>
                <a:t>Customer + Sales Data: Merged to calculate: </a:t>
              </a:r>
            </a:p>
            <a:p>
              <a:pPr marL="114300" lvl="1" indent="-114300" algn="l" defTabSz="533400">
                <a:lnSpc>
                  <a:spcPct val="90000"/>
                </a:lnSpc>
                <a:spcBef>
                  <a:spcPct val="0"/>
                </a:spcBef>
                <a:spcAft>
                  <a:spcPct val="15000"/>
                </a:spcAft>
                <a:buChar char="•"/>
              </a:pPr>
              <a:r>
                <a:rPr lang="en-AU" sz="1200" kern="1200" noProof="0">
                  <a:latin typeface="Calibri" panose="020F0502020204030204" pitchFamily="34" charset="0"/>
                  <a:ea typeface="Calibri" panose="020F0502020204030204" pitchFamily="34" charset="0"/>
                  <a:cs typeface="Calibri" panose="020F0502020204030204" pitchFamily="34" charset="0"/>
                </a:rPr>
                <a:t>Historical &amp; Projected Customer Lifetime Value (CLV) </a:t>
              </a:r>
            </a:p>
            <a:p>
              <a:pPr marL="114300" lvl="1" indent="-114300" algn="l" defTabSz="533400">
                <a:lnSpc>
                  <a:spcPct val="90000"/>
                </a:lnSpc>
                <a:spcBef>
                  <a:spcPct val="0"/>
                </a:spcBef>
                <a:spcAft>
                  <a:spcPct val="15000"/>
                </a:spcAft>
                <a:buChar char="•"/>
              </a:pPr>
              <a:r>
                <a:rPr lang="en-AU" sz="1200" kern="1200" noProof="0">
                  <a:latin typeface="Calibri" panose="020F0502020204030204" pitchFamily="34" charset="0"/>
                  <a:ea typeface="Calibri" panose="020F0502020204030204" pitchFamily="34" charset="0"/>
                  <a:cs typeface="Calibri" panose="020F0502020204030204" pitchFamily="34" charset="0"/>
                </a:rPr>
                <a:t>Revenue per year, average order value, and purchase frequency </a:t>
              </a:r>
            </a:p>
          </p:txBody>
        </p:sp>
        <p:sp>
          <p:nvSpPr>
            <p:cNvPr id="125" name="Freeform: Shape 124">
              <a:extLst>
                <a:ext uri="{FF2B5EF4-FFF2-40B4-BE49-F238E27FC236}">
                  <a16:creationId xmlns:a16="http://schemas.microsoft.com/office/drawing/2014/main" id="{A52E0967-4214-5608-62CD-2B60DC3E0FAA}"/>
                </a:ext>
              </a:extLst>
            </p:cNvPr>
            <p:cNvSpPr/>
            <p:nvPr/>
          </p:nvSpPr>
          <p:spPr>
            <a:xfrm>
              <a:off x="6052448" y="1063640"/>
              <a:ext cx="2631959" cy="1252524"/>
            </a:xfrm>
            <a:custGeom>
              <a:avLst/>
              <a:gdLst>
                <a:gd name="connsiteX0" fmla="*/ 0 w 2631959"/>
                <a:gd name="connsiteY0" fmla="*/ 0 h 1579175"/>
                <a:gd name="connsiteX1" fmla="*/ 2631959 w 2631959"/>
                <a:gd name="connsiteY1" fmla="*/ 0 h 1579175"/>
                <a:gd name="connsiteX2" fmla="*/ 2631959 w 2631959"/>
                <a:gd name="connsiteY2" fmla="*/ 1579175 h 1579175"/>
                <a:gd name="connsiteX3" fmla="*/ 0 w 2631959"/>
                <a:gd name="connsiteY3" fmla="*/ 1579175 h 1579175"/>
                <a:gd name="connsiteX4" fmla="*/ 0 w 2631959"/>
                <a:gd name="connsiteY4" fmla="*/ 0 h 1579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31959" h="1579175">
                  <a:moveTo>
                    <a:pt x="0" y="0"/>
                  </a:moveTo>
                  <a:lnTo>
                    <a:pt x="2631959" y="0"/>
                  </a:lnTo>
                  <a:lnTo>
                    <a:pt x="2631959" y="1579175"/>
                  </a:lnTo>
                  <a:lnTo>
                    <a:pt x="0" y="1579175"/>
                  </a:lnTo>
                  <a:lnTo>
                    <a:pt x="0" y="0"/>
                  </a:lnTo>
                  <a:close/>
                </a:path>
              </a:pathLst>
            </a:custGeom>
          </p:spPr>
          <p:style>
            <a:lnRef idx="0">
              <a:schemeClr val="accent5"/>
            </a:lnRef>
            <a:fillRef idx="3">
              <a:schemeClr val="accent5"/>
            </a:fillRef>
            <a:effectRef idx="3">
              <a:schemeClr val="accent5"/>
            </a:effectRef>
            <a:fontRef idx="minor">
              <a:schemeClr val="lt1"/>
            </a:fontRef>
          </p:style>
          <p:txBody>
            <a:bodyPr spcFirstLastPara="0" vert="horz" wrap="square" lIns="60960" tIns="60960" rIns="60960" bIns="60960" numCol="1" spcCol="1270" anchor="t" anchorCtr="0">
              <a:noAutofit/>
            </a:bodyPr>
            <a:lstStyle/>
            <a:p>
              <a:pPr marL="0" lvl="0" indent="0" algn="l" defTabSz="711200">
                <a:spcBef>
                  <a:spcPct val="0"/>
                </a:spcBef>
                <a:spcAft>
                  <a:spcPct val="35000"/>
                </a:spcAft>
                <a:buNone/>
              </a:pPr>
              <a:r>
                <a:rPr lang="en-AU" sz="1600" b="1" kern="1200" noProof="0">
                  <a:latin typeface="Calibri" panose="020F0502020204030204" pitchFamily="34" charset="0"/>
                  <a:ea typeface="Calibri" panose="020F0502020204030204" pitchFamily="34" charset="0"/>
                  <a:cs typeface="Calibri" panose="020F0502020204030204" pitchFamily="34" charset="0"/>
                </a:rPr>
                <a:t>BigCommerce Data: </a:t>
              </a:r>
            </a:p>
            <a:p>
              <a:pPr marL="0" lvl="0" indent="0" algn="l" defTabSz="711200">
                <a:spcBef>
                  <a:spcPct val="0"/>
                </a:spcBef>
                <a:spcAft>
                  <a:spcPct val="35000"/>
                </a:spcAft>
                <a:buNone/>
              </a:pPr>
              <a:r>
                <a:rPr lang="en-AU" sz="1200" kern="1200" noProof="0">
                  <a:latin typeface="Calibri" panose="020F0502020204030204" pitchFamily="34" charset="0"/>
                  <a:ea typeface="Calibri" panose="020F0502020204030204" pitchFamily="34" charset="0"/>
                  <a:cs typeface="Calibri" panose="020F0502020204030204" pitchFamily="34" charset="0"/>
                </a:rPr>
                <a:t>Aggregated to extract: </a:t>
              </a:r>
            </a:p>
            <a:p>
              <a:pPr marL="114300" lvl="1" indent="-114300" algn="l" defTabSz="533400">
                <a:lnSpc>
                  <a:spcPct val="90000"/>
                </a:lnSpc>
                <a:spcBef>
                  <a:spcPct val="0"/>
                </a:spcBef>
                <a:spcAft>
                  <a:spcPct val="15000"/>
                </a:spcAft>
                <a:buChar char="•"/>
              </a:pPr>
              <a:r>
                <a:rPr lang="en-AU" sz="1200" kern="1200" noProof="0">
                  <a:latin typeface="Calibri" panose="020F0502020204030204" pitchFamily="34" charset="0"/>
                  <a:ea typeface="Calibri" panose="020F0502020204030204" pitchFamily="34" charset="0"/>
                  <a:cs typeface="Calibri" panose="020F0502020204030204" pitchFamily="34" charset="0"/>
                </a:rPr>
                <a:t>Total online orders, order value, and last purchase date </a:t>
              </a:r>
            </a:p>
          </p:txBody>
        </p:sp>
        <p:sp>
          <p:nvSpPr>
            <p:cNvPr id="126" name="Freeform: Shape 125">
              <a:extLst>
                <a:ext uri="{FF2B5EF4-FFF2-40B4-BE49-F238E27FC236}">
                  <a16:creationId xmlns:a16="http://schemas.microsoft.com/office/drawing/2014/main" id="{7695E3B8-A2B4-FF83-13DF-ACB8069CF1BA}"/>
                </a:ext>
              </a:extLst>
            </p:cNvPr>
            <p:cNvSpPr/>
            <p:nvPr/>
          </p:nvSpPr>
          <p:spPr>
            <a:xfrm>
              <a:off x="8947603" y="1071081"/>
              <a:ext cx="2389115" cy="1252524"/>
            </a:xfrm>
            <a:custGeom>
              <a:avLst/>
              <a:gdLst>
                <a:gd name="connsiteX0" fmla="*/ 0 w 2631959"/>
                <a:gd name="connsiteY0" fmla="*/ 0 h 1579175"/>
                <a:gd name="connsiteX1" fmla="*/ 2631959 w 2631959"/>
                <a:gd name="connsiteY1" fmla="*/ 0 h 1579175"/>
                <a:gd name="connsiteX2" fmla="*/ 2631959 w 2631959"/>
                <a:gd name="connsiteY2" fmla="*/ 1579175 h 1579175"/>
                <a:gd name="connsiteX3" fmla="*/ 0 w 2631959"/>
                <a:gd name="connsiteY3" fmla="*/ 1579175 h 1579175"/>
                <a:gd name="connsiteX4" fmla="*/ 0 w 2631959"/>
                <a:gd name="connsiteY4" fmla="*/ 0 h 1579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31959" h="1579175">
                  <a:moveTo>
                    <a:pt x="0" y="0"/>
                  </a:moveTo>
                  <a:lnTo>
                    <a:pt x="2631959" y="0"/>
                  </a:lnTo>
                  <a:lnTo>
                    <a:pt x="2631959" y="1579175"/>
                  </a:lnTo>
                  <a:lnTo>
                    <a:pt x="0" y="1579175"/>
                  </a:lnTo>
                  <a:lnTo>
                    <a:pt x="0" y="0"/>
                  </a:lnTo>
                  <a:close/>
                </a:path>
              </a:pathLst>
            </a:custGeom>
            <a:ln/>
          </p:spPr>
          <p:style>
            <a:lnRef idx="0">
              <a:schemeClr val="accent2"/>
            </a:lnRef>
            <a:fillRef idx="3">
              <a:schemeClr val="accent2"/>
            </a:fillRef>
            <a:effectRef idx="3">
              <a:schemeClr val="accent2"/>
            </a:effectRef>
            <a:fontRef idx="minor">
              <a:schemeClr val="lt1"/>
            </a:fontRef>
          </p:style>
          <p:txBody>
            <a:bodyPr spcFirstLastPara="0" vert="horz" wrap="square" lIns="60960" tIns="60960" rIns="60960" bIns="60960" numCol="1" spcCol="1270" anchor="ctr" anchorCtr="0">
              <a:noAutofit/>
            </a:bodyPr>
            <a:lstStyle/>
            <a:p>
              <a:pPr marL="0" lvl="0" indent="0" defTabSz="711200">
                <a:lnSpc>
                  <a:spcPct val="90000"/>
                </a:lnSpc>
                <a:spcBef>
                  <a:spcPct val="0"/>
                </a:spcBef>
                <a:spcAft>
                  <a:spcPct val="35000"/>
                </a:spcAft>
                <a:buNone/>
              </a:pPr>
              <a:r>
                <a:rPr lang="en-AU" sz="1600" b="1" kern="1200" noProof="0">
                  <a:latin typeface="Calibri" panose="020F0502020204030204" pitchFamily="34" charset="0"/>
                  <a:ea typeface="Calibri" panose="020F0502020204030204" pitchFamily="34" charset="0"/>
                  <a:cs typeface="Calibri" panose="020F0502020204030204" pitchFamily="34" charset="0"/>
                </a:rPr>
                <a:t>Tradable Bits Data: </a:t>
              </a:r>
            </a:p>
            <a:p>
              <a:pPr marL="0" lvl="0" indent="0" defTabSz="711200">
                <a:lnSpc>
                  <a:spcPct val="90000"/>
                </a:lnSpc>
                <a:spcBef>
                  <a:spcPct val="0"/>
                </a:spcBef>
                <a:spcAft>
                  <a:spcPct val="35000"/>
                </a:spcAft>
                <a:buNone/>
              </a:pPr>
              <a:r>
                <a:rPr lang="en-AU" sz="1200" kern="1200" noProof="0">
                  <a:latin typeface="Calibri" panose="020F0502020204030204" pitchFamily="34" charset="0"/>
                  <a:ea typeface="Calibri" panose="020F0502020204030204" pitchFamily="34" charset="0"/>
                  <a:cs typeface="Calibri" panose="020F0502020204030204" pitchFamily="34" charset="0"/>
                </a:rPr>
                <a:t>Combined fan engagement from contests and digital content to compute engagement frequency </a:t>
              </a:r>
            </a:p>
          </p:txBody>
        </p:sp>
        <p:sp>
          <p:nvSpPr>
            <p:cNvPr id="127" name="Freeform: Shape 126">
              <a:extLst>
                <a:ext uri="{FF2B5EF4-FFF2-40B4-BE49-F238E27FC236}">
                  <a16:creationId xmlns:a16="http://schemas.microsoft.com/office/drawing/2014/main" id="{6CBF0243-558F-64DC-5B72-11007657B551}"/>
                </a:ext>
              </a:extLst>
            </p:cNvPr>
            <p:cNvSpPr/>
            <p:nvPr/>
          </p:nvSpPr>
          <p:spPr>
            <a:xfrm>
              <a:off x="2304511" y="2569300"/>
              <a:ext cx="3478429" cy="1326932"/>
            </a:xfrm>
            <a:custGeom>
              <a:avLst/>
              <a:gdLst>
                <a:gd name="connsiteX0" fmla="*/ 0 w 2631959"/>
                <a:gd name="connsiteY0" fmla="*/ 0 h 1579175"/>
                <a:gd name="connsiteX1" fmla="*/ 2631959 w 2631959"/>
                <a:gd name="connsiteY1" fmla="*/ 0 h 1579175"/>
                <a:gd name="connsiteX2" fmla="*/ 2631959 w 2631959"/>
                <a:gd name="connsiteY2" fmla="*/ 1579175 h 1579175"/>
                <a:gd name="connsiteX3" fmla="*/ 0 w 2631959"/>
                <a:gd name="connsiteY3" fmla="*/ 1579175 h 1579175"/>
                <a:gd name="connsiteX4" fmla="*/ 0 w 2631959"/>
                <a:gd name="connsiteY4" fmla="*/ 0 h 1579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31959" h="1579175">
                  <a:moveTo>
                    <a:pt x="0" y="0"/>
                  </a:moveTo>
                  <a:lnTo>
                    <a:pt x="2631959" y="0"/>
                  </a:lnTo>
                  <a:lnTo>
                    <a:pt x="2631959" y="1579175"/>
                  </a:lnTo>
                  <a:lnTo>
                    <a:pt x="0" y="1579175"/>
                  </a:lnTo>
                  <a:lnTo>
                    <a:pt x="0" y="0"/>
                  </a:lnTo>
                  <a:close/>
                </a:path>
              </a:pathLst>
            </a:custGeom>
          </p:spPr>
          <p:style>
            <a:lnRef idx="0">
              <a:schemeClr val="accent3"/>
            </a:lnRef>
            <a:fillRef idx="3">
              <a:schemeClr val="accent3"/>
            </a:fillRef>
            <a:effectRef idx="3">
              <a:schemeClr val="accent3"/>
            </a:effectRef>
            <a:fontRef idx="minor">
              <a:schemeClr val="lt1"/>
            </a:fontRef>
          </p:style>
          <p:txBody>
            <a:bodyPr spcFirstLastPara="0" vert="horz" wrap="square" lIns="60960" tIns="60960" rIns="60960" bIns="60960" numCol="1" spcCol="1270" anchor="ctr" anchorCtr="0">
              <a:noAutofit/>
            </a:bodyPr>
            <a:lstStyle/>
            <a:p>
              <a:pPr marL="0" lvl="0" indent="0" defTabSz="711200">
                <a:lnSpc>
                  <a:spcPct val="90000"/>
                </a:lnSpc>
                <a:spcBef>
                  <a:spcPct val="0"/>
                </a:spcBef>
                <a:spcAft>
                  <a:spcPct val="35000"/>
                </a:spcAft>
                <a:buNone/>
              </a:pPr>
              <a:r>
                <a:rPr lang="en-AU" sz="1600" kern="1200" noProof="0">
                  <a:latin typeface="Calibri" panose="020F0502020204030204" pitchFamily="34" charset="0"/>
                  <a:ea typeface="Calibri" panose="020F0502020204030204" pitchFamily="34" charset="0"/>
                  <a:cs typeface="Calibri" panose="020F0502020204030204" pitchFamily="34" charset="0"/>
                </a:rPr>
                <a:t>Applied ROW_NUMBER() to retain the most valuable customer record based on highest e-commerce order value.</a:t>
              </a:r>
            </a:p>
          </p:txBody>
        </p:sp>
        <p:sp>
          <p:nvSpPr>
            <p:cNvPr id="128" name="Freeform: Shape 127">
              <a:extLst>
                <a:ext uri="{FF2B5EF4-FFF2-40B4-BE49-F238E27FC236}">
                  <a16:creationId xmlns:a16="http://schemas.microsoft.com/office/drawing/2014/main" id="{C3FBE521-241F-9E4A-ED00-19743A090437}"/>
                </a:ext>
              </a:extLst>
            </p:cNvPr>
            <p:cNvSpPr/>
            <p:nvPr/>
          </p:nvSpPr>
          <p:spPr>
            <a:xfrm>
              <a:off x="6052448" y="2569300"/>
              <a:ext cx="2631959" cy="1326931"/>
            </a:xfrm>
            <a:custGeom>
              <a:avLst/>
              <a:gdLst>
                <a:gd name="connsiteX0" fmla="*/ 0 w 2631959"/>
                <a:gd name="connsiteY0" fmla="*/ 0 h 1579175"/>
                <a:gd name="connsiteX1" fmla="*/ 2631959 w 2631959"/>
                <a:gd name="connsiteY1" fmla="*/ 0 h 1579175"/>
                <a:gd name="connsiteX2" fmla="*/ 2631959 w 2631959"/>
                <a:gd name="connsiteY2" fmla="*/ 1579175 h 1579175"/>
                <a:gd name="connsiteX3" fmla="*/ 0 w 2631959"/>
                <a:gd name="connsiteY3" fmla="*/ 1579175 h 1579175"/>
                <a:gd name="connsiteX4" fmla="*/ 0 w 2631959"/>
                <a:gd name="connsiteY4" fmla="*/ 0 h 1579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31959" h="1579175">
                  <a:moveTo>
                    <a:pt x="0" y="0"/>
                  </a:moveTo>
                  <a:lnTo>
                    <a:pt x="2631959" y="0"/>
                  </a:lnTo>
                  <a:lnTo>
                    <a:pt x="2631959" y="1579175"/>
                  </a:lnTo>
                  <a:lnTo>
                    <a:pt x="0" y="1579175"/>
                  </a:lnTo>
                  <a:lnTo>
                    <a:pt x="0" y="0"/>
                  </a:lnTo>
                  <a:close/>
                </a:path>
              </a:pathLst>
            </a:custGeom>
          </p:spPr>
          <p:style>
            <a:lnRef idx="0">
              <a:schemeClr val="accent5"/>
            </a:lnRef>
            <a:fillRef idx="3">
              <a:schemeClr val="accent5"/>
            </a:fillRef>
            <a:effectRef idx="3">
              <a:schemeClr val="accent5"/>
            </a:effectRef>
            <a:fontRef idx="minor">
              <a:schemeClr val="lt1"/>
            </a:fontRef>
          </p:style>
          <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AU" sz="1600" b="1" kern="1200" noProof="0">
                  <a:latin typeface="Calibri" panose="020F0502020204030204" pitchFamily="34" charset="0"/>
                  <a:ea typeface="Calibri" panose="020F0502020204030204" pitchFamily="34" charset="0"/>
                  <a:cs typeface="Calibri" panose="020F0502020204030204" pitchFamily="34" charset="0"/>
                </a:rPr>
                <a:t>Final dataset includes: </a:t>
              </a:r>
            </a:p>
            <a:p>
              <a:pPr marL="114300" lvl="1" indent="-114300" algn="l" defTabSz="533400">
                <a:lnSpc>
                  <a:spcPct val="90000"/>
                </a:lnSpc>
                <a:spcBef>
                  <a:spcPct val="0"/>
                </a:spcBef>
                <a:spcAft>
                  <a:spcPct val="15000"/>
                </a:spcAft>
                <a:buChar char="•"/>
              </a:pPr>
              <a:r>
                <a:rPr lang="en-AU" sz="1200" kern="1200" noProof="0">
                  <a:latin typeface="Calibri" panose="020F0502020204030204" pitchFamily="34" charset="0"/>
                  <a:ea typeface="Calibri" panose="020F0502020204030204" pitchFamily="34" charset="0"/>
                  <a:cs typeface="Calibri" panose="020F0502020204030204" pitchFamily="34" charset="0"/>
                </a:rPr>
                <a:t>Demographics, CLV metrics, engagement counts, and e-commerce behaviour </a:t>
              </a:r>
            </a:p>
            <a:p>
              <a:pPr marL="114300" lvl="1" indent="-114300" algn="l" defTabSz="533400">
                <a:lnSpc>
                  <a:spcPct val="90000"/>
                </a:lnSpc>
                <a:spcBef>
                  <a:spcPct val="0"/>
                </a:spcBef>
                <a:spcAft>
                  <a:spcPct val="15000"/>
                </a:spcAft>
                <a:buChar char="•"/>
              </a:pPr>
              <a:r>
                <a:rPr lang="en-AU" sz="1200" kern="1200" noProof="0">
                  <a:latin typeface="Calibri" panose="020F0502020204030204" pitchFamily="34" charset="0"/>
                  <a:ea typeface="Calibri" panose="020F0502020204030204" pitchFamily="34" charset="0"/>
                  <a:cs typeface="Calibri" panose="020F0502020204030204" pitchFamily="34" charset="0"/>
                </a:rPr>
                <a:t>Segmented into CLV percentile bands for analysis </a:t>
              </a:r>
            </a:p>
          </p:txBody>
        </p:sp>
      </p:grpSp>
      <p:grpSp>
        <p:nvGrpSpPr>
          <p:cNvPr id="61" name="Group 60">
            <a:extLst>
              <a:ext uri="{FF2B5EF4-FFF2-40B4-BE49-F238E27FC236}">
                <a16:creationId xmlns:a16="http://schemas.microsoft.com/office/drawing/2014/main" id="{2DAE8B1F-EC49-C6DB-E113-68A24AB9C051}"/>
              </a:ext>
            </a:extLst>
          </p:cNvPr>
          <p:cNvGrpSpPr/>
          <p:nvPr/>
        </p:nvGrpSpPr>
        <p:grpSpPr>
          <a:xfrm>
            <a:off x="561057" y="3844486"/>
            <a:ext cx="1723240" cy="1269693"/>
            <a:chOff x="-2" y="1107741"/>
            <a:chExt cx="1706937" cy="1038200"/>
          </a:xfrm>
        </p:grpSpPr>
        <p:sp>
          <p:nvSpPr>
            <p:cNvPr id="71" name="Rectangle 70">
              <a:extLst>
                <a:ext uri="{FF2B5EF4-FFF2-40B4-BE49-F238E27FC236}">
                  <a16:creationId xmlns:a16="http://schemas.microsoft.com/office/drawing/2014/main" id="{58206C40-0896-C342-B179-A46117F3BB65}"/>
                </a:ext>
              </a:extLst>
            </p:cNvPr>
            <p:cNvSpPr/>
            <p:nvPr/>
          </p:nvSpPr>
          <p:spPr>
            <a:xfrm>
              <a:off x="0" y="1121780"/>
              <a:ext cx="1706935" cy="1024161"/>
            </a:xfrm>
            <a:prstGeom prst="rect">
              <a:avLst/>
            </a:prstGeom>
            <a:solidFill>
              <a:schemeClr val="accent6">
                <a:lumMod val="60000"/>
                <a:lumOff val="4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AU"/>
            </a:p>
          </p:txBody>
        </p:sp>
        <p:sp>
          <p:nvSpPr>
            <p:cNvPr id="72" name="TextBox 71">
              <a:extLst>
                <a:ext uri="{FF2B5EF4-FFF2-40B4-BE49-F238E27FC236}">
                  <a16:creationId xmlns:a16="http://schemas.microsoft.com/office/drawing/2014/main" id="{BF9A4B09-2416-711F-C99B-414C9CC2AB4E}"/>
                </a:ext>
              </a:extLst>
            </p:cNvPr>
            <p:cNvSpPr txBox="1"/>
            <p:nvPr/>
          </p:nvSpPr>
          <p:spPr>
            <a:xfrm>
              <a:off x="-2" y="1107741"/>
              <a:ext cx="1706935" cy="1024161"/>
            </a:xfrm>
            <a:prstGeom prst="rect">
              <a:avLst/>
            </a:prstGeom>
          </p:spPr>
          <p:style>
            <a:lnRef idx="0">
              <a:schemeClr val="accent6"/>
            </a:lnRef>
            <a:fillRef idx="3">
              <a:schemeClr val="accent6"/>
            </a:fillRef>
            <a:effectRef idx="3">
              <a:schemeClr val="accent6"/>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AU" sz="1800" b="1" kern="1200" noProof="0">
                  <a:latin typeface="Calibri" panose="020F0502020204030204" pitchFamily="34" charset="0"/>
                  <a:ea typeface="Calibri" panose="020F0502020204030204" pitchFamily="34" charset="0"/>
                  <a:cs typeface="Calibri" panose="020F0502020204030204" pitchFamily="34" charset="0"/>
                </a:rPr>
                <a:t>2. Data Merging &amp; Enrichment</a:t>
              </a:r>
              <a:endParaRPr lang="en-AU" sz="1800" kern="1200" noProof="0">
                <a:latin typeface="Calibri" panose="020F0502020204030204" pitchFamily="34" charset="0"/>
                <a:ea typeface="Calibri" panose="020F0502020204030204" pitchFamily="34" charset="0"/>
                <a:cs typeface="Calibri" panose="020F0502020204030204" pitchFamily="34" charset="0"/>
              </a:endParaRPr>
            </a:p>
          </p:txBody>
        </p:sp>
      </p:grpSp>
      <p:sp>
        <p:nvSpPr>
          <p:cNvPr id="75" name="TextBox 74">
            <a:extLst>
              <a:ext uri="{FF2B5EF4-FFF2-40B4-BE49-F238E27FC236}">
                <a16:creationId xmlns:a16="http://schemas.microsoft.com/office/drawing/2014/main" id="{78D2B60D-32E8-E74A-1E46-E7F565961EA0}"/>
              </a:ext>
            </a:extLst>
          </p:cNvPr>
          <p:cNvSpPr txBox="1"/>
          <p:nvPr/>
        </p:nvSpPr>
        <p:spPr>
          <a:xfrm>
            <a:off x="561057" y="2329098"/>
            <a:ext cx="1706935" cy="1269693"/>
          </a:xfrm>
          <a:prstGeom prst="rect">
            <a:avLst/>
          </a:prstGeom>
          <a:ln/>
        </p:spPr>
        <p:style>
          <a:lnRef idx="0">
            <a:schemeClr val="accent6"/>
          </a:lnRef>
          <a:fillRef idx="3">
            <a:schemeClr val="accent6"/>
          </a:fillRef>
          <a:effectRef idx="3">
            <a:schemeClr val="accent6"/>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AU" b="1" kern="1200" noProof="0">
                <a:latin typeface="Calibri" panose="020F0502020204030204" pitchFamily="34" charset="0"/>
                <a:ea typeface="Calibri" panose="020F0502020204030204" pitchFamily="34" charset="0"/>
                <a:cs typeface="Calibri" panose="020F0502020204030204" pitchFamily="34" charset="0"/>
              </a:rPr>
              <a:t>1. Filters &amp; Exclusions</a:t>
            </a:r>
            <a:endParaRPr lang="en-AU" kern="1200" noProof="0">
              <a:latin typeface="Calibri" panose="020F0502020204030204" pitchFamily="34" charset="0"/>
              <a:ea typeface="Calibri" panose="020F0502020204030204" pitchFamily="34" charset="0"/>
              <a:cs typeface="Calibri" panose="020F0502020204030204" pitchFamily="34" charset="0"/>
            </a:endParaRPr>
          </a:p>
        </p:txBody>
      </p:sp>
      <p:grpSp>
        <p:nvGrpSpPr>
          <p:cNvPr id="76" name="Group 75">
            <a:extLst>
              <a:ext uri="{FF2B5EF4-FFF2-40B4-BE49-F238E27FC236}">
                <a16:creationId xmlns:a16="http://schemas.microsoft.com/office/drawing/2014/main" id="{8D742CBA-55E0-A9B6-543E-FD52547816BF}"/>
              </a:ext>
            </a:extLst>
          </p:cNvPr>
          <p:cNvGrpSpPr/>
          <p:nvPr/>
        </p:nvGrpSpPr>
        <p:grpSpPr>
          <a:xfrm>
            <a:off x="561056" y="5342705"/>
            <a:ext cx="1706935" cy="1356478"/>
            <a:chOff x="449028" y="2251625"/>
            <a:chExt cx="1706935" cy="1046965"/>
          </a:xfrm>
        </p:grpSpPr>
        <p:sp>
          <p:nvSpPr>
            <p:cNvPr id="77" name="Rectangle 76">
              <a:extLst>
                <a:ext uri="{FF2B5EF4-FFF2-40B4-BE49-F238E27FC236}">
                  <a16:creationId xmlns:a16="http://schemas.microsoft.com/office/drawing/2014/main" id="{1B6DD845-1C0B-28BD-6A6E-683E061E1CDA}"/>
                </a:ext>
              </a:extLst>
            </p:cNvPr>
            <p:cNvSpPr/>
            <p:nvPr/>
          </p:nvSpPr>
          <p:spPr>
            <a:xfrm>
              <a:off x="449028" y="2274429"/>
              <a:ext cx="1706935" cy="1024161"/>
            </a:xfrm>
            <a:prstGeom prst="rect">
              <a:avLst/>
            </a:prstGeom>
            <a:ln/>
          </p:spPr>
          <p:style>
            <a:lnRef idx="3">
              <a:schemeClr val="lt1"/>
            </a:lnRef>
            <a:fillRef idx="1">
              <a:schemeClr val="accent6"/>
            </a:fillRef>
            <a:effectRef idx="1">
              <a:schemeClr val="accent6"/>
            </a:effectRef>
            <a:fontRef idx="minor">
              <a:schemeClr val="lt1"/>
            </a:fontRef>
          </p:style>
          <p:txBody>
            <a:bodyPr/>
            <a:lstStyle/>
            <a:p>
              <a:endParaRPr lang="en-AU"/>
            </a:p>
          </p:txBody>
        </p:sp>
        <p:sp>
          <p:nvSpPr>
            <p:cNvPr id="78" name="TextBox 77">
              <a:extLst>
                <a:ext uri="{FF2B5EF4-FFF2-40B4-BE49-F238E27FC236}">
                  <a16:creationId xmlns:a16="http://schemas.microsoft.com/office/drawing/2014/main" id="{649BED30-D456-08FC-16F7-774373EA82A9}"/>
                </a:ext>
              </a:extLst>
            </p:cNvPr>
            <p:cNvSpPr txBox="1"/>
            <p:nvPr/>
          </p:nvSpPr>
          <p:spPr>
            <a:xfrm>
              <a:off x="449028" y="2251625"/>
              <a:ext cx="1706935" cy="1024161"/>
            </a:xfrm>
            <a:prstGeom prst="rect">
              <a:avLst/>
            </a:prstGeom>
            <a:ln/>
          </p:spPr>
          <p:style>
            <a:lnRef idx="0">
              <a:schemeClr val="accent6"/>
            </a:lnRef>
            <a:fillRef idx="3">
              <a:schemeClr val="accent6"/>
            </a:fillRef>
            <a:effectRef idx="3">
              <a:schemeClr val="accent6"/>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AU" sz="1600" b="1" kern="1200" noProof="0">
                  <a:latin typeface="Calibri" panose="020F0502020204030204" pitchFamily="34" charset="0"/>
                  <a:ea typeface="Calibri" panose="020F0502020204030204" pitchFamily="34" charset="0"/>
                  <a:cs typeface="Calibri" panose="020F0502020204030204" pitchFamily="34" charset="0"/>
                </a:rPr>
                <a:t>3. Deduplication &amp; Final Dataset</a:t>
              </a:r>
              <a:endParaRPr lang="en-AU" sz="1600" kern="1200" noProof="0">
                <a:latin typeface="Calibri" panose="020F0502020204030204" pitchFamily="34" charset="0"/>
                <a:ea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535667639"/>
      </p:ext>
    </p:extLst>
  </p:cSld>
  <p:clrMapOvr>
    <a:masterClrMapping/>
  </p:clrMapOvr>
  <p:transition spd="slow">
    <p:push dir="u"/>
  </p:transition>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2" name="Rectangle 11">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sp>
          <p:nvSpPr>
            <p:cNvPr id="13" name="Oval 12">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sp>
          <p:nvSpPr>
            <p:cNvPr id="14" name="Oval 13">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sp>
          <p:nvSpPr>
            <p:cNvPr id="15" name="Oval 14">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sp>
          <p:nvSpPr>
            <p:cNvPr id="16" name="Oval 15">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sp>
          <p:nvSpPr>
            <p:cNvPr id="17" name="Oval 16">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sp>
          <p:nvSpPr>
            <p:cNvPr id="18"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sp>
          <p:nvSpPr>
            <p:cNvPr id="19"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sp>
          <p:nvSpPr>
            <p:cNvPr id="20"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grpSp>
      <p:sp>
        <p:nvSpPr>
          <p:cNvPr id="22" name="Rectangle 21">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AU" noProof="0"/>
          </a:p>
        </p:txBody>
      </p:sp>
      <p:sp useBgFill="1">
        <p:nvSpPr>
          <p:cNvPr id="24" name="Rectangle 23">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a:p>
        </p:txBody>
      </p:sp>
      <p:sp>
        <p:nvSpPr>
          <p:cNvPr id="26" name="Rectangle 25">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AU" noProof="0"/>
          </a:p>
        </p:txBody>
      </p:sp>
      <p:sp>
        <p:nvSpPr>
          <p:cNvPr id="28"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AU" noProof="0"/>
          </a:p>
        </p:txBody>
      </p:sp>
      <p:sp>
        <p:nvSpPr>
          <p:cNvPr id="30" name="Freeform: Shape 29">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AU" noProof="0"/>
          </a:p>
        </p:txBody>
      </p:sp>
      <p:sp>
        <p:nvSpPr>
          <p:cNvPr id="32"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AU" noProof="0"/>
          </a:p>
        </p:txBody>
      </p:sp>
      <p:sp>
        <p:nvSpPr>
          <p:cNvPr id="2" name="Title 1">
            <a:extLst>
              <a:ext uri="{FF2B5EF4-FFF2-40B4-BE49-F238E27FC236}">
                <a16:creationId xmlns:a16="http://schemas.microsoft.com/office/drawing/2014/main" id="{56A46A94-19F9-6E5F-36B6-E8B7FB4FB624}"/>
              </a:ext>
            </a:extLst>
          </p:cNvPr>
          <p:cNvSpPr>
            <a:spLocks noGrp="1"/>
          </p:cNvSpPr>
          <p:nvPr>
            <p:ph type="title"/>
          </p:nvPr>
        </p:nvSpPr>
        <p:spPr>
          <a:xfrm>
            <a:off x="994087" y="1130603"/>
            <a:ext cx="3342442" cy="4596794"/>
          </a:xfrm>
        </p:spPr>
        <p:txBody>
          <a:bodyPr vert="horz" lIns="91440" tIns="45720" rIns="91440" bIns="45720" rtlCol="0" anchor="ctr">
            <a:normAutofit/>
          </a:bodyPr>
          <a:lstStyle/>
          <a:p>
            <a:r>
              <a:rPr lang="en-AU" sz="3200" b="1" noProof="0">
                <a:solidFill>
                  <a:srgbClr val="EBEBEB"/>
                </a:solidFill>
                <a:latin typeface="Calibri" panose="020F0502020204030204" pitchFamily="34" charset="0"/>
                <a:ea typeface="Calibri" panose="020F0502020204030204" pitchFamily="34" charset="0"/>
                <a:cs typeface="Calibri" panose="020F0502020204030204" pitchFamily="34" charset="0"/>
              </a:rPr>
              <a:t>How We Calculate CLV: From Logic to Code</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67434B86-8D01-4DE8-6418-E0A70E77A5DB}"/>
                  </a:ext>
                </a:extLst>
              </p:cNvPr>
              <p:cNvSpPr>
                <a:spLocks noGrp="1"/>
              </p:cNvSpPr>
              <p:nvPr>
                <p:ph sz="half" idx="1"/>
              </p:nvPr>
            </p:nvSpPr>
            <p:spPr>
              <a:xfrm>
                <a:off x="4871110" y="558799"/>
                <a:ext cx="6861383" cy="5833039"/>
              </a:xfrm>
            </p:spPr>
            <p:txBody>
              <a:bodyPr vert="horz" lIns="91440" tIns="45720" rIns="91440" bIns="45720" rtlCol="0" anchor="ctr">
                <a:normAutofit fontScale="92500" lnSpcReduction="10000"/>
              </a:bodyPr>
              <a:lstStyle/>
              <a:p>
                <a:pPr marL="0" indent="0">
                  <a:lnSpc>
                    <a:spcPct val="90000"/>
                  </a:lnSpc>
                  <a:buNone/>
                </a:pPr>
                <a:r>
                  <a:rPr lang="en-AU" b="1" noProof="0">
                    <a:latin typeface="Calibri" panose="020F0502020204030204" pitchFamily="34" charset="0"/>
                    <a:ea typeface="Calibri" panose="020F0502020204030204" pitchFamily="34" charset="0"/>
                    <a:cs typeface="Calibri" panose="020F0502020204030204" pitchFamily="34" charset="0"/>
                  </a:rPr>
                  <a:t>📘 </a:t>
                </a:r>
                <a:r>
                  <a:rPr lang="en-AU" sz="1700" b="1" noProof="0">
                    <a:latin typeface="Calibri" panose="020F0502020204030204" pitchFamily="34" charset="0"/>
                    <a:ea typeface="Calibri" panose="020F0502020204030204" pitchFamily="34" charset="0"/>
                    <a:cs typeface="Calibri" panose="020F0502020204030204" pitchFamily="34" charset="0"/>
                  </a:rPr>
                  <a:t>Overview</a:t>
                </a:r>
              </a:p>
              <a:p>
                <a:pPr marL="0" indent="0">
                  <a:lnSpc>
                    <a:spcPct val="110000"/>
                  </a:lnSpc>
                  <a:buNone/>
                </a:pPr>
                <a:r>
                  <a:rPr lang="en-AU" sz="1200" noProof="0">
                    <a:latin typeface="Calibri" panose="020F0502020204030204" pitchFamily="34" charset="0"/>
                    <a:ea typeface="Calibri" panose="020F0502020204030204" pitchFamily="34" charset="0"/>
                    <a:cs typeface="Calibri" panose="020F0502020204030204" pitchFamily="34" charset="0"/>
                  </a:rPr>
                  <a:t>Customer Lifetime Value (CLV) is a key metric used to understand the long-term value a customer brings to the business. In this project, CLV is calculated using two components:</a:t>
                </a:r>
              </a:p>
              <a:p>
                <a:pPr marL="0" indent="0">
                  <a:lnSpc>
                    <a:spcPct val="90000"/>
                  </a:lnSpc>
                  <a:buNone/>
                </a:pPr>
                <a:endParaRPr lang="en-AU" sz="1200" noProof="0">
                  <a:latin typeface="Calibri" panose="020F0502020204030204" pitchFamily="34" charset="0"/>
                  <a:ea typeface="Calibri" panose="020F0502020204030204" pitchFamily="34" charset="0"/>
                  <a:cs typeface="Calibri" panose="020F0502020204030204" pitchFamily="34" charset="0"/>
                </a:endParaRPr>
              </a:p>
              <a:p>
                <a:pPr marL="0" indent="0">
                  <a:lnSpc>
                    <a:spcPct val="90000"/>
                  </a:lnSpc>
                  <a:buNone/>
                </a:pPr>
                <a:r>
                  <a:rPr lang="en-AU" sz="1500" b="1" noProof="0">
                    <a:latin typeface="Calibri" panose="020F0502020204030204" pitchFamily="34" charset="0"/>
                    <a:ea typeface="Calibri" panose="020F0502020204030204" pitchFamily="34" charset="0"/>
                    <a:cs typeface="Calibri" panose="020F0502020204030204" pitchFamily="34" charset="0"/>
                  </a:rPr>
                  <a:t>1. Historical CLV</a:t>
                </a:r>
              </a:p>
              <a:p>
                <a:pPr marL="0" indent="0">
                  <a:lnSpc>
                    <a:spcPct val="90000"/>
                  </a:lnSpc>
                  <a:buNone/>
                </a:pPr>
                <a:r>
                  <a:rPr lang="en-AU" sz="1200" noProof="0">
                    <a:latin typeface="Calibri" panose="020F0502020204030204" pitchFamily="34" charset="0"/>
                    <a:ea typeface="Calibri" panose="020F0502020204030204" pitchFamily="34" charset="0"/>
                    <a:cs typeface="Calibri" panose="020F0502020204030204" pitchFamily="34" charset="0"/>
                  </a:rPr>
                  <a:t>Represents the total revenue generated by a customer from paid membership orders, excluding GST.</a:t>
                </a:r>
              </a:p>
              <a:p>
                <a:pPr marL="0" indent="0">
                  <a:lnSpc>
                    <a:spcPct val="90000"/>
                  </a:lnSpc>
                  <a:buNone/>
                </a:pPr>
                <a:r>
                  <a:rPr lang="en-AU" sz="1200" noProof="0">
                    <a:latin typeface="Calibri" panose="020F0502020204030204" pitchFamily="34" charset="0"/>
                    <a:ea typeface="Calibri" panose="020F0502020204030204" pitchFamily="34" charset="0"/>
                    <a:cs typeface="Calibri" panose="020F0502020204030204" pitchFamily="34" charset="0"/>
                  </a:rPr>
                  <a:t>Calculated by summing all non-complimentary, active membership transactions.</a:t>
                </a:r>
              </a:p>
              <a:p>
                <a:pPr marL="0" indent="0">
                  <a:lnSpc>
                    <a:spcPct val="90000"/>
                  </a:lnSpc>
                  <a:buNone/>
                </a:pPr>
                <a:endParaRPr lang="en-AU" sz="1200" noProof="0">
                  <a:latin typeface="Calibri" panose="020F0502020204030204" pitchFamily="34" charset="0"/>
                  <a:ea typeface="Calibri" panose="020F0502020204030204" pitchFamily="34" charset="0"/>
                  <a:cs typeface="Calibri" panose="020F0502020204030204" pitchFamily="34" charset="0"/>
                </a:endParaRPr>
              </a:p>
              <a:p>
                <a:pPr marL="0" indent="0">
                  <a:lnSpc>
                    <a:spcPct val="90000"/>
                  </a:lnSpc>
                  <a:buNone/>
                </a:pPr>
                <a:r>
                  <a:rPr lang="en-AU" sz="1500" b="1" noProof="0">
                    <a:latin typeface="Calibri" panose="020F0502020204030204" pitchFamily="34" charset="0"/>
                    <a:ea typeface="Calibri" panose="020F0502020204030204" pitchFamily="34" charset="0"/>
                    <a:cs typeface="Calibri" panose="020F0502020204030204" pitchFamily="34" charset="0"/>
                  </a:rPr>
                  <a:t>2. Projected CLV</a:t>
                </a:r>
              </a:p>
              <a:p>
                <a:pPr marL="0" indent="0">
                  <a:lnSpc>
                    <a:spcPct val="90000"/>
                  </a:lnSpc>
                  <a:buNone/>
                </a:pPr>
                <a:r>
                  <a:rPr lang="en-AU" sz="1200" noProof="0">
                    <a:latin typeface="Calibri" panose="020F0502020204030204" pitchFamily="34" charset="0"/>
                    <a:ea typeface="Calibri" panose="020F0502020204030204" pitchFamily="34" charset="0"/>
                    <a:cs typeface="Calibri" panose="020F0502020204030204" pitchFamily="34" charset="0"/>
                  </a:rPr>
                  <a:t>Estimates the future value of a customer based on: </a:t>
                </a:r>
              </a:p>
              <a:p>
                <a:pPr lvl="1">
                  <a:lnSpc>
                    <a:spcPct val="90000"/>
                  </a:lnSpc>
                </a:pPr>
                <a:r>
                  <a:rPr lang="en-AU" sz="1200" noProof="0">
                    <a:latin typeface="Calibri" panose="020F0502020204030204" pitchFamily="34" charset="0"/>
                    <a:ea typeface="Calibri" panose="020F0502020204030204" pitchFamily="34" charset="0"/>
                    <a:cs typeface="Calibri" panose="020F0502020204030204" pitchFamily="34" charset="0"/>
                  </a:rPr>
                  <a:t>Revenue per year</a:t>
                </a:r>
              </a:p>
              <a:p>
                <a:pPr lvl="1">
                  <a:lnSpc>
                    <a:spcPct val="90000"/>
                  </a:lnSpc>
                </a:pPr>
                <a:r>
                  <a:rPr lang="en-AU" sz="1200" noProof="0">
                    <a:latin typeface="Calibri" panose="020F0502020204030204" pitchFamily="34" charset="0"/>
                    <a:ea typeface="Calibri" panose="020F0502020204030204" pitchFamily="34" charset="0"/>
                    <a:cs typeface="Calibri" panose="020F0502020204030204" pitchFamily="34" charset="0"/>
                  </a:rPr>
                  <a:t>Gross margin</a:t>
                </a:r>
              </a:p>
              <a:p>
                <a:pPr lvl="1">
                  <a:lnSpc>
                    <a:spcPct val="90000"/>
                  </a:lnSpc>
                </a:pPr>
                <a:r>
                  <a:rPr lang="en-AU" sz="1200" noProof="0">
                    <a:latin typeface="Calibri" panose="020F0502020204030204" pitchFamily="34" charset="0"/>
                    <a:ea typeface="Calibri" panose="020F0502020204030204" pitchFamily="34" charset="0"/>
                    <a:cs typeface="Calibri" panose="020F0502020204030204" pitchFamily="34" charset="0"/>
                  </a:rPr>
                  <a:t>Retention rate</a:t>
                </a:r>
              </a:p>
              <a:p>
                <a:pPr lvl="1">
                  <a:lnSpc>
                    <a:spcPct val="90000"/>
                  </a:lnSpc>
                </a:pPr>
                <a:r>
                  <a:rPr lang="en-AU" sz="1200" noProof="0">
                    <a:latin typeface="Calibri" panose="020F0502020204030204" pitchFamily="34" charset="0"/>
                    <a:ea typeface="Calibri" panose="020F0502020204030204" pitchFamily="34" charset="0"/>
                    <a:cs typeface="Calibri" panose="020F0502020204030204" pitchFamily="34" charset="0"/>
                  </a:rPr>
                  <a:t>Discount rate</a:t>
                </a:r>
              </a:p>
              <a:p>
                <a:pPr marL="0" indent="0">
                  <a:lnSpc>
                    <a:spcPct val="90000"/>
                  </a:lnSpc>
                  <a:buNone/>
                </a:pPr>
                <a:r>
                  <a:rPr lang="en-AU" sz="1200" noProof="0">
                    <a:latin typeface="Calibri" panose="020F0502020204030204" pitchFamily="34" charset="0"/>
                    <a:ea typeface="Calibri" panose="020F0502020204030204" pitchFamily="34" charset="0"/>
                    <a:cs typeface="Calibri" panose="020F0502020204030204" pitchFamily="34" charset="0"/>
                  </a:rPr>
                  <a:t>This forward-looking metric helps prioritize high-value customers for retention and engagement strategies.</a:t>
                </a:r>
              </a:p>
              <a:p>
                <a:pPr lvl="1">
                  <a:lnSpc>
                    <a:spcPct val="90000"/>
                  </a:lnSpc>
                </a:pPr>
                <a:r>
                  <a:rPr lang="en-AU" sz="1200" b="1" noProof="0">
                    <a:latin typeface="Calibri" panose="020F0502020204030204" pitchFamily="34" charset="0"/>
                    <a:ea typeface="Calibri" panose="020F0502020204030204" pitchFamily="34" charset="0"/>
                    <a:cs typeface="Calibri" panose="020F0502020204030204" pitchFamily="34" charset="0"/>
                  </a:rPr>
                  <a:t>Business Assumptions</a:t>
                </a:r>
              </a:p>
              <a:p>
                <a:pPr lvl="2">
                  <a:lnSpc>
                    <a:spcPct val="90000"/>
                  </a:lnSpc>
                </a:pPr>
                <a:r>
                  <a:rPr lang="en-AU" sz="1000" noProof="0">
                    <a:latin typeface="Calibri" panose="020F0502020204030204" pitchFamily="34" charset="0"/>
                    <a:ea typeface="Calibri" panose="020F0502020204030204" pitchFamily="34" charset="0"/>
                    <a:cs typeface="Calibri" panose="020F0502020204030204" pitchFamily="34" charset="0"/>
                  </a:rPr>
                  <a:t>Retention Rate: 80%</a:t>
                </a:r>
              </a:p>
              <a:p>
                <a:pPr lvl="2">
                  <a:lnSpc>
                    <a:spcPct val="90000"/>
                  </a:lnSpc>
                </a:pPr>
                <a:r>
                  <a:rPr lang="en-AU" sz="1000" noProof="0">
                    <a:latin typeface="Calibri" panose="020F0502020204030204" pitchFamily="34" charset="0"/>
                    <a:ea typeface="Calibri" panose="020F0502020204030204" pitchFamily="34" charset="0"/>
                    <a:cs typeface="Calibri" panose="020F0502020204030204" pitchFamily="34" charset="0"/>
                  </a:rPr>
                  <a:t>Discount Rate: 10%</a:t>
                </a:r>
              </a:p>
              <a:p>
                <a:pPr lvl="2">
                  <a:lnSpc>
                    <a:spcPct val="90000"/>
                  </a:lnSpc>
                </a:pPr>
                <a:r>
                  <a:rPr lang="en-AU" sz="1000" noProof="0">
                    <a:latin typeface="Calibri" panose="020F0502020204030204" pitchFamily="34" charset="0"/>
                    <a:ea typeface="Calibri" panose="020F0502020204030204" pitchFamily="34" charset="0"/>
                    <a:cs typeface="Calibri" panose="020F0502020204030204" pitchFamily="34" charset="0"/>
                  </a:rPr>
                  <a:t>Gross Margin: 60%</a:t>
                </a:r>
              </a:p>
              <a:p>
                <a:pPr marL="0" indent="0">
                  <a:lnSpc>
                    <a:spcPct val="90000"/>
                  </a:lnSpc>
                  <a:buNone/>
                </a:pPr>
                <a:endParaRPr lang="en-AU" sz="1200" noProof="0">
                  <a:latin typeface="Calibri" panose="020F0502020204030204" pitchFamily="34" charset="0"/>
                  <a:ea typeface="Calibri" panose="020F0502020204030204" pitchFamily="34" charset="0"/>
                  <a:cs typeface="Calibri" panose="020F0502020204030204" pitchFamily="34" charset="0"/>
                </a:endParaRPr>
              </a:p>
              <a:p>
                <a:pPr marL="0" indent="0" algn="ctr">
                  <a:buNone/>
                </a:pPr>
                <a:r>
                  <a:rPr lang="en-AU" sz="1500" b="1" noProof="0">
                    <a:latin typeface="Calibri" panose="020F0502020204030204" pitchFamily="34" charset="0"/>
                    <a:ea typeface="Calibri" panose="020F0502020204030204" pitchFamily="34" charset="0"/>
                    <a:cs typeface="Calibri" panose="020F0502020204030204" pitchFamily="34" charset="0"/>
                  </a:rPr>
                  <a:t>Projected CLV</a:t>
                </a:r>
                <a:r>
                  <a:rPr lang="en-AU" sz="1400" b="1" noProof="0">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f>
                      <m:fPr>
                        <m:ctrlPr>
                          <a:rPr lang="en-AU" sz="1500" i="1" noProof="0" smtClean="0">
                            <a:latin typeface="Cambria Math" panose="02040503050406030204" pitchFamily="18" charset="0"/>
                          </a:rPr>
                        </m:ctrlPr>
                      </m:fPr>
                      <m:num>
                        <m:r>
                          <m:rPr>
                            <m:nor/>
                          </m:rPr>
                          <a:rPr lang="en-AU" sz="1500" noProof="0">
                            <a:latin typeface="Calibri" panose="020F0502020204030204" pitchFamily="34" charset="0"/>
                            <a:ea typeface="Calibri" panose="020F0502020204030204" pitchFamily="34" charset="0"/>
                            <a:cs typeface="Calibri" panose="020F0502020204030204" pitchFamily="34" charset="0"/>
                          </a:rPr>
                          <m:t>Revenue</m:t>
                        </m:r>
                        <m:r>
                          <m:rPr>
                            <m:nor/>
                          </m:rPr>
                          <a:rPr lang="en-AU" sz="1500" i="1" noProof="0">
                            <a:latin typeface="Calibri" panose="020F0502020204030204" pitchFamily="34" charset="0"/>
                            <a:ea typeface="Calibri" panose="020F0502020204030204" pitchFamily="34" charset="0"/>
                            <a:cs typeface="Calibri" panose="020F0502020204030204" pitchFamily="34" charset="0"/>
                          </a:rPr>
                          <m:t> </m:t>
                        </m:r>
                        <m:r>
                          <m:rPr>
                            <m:nor/>
                          </m:rPr>
                          <a:rPr lang="en-AU" sz="1500" i="1" noProof="0">
                            <a:latin typeface="Calibri" panose="020F0502020204030204" pitchFamily="34" charset="0"/>
                            <a:ea typeface="Calibri" panose="020F0502020204030204" pitchFamily="34" charset="0"/>
                            <a:cs typeface="Calibri" panose="020F0502020204030204" pitchFamily="34" charset="0"/>
                          </a:rPr>
                          <m:t>per</m:t>
                        </m:r>
                        <m:r>
                          <m:rPr>
                            <m:nor/>
                          </m:rPr>
                          <a:rPr lang="en-AU" sz="1500" i="1" noProof="0">
                            <a:latin typeface="Calibri" panose="020F0502020204030204" pitchFamily="34" charset="0"/>
                            <a:ea typeface="Calibri" panose="020F0502020204030204" pitchFamily="34" charset="0"/>
                            <a:cs typeface="Calibri" panose="020F0502020204030204" pitchFamily="34" charset="0"/>
                          </a:rPr>
                          <m:t> </m:t>
                        </m:r>
                        <m:r>
                          <m:rPr>
                            <m:nor/>
                          </m:rPr>
                          <a:rPr lang="en-AU" sz="1500" i="1" noProof="0">
                            <a:latin typeface="Calibri" panose="020F0502020204030204" pitchFamily="34" charset="0"/>
                            <a:ea typeface="Calibri" panose="020F0502020204030204" pitchFamily="34" charset="0"/>
                            <a:cs typeface="Calibri" panose="020F0502020204030204" pitchFamily="34" charset="0"/>
                          </a:rPr>
                          <m:t>Year</m:t>
                        </m:r>
                        <m:r>
                          <a:rPr lang="en-AU" sz="1500" b="0" i="0" noProof="0" smtClean="0">
                            <a:latin typeface="Cambria Math" panose="02040503050406030204" pitchFamily="18" charset="0"/>
                          </a:rPr>
                          <m:t> </m:t>
                        </m:r>
                        <m:r>
                          <a:rPr lang="en-AU" sz="1500" noProof="0">
                            <a:latin typeface="Cambria Math" panose="02040503050406030204" pitchFamily="18" charset="0"/>
                          </a:rPr>
                          <m:t>×</m:t>
                        </m:r>
                        <m:r>
                          <m:rPr>
                            <m:nor/>
                          </m:rPr>
                          <a:rPr lang="en-AU" sz="1500" b="0" i="1" noProof="0" smtClean="0">
                            <a:latin typeface="Calibri" panose="020F0502020204030204" pitchFamily="34" charset="0"/>
                            <a:ea typeface="Calibri" panose="020F0502020204030204" pitchFamily="34" charset="0"/>
                            <a:cs typeface="Calibri" panose="020F0502020204030204" pitchFamily="34" charset="0"/>
                          </a:rPr>
                          <m:t> </m:t>
                        </m:r>
                        <m:r>
                          <m:rPr>
                            <m:nor/>
                          </m:rPr>
                          <a:rPr lang="en-AU" sz="1500" i="1" noProof="0">
                            <a:latin typeface="Calibri" panose="020F0502020204030204" pitchFamily="34" charset="0"/>
                            <a:ea typeface="Calibri" panose="020F0502020204030204" pitchFamily="34" charset="0"/>
                            <a:cs typeface="Calibri" panose="020F0502020204030204" pitchFamily="34" charset="0"/>
                          </a:rPr>
                          <m:t>Gross</m:t>
                        </m:r>
                        <m:r>
                          <m:rPr>
                            <m:nor/>
                          </m:rPr>
                          <a:rPr lang="en-AU" sz="1500" i="1" noProof="0">
                            <a:latin typeface="Calibri" panose="020F0502020204030204" pitchFamily="34" charset="0"/>
                            <a:ea typeface="Calibri" panose="020F0502020204030204" pitchFamily="34" charset="0"/>
                            <a:cs typeface="Calibri" panose="020F0502020204030204" pitchFamily="34" charset="0"/>
                          </a:rPr>
                          <m:t> </m:t>
                        </m:r>
                        <m:r>
                          <m:rPr>
                            <m:nor/>
                          </m:rPr>
                          <a:rPr lang="en-AU" sz="1500" i="1" noProof="0">
                            <a:latin typeface="Calibri" panose="020F0502020204030204" pitchFamily="34" charset="0"/>
                            <a:ea typeface="Calibri" panose="020F0502020204030204" pitchFamily="34" charset="0"/>
                            <a:cs typeface="Calibri" panose="020F0502020204030204" pitchFamily="34" charset="0"/>
                          </a:rPr>
                          <m:t>Margin</m:t>
                        </m:r>
                        <m:r>
                          <a:rPr lang="en-AU" sz="1500" b="0" i="0" noProof="0" smtClean="0">
                            <a:latin typeface="Cambria Math" panose="02040503050406030204" pitchFamily="18" charset="0"/>
                          </a:rPr>
                          <m:t> </m:t>
                        </m:r>
                        <m:r>
                          <a:rPr lang="en-AU" sz="1500" noProof="0">
                            <a:latin typeface="Cambria Math" panose="02040503050406030204" pitchFamily="18" charset="0"/>
                          </a:rPr>
                          <m:t>×</m:t>
                        </m:r>
                        <m:r>
                          <m:rPr>
                            <m:nor/>
                          </m:rPr>
                          <a:rPr lang="en-AU" sz="1500" b="0" i="1" noProof="0" smtClean="0">
                            <a:latin typeface="Calibri" panose="020F0502020204030204" pitchFamily="34" charset="0"/>
                            <a:ea typeface="Calibri" panose="020F0502020204030204" pitchFamily="34" charset="0"/>
                            <a:cs typeface="Calibri" panose="020F0502020204030204" pitchFamily="34" charset="0"/>
                          </a:rPr>
                          <m:t> </m:t>
                        </m:r>
                        <m:r>
                          <m:rPr>
                            <m:nor/>
                          </m:rPr>
                          <a:rPr lang="en-AU" sz="1500" i="1" noProof="0">
                            <a:latin typeface="Calibri" panose="020F0502020204030204" pitchFamily="34" charset="0"/>
                            <a:ea typeface="Calibri" panose="020F0502020204030204" pitchFamily="34" charset="0"/>
                            <a:cs typeface="Calibri" panose="020F0502020204030204" pitchFamily="34" charset="0"/>
                          </a:rPr>
                          <m:t>Retention</m:t>
                        </m:r>
                        <m:r>
                          <m:rPr>
                            <m:nor/>
                          </m:rPr>
                          <a:rPr lang="en-AU" sz="1500" i="1" noProof="0">
                            <a:latin typeface="Calibri" panose="020F0502020204030204" pitchFamily="34" charset="0"/>
                            <a:ea typeface="Calibri" panose="020F0502020204030204" pitchFamily="34" charset="0"/>
                            <a:cs typeface="Calibri" panose="020F0502020204030204" pitchFamily="34" charset="0"/>
                          </a:rPr>
                          <m:t> </m:t>
                        </m:r>
                        <m:r>
                          <m:rPr>
                            <m:nor/>
                          </m:rPr>
                          <a:rPr lang="en-AU" sz="1500" i="1" noProof="0">
                            <a:latin typeface="Calibri" panose="020F0502020204030204" pitchFamily="34" charset="0"/>
                            <a:ea typeface="Calibri" panose="020F0502020204030204" pitchFamily="34" charset="0"/>
                            <a:cs typeface="Calibri" panose="020F0502020204030204" pitchFamily="34" charset="0"/>
                          </a:rPr>
                          <m:t>Rate</m:t>
                        </m:r>
                      </m:num>
                      <m:den>
                        <m:r>
                          <a:rPr lang="en-AU" sz="1500" noProof="0" smtClean="0">
                            <a:latin typeface="Cambria Math" panose="02040503050406030204" pitchFamily="18" charset="0"/>
                          </a:rPr>
                          <m:t>1+</m:t>
                        </m:r>
                        <m:r>
                          <m:rPr>
                            <m:nor/>
                          </m:rPr>
                          <a:rPr lang="en-AU" sz="1500" i="1" noProof="0">
                            <a:latin typeface="Calibri" panose="020F0502020204030204" pitchFamily="34" charset="0"/>
                            <a:ea typeface="Calibri" panose="020F0502020204030204" pitchFamily="34" charset="0"/>
                            <a:cs typeface="Calibri" panose="020F0502020204030204" pitchFamily="34" charset="0"/>
                          </a:rPr>
                          <m:t>Discount</m:t>
                        </m:r>
                        <m:r>
                          <m:rPr>
                            <m:nor/>
                          </m:rPr>
                          <a:rPr lang="en-AU" sz="1500" i="1" noProof="0">
                            <a:latin typeface="Calibri" panose="020F0502020204030204" pitchFamily="34" charset="0"/>
                            <a:ea typeface="Calibri" panose="020F0502020204030204" pitchFamily="34" charset="0"/>
                            <a:cs typeface="Calibri" panose="020F0502020204030204" pitchFamily="34" charset="0"/>
                          </a:rPr>
                          <m:t> </m:t>
                        </m:r>
                        <m:r>
                          <m:rPr>
                            <m:nor/>
                          </m:rPr>
                          <a:rPr lang="en-AU" sz="1500" i="1" noProof="0">
                            <a:latin typeface="Calibri" panose="020F0502020204030204" pitchFamily="34" charset="0"/>
                            <a:ea typeface="Calibri" panose="020F0502020204030204" pitchFamily="34" charset="0"/>
                            <a:cs typeface="Calibri" panose="020F0502020204030204" pitchFamily="34" charset="0"/>
                          </a:rPr>
                          <m:t>Rate</m:t>
                        </m:r>
                        <m:r>
                          <a:rPr lang="en-AU" sz="1500" noProof="0">
                            <a:latin typeface="Cambria Math" panose="02040503050406030204" pitchFamily="18" charset="0"/>
                          </a:rPr>
                          <m:t>−</m:t>
                        </m:r>
                        <m:r>
                          <m:rPr>
                            <m:nor/>
                          </m:rPr>
                          <a:rPr lang="en-AU" sz="1500" i="1" noProof="0">
                            <a:latin typeface="Calibri" panose="020F0502020204030204" pitchFamily="34" charset="0"/>
                            <a:ea typeface="Calibri" panose="020F0502020204030204" pitchFamily="34" charset="0"/>
                            <a:cs typeface="Calibri" panose="020F0502020204030204" pitchFamily="34" charset="0"/>
                          </a:rPr>
                          <m:t>Retention</m:t>
                        </m:r>
                        <m:r>
                          <m:rPr>
                            <m:nor/>
                          </m:rPr>
                          <a:rPr lang="en-AU" sz="1500" i="1" noProof="0">
                            <a:latin typeface="Calibri" panose="020F0502020204030204" pitchFamily="34" charset="0"/>
                            <a:ea typeface="Calibri" panose="020F0502020204030204" pitchFamily="34" charset="0"/>
                            <a:cs typeface="Calibri" panose="020F0502020204030204" pitchFamily="34" charset="0"/>
                          </a:rPr>
                          <m:t> </m:t>
                        </m:r>
                        <m:r>
                          <m:rPr>
                            <m:nor/>
                          </m:rPr>
                          <a:rPr lang="en-AU" sz="1500" i="1" noProof="0">
                            <a:latin typeface="Calibri" panose="020F0502020204030204" pitchFamily="34" charset="0"/>
                            <a:ea typeface="Calibri" panose="020F0502020204030204" pitchFamily="34" charset="0"/>
                            <a:cs typeface="Calibri" panose="020F0502020204030204" pitchFamily="34" charset="0"/>
                          </a:rPr>
                          <m:t>Rate</m:t>
                        </m:r>
                      </m:den>
                    </m:f>
                  </m:oMath>
                </a14:m>
                <a:endParaRPr lang="en-AU" sz="1500" noProof="0">
                  <a:latin typeface="Calibri" panose="020F0502020204030204" pitchFamily="34" charset="0"/>
                  <a:ea typeface="Calibri" panose="020F0502020204030204" pitchFamily="34" charset="0"/>
                  <a:cs typeface="Calibri" panose="020F0502020204030204" pitchFamily="34" charset="0"/>
                </a:endParaRPr>
              </a:p>
              <a:p>
                <a:pPr>
                  <a:lnSpc>
                    <a:spcPct val="90000"/>
                  </a:lnSpc>
                </a:pPr>
                <a:endParaRPr lang="en-AU" sz="1100" noProof="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 name="Content Placeholder 5">
                <a:extLst>
                  <a:ext uri="{FF2B5EF4-FFF2-40B4-BE49-F238E27FC236}">
                    <a16:creationId xmlns:a16="http://schemas.microsoft.com/office/drawing/2014/main" id="{67434B86-8D01-4DE8-6418-E0A70E77A5DB}"/>
                  </a:ext>
                </a:extLst>
              </p:cNvPr>
              <p:cNvSpPr>
                <a:spLocks noGrp="1" noRot="1" noChangeAspect="1" noMove="1" noResize="1" noEditPoints="1" noAdjustHandles="1" noChangeArrowheads="1" noChangeShapeType="1" noTextEdit="1"/>
              </p:cNvSpPr>
              <p:nvPr>
                <p:ph sz="half" idx="1"/>
              </p:nvPr>
            </p:nvSpPr>
            <p:spPr>
              <a:xfrm>
                <a:off x="4871110" y="558799"/>
                <a:ext cx="6861383" cy="5833039"/>
              </a:xfrm>
              <a:blipFill>
                <a:blip r:embed="rId4"/>
                <a:stretch>
                  <a:fillRect l="-533" t="-1672"/>
                </a:stretch>
              </a:blipFill>
            </p:spPr>
            <p:txBody>
              <a:bodyPr/>
              <a:lstStyle/>
              <a:p>
                <a:r>
                  <a:rPr lang="en-US">
                    <a:noFill/>
                  </a:rPr>
                  <a:t> </a:t>
                </a:r>
              </a:p>
            </p:txBody>
          </p:sp>
        </mc:Fallback>
      </mc:AlternateContent>
    </p:spTree>
    <p:extLst>
      <p:ext uri="{BB962C8B-B14F-4D97-AF65-F5344CB8AC3E}">
        <p14:creationId xmlns:p14="http://schemas.microsoft.com/office/powerpoint/2010/main" val="3366865761"/>
      </p:ext>
    </p:extLst>
  </p:cSld>
  <p:clrMapOvr>
    <a:masterClrMapping/>
  </p:clrMapOvr>
  <p:transition spd="slow">
    <p:wipe/>
  </p:transition>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57CFEE-4537-EF24-543F-7CCD6DADECF0}"/>
              </a:ext>
            </a:extLst>
          </p:cNvPr>
          <p:cNvSpPr>
            <a:spLocks noGrp="1"/>
          </p:cNvSpPr>
          <p:nvPr>
            <p:ph type="title"/>
          </p:nvPr>
        </p:nvSpPr>
        <p:spPr>
          <a:xfrm>
            <a:off x="589280" y="741680"/>
            <a:ext cx="3358833" cy="1493520"/>
          </a:xfrm>
        </p:spPr>
        <p:txBody>
          <a:bodyPr/>
          <a:lstStyle/>
          <a:p>
            <a:pPr algn="ctr"/>
            <a:br>
              <a:rPr lang="en-AU" sz="3200" b="1" u="sng" noProof="0">
                <a:solidFill>
                  <a:schemeClr val="accent4">
                    <a:lumMod val="40000"/>
                    <a:lumOff val="60000"/>
                  </a:schemeClr>
                </a:solidFill>
                <a:latin typeface="Calibri" panose="020F0502020204030204" pitchFamily="34" charset="0"/>
                <a:ea typeface="Calibri" panose="020F0502020204030204" pitchFamily="34" charset="0"/>
                <a:cs typeface="Calibri" panose="020F0502020204030204" pitchFamily="34" charset="0"/>
              </a:rPr>
            </a:br>
            <a:br>
              <a:rPr lang="en-AU" b="1" u="sng" noProof="0">
                <a:solidFill>
                  <a:schemeClr val="accent4">
                    <a:lumMod val="40000"/>
                    <a:lumOff val="60000"/>
                  </a:schemeClr>
                </a:solidFill>
                <a:latin typeface="Calibri" panose="020F0502020204030204" pitchFamily="34" charset="0"/>
                <a:ea typeface="Calibri" panose="020F0502020204030204" pitchFamily="34" charset="0"/>
                <a:cs typeface="Calibri" panose="020F0502020204030204" pitchFamily="34" charset="0"/>
              </a:rPr>
            </a:br>
            <a:endParaRPr lang="en-AU" noProof="0">
              <a:latin typeface="Calibri" panose="020F0502020204030204" pitchFamily="34" charset="0"/>
              <a:ea typeface="Calibri" panose="020F0502020204030204" pitchFamily="34" charset="0"/>
              <a:cs typeface="Calibri" panose="020F0502020204030204" pitchFamily="34" charset="0"/>
            </a:endParaRPr>
          </a:p>
        </p:txBody>
      </p:sp>
      <p:sp>
        <p:nvSpPr>
          <p:cNvPr id="8" name="Text Placeholder 7">
            <a:extLst>
              <a:ext uri="{FF2B5EF4-FFF2-40B4-BE49-F238E27FC236}">
                <a16:creationId xmlns:a16="http://schemas.microsoft.com/office/drawing/2014/main" id="{13762D62-F749-B962-58EF-36C46DA9656C}"/>
              </a:ext>
            </a:extLst>
          </p:cNvPr>
          <p:cNvSpPr>
            <a:spLocks noGrp="1"/>
          </p:cNvSpPr>
          <p:nvPr>
            <p:ph type="body" sz="half" idx="2"/>
          </p:nvPr>
        </p:nvSpPr>
        <p:spPr>
          <a:xfrm>
            <a:off x="426720" y="1142999"/>
            <a:ext cx="4368800" cy="690881"/>
          </a:xfrm>
        </p:spPr>
        <p:txBody>
          <a:bodyPr anchor="ctr">
            <a:normAutofit/>
          </a:bodyPr>
          <a:lstStyle/>
          <a:p>
            <a:pPr algn="ctr"/>
            <a:r>
              <a:rPr lang="en-AU" sz="1000" noProof="0">
                <a:solidFill>
                  <a:schemeClr val="bg1"/>
                </a:solidFill>
                <a:latin typeface="Calibri" panose="020F0502020204030204" pitchFamily="34" charset="0"/>
                <a:ea typeface="Calibri" panose="020F0502020204030204" pitchFamily="34" charset="0"/>
                <a:cs typeface="Calibri" panose="020F0502020204030204" pitchFamily="34" charset="0"/>
              </a:rPr>
              <a:t>To provide a quick, high-level view of overall customer value and engagement, helping stakeholders gauge the health of the customer base.</a:t>
            </a:r>
          </a:p>
        </p:txBody>
      </p:sp>
      <p:sp>
        <p:nvSpPr>
          <p:cNvPr id="10" name="TextBox 9">
            <a:extLst>
              <a:ext uri="{FF2B5EF4-FFF2-40B4-BE49-F238E27FC236}">
                <a16:creationId xmlns:a16="http://schemas.microsoft.com/office/drawing/2014/main" id="{D192FB6E-48BF-0804-BD6C-28D55FB2656C}"/>
              </a:ext>
            </a:extLst>
          </p:cNvPr>
          <p:cNvSpPr txBox="1"/>
          <p:nvPr/>
        </p:nvSpPr>
        <p:spPr>
          <a:xfrm>
            <a:off x="589280" y="2218600"/>
            <a:ext cx="4043680" cy="3754874"/>
          </a:xfrm>
          <a:prstGeom prst="rect">
            <a:avLst/>
          </a:prstGeom>
          <a:noFill/>
        </p:spPr>
        <p:txBody>
          <a:bodyPr wrap="square" rtlCol="0" anchor="ctr">
            <a:spAutoFit/>
          </a:bodyPr>
          <a:lstStyle/>
          <a:p>
            <a:pPr marL="171450" indent="-171450">
              <a:buFont typeface="Wingdings" panose="05000000000000000000" pitchFamily="2" charset="2"/>
              <a:buChar char="v"/>
            </a:pPr>
            <a:r>
              <a:rPr lang="en-AU" sz="1400" b="1" noProof="0">
                <a:solidFill>
                  <a:schemeClr val="accent4">
                    <a:lumMod val="60000"/>
                    <a:lumOff val="40000"/>
                  </a:schemeClr>
                </a:solidFill>
                <a:latin typeface="Calibri" panose="020F0502020204030204" pitchFamily="34" charset="0"/>
                <a:ea typeface="Calibri" panose="020F0502020204030204" pitchFamily="34" charset="0"/>
                <a:cs typeface="Calibri" panose="020F0502020204030204" pitchFamily="34" charset="0"/>
              </a:rPr>
              <a:t>Number of Customers</a:t>
            </a:r>
            <a:br>
              <a:rPr lang="en-AU" sz="1200" noProof="0">
                <a:latin typeface="Calibri" panose="020F0502020204030204" pitchFamily="34" charset="0"/>
                <a:ea typeface="Calibri" panose="020F0502020204030204" pitchFamily="34" charset="0"/>
                <a:cs typeface="Calibri" panose="020F0502020204030204" pitchFamily="34" charset="0"/>
              </a:rPr>
            </a:br>
            <a:r>
              <a:rPr lang="en-AU" sz="1200" i="1" noProof="0">
                <a:solidFill>
                  <a:schemeClr val="bg1"/>
                </a:solidFill>
                <a:latin typeface="Calibri" panose="020F0502020204030204" pitchFamily="34" charset="0"/>
                <a:ea typeface="Calibri" panose="020F0502020204030204" pitchFamily="34" charset="0"/>
                <a:cs typeface="Calibri" panose="020F0502020204030204" pitchFamily="34" charset="0"/>
              </a:rPr>
              <a:t>Active, deduplicated</a:t>
            </a:r>
            <a:br>
              <a:rPr lang="en-AU" sz="1200" noProof="0">
                <a:solidFill>
                  <a:schemeClr val="bg1"/>
                </a:solidFill>
                <a:latin typeface="Calibri" panose="020F0502020204030204" pitchFamily="34" charset="0"/>
                <a:ea typeface="Calibri" panose="020F0502020204030204" pitchFamily="34" charset="0"/>
                <a:cs typeface="Calibri" panose="020F0502020204030204" pitchFamily="34" charset="0"/>
              </a:rPr>
            </a:br>
            <a:r>
              <a:rPr lang="en-AU" sz="1200" b="1" noProof="0">
                <a:solidFill>
                  <a:schemeClr val="bg1"/>
                </a:solidFill>
                <a:latin typeface="Calibri" panose="020F0502020204030204" pitchFamily="34" charset="0"/>
                <a:ea typeface="Calibri" panose="020F0502020204030204" pitchFamily="34" charset="0"/>
                <a:cs typeface="Calibri" panose="020F0502020204030204" pitchFamily="34" charset="0"/>
              </a:rPr>
              <a:t>[N]</a:t>
            </a:r>
          </a:p>
          <a:p>
            <a:pPr marL="171450" indent="-171450">
              <a:buFont typeface="Wingdings" panose="05000000000000000000" pitchFamily="2" charset="2"/>
              <a:buChar char="v"/>
            </a:pPr>
            <a:endParaRPr lang="en-AU" sz="1200" b="1" noProof="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171450" indent="-171450">
              <a:buFont typeface="Wingdings" panose="05000000000000000000" pitchFamily="2" charset="2"/>
              <a:buChar char="v"/>
            </a:pPr>
            <a:r>
              <a:rPr lang="en-AU" sz="1400" b="1" noProof="0">
                <a:solidFill>
                  <a:schemeClr val="accent4">
                    <a:lumMod val="60000"/>
                    <a:lumOff val="40000"/>
                  </a:schemeClr>
                </a:solidFill>
                <a:latin typeface="Calibri" panose="020F0502020204030204" pitchFamily="34" charset="0"/>
                <a:ea typeface="Calibri" panose="020F0502020204030204" pitchFamily="34" charset="0"/>
                <a:cs typeface="Calibri" panose="020F0502020204030204" pitchFamily="34" charset="0"/>
              </a:rPr>
              <a:t>E-commerce Total Orders</a:t>
            </a:r>
            <a:br>
              <a:rPr lang="en-AU" sz="1200" noProof="0">
                <a:latin typeface="Calibri" panose="020F0502020204030204" pitchFamily="34" charset="0"/>
                <a:ea typeface="Calibri" panose="020F0502020204030204" pitchFamily="34" charset="0"/>
                <a:cs typeface="Calibri" panose="020F0502020204030204" pitchFamily="34" charset="0"/>
              </a:rPr>
            </a:br>
            <a:r>
              <a:rPr lang="en-AU" sz="1200" i="1" noProof="0">
                <a:solidFill>
                  <a:schemeClr val="bg1"/>
                </a:solidFill>
                <a:latin typeface="Calibri" panose="020F0502020204030204" pitchFamily="34" charset="0"/>
                <a:ea typeface="Calibri" panose="020F0502020204030204" pitchFamily="34" charset="0"/>
                <a:cs typeface="Calibri" panose="020F0502020204030204" pitchFamily="34" charset="0"/>
              </a:rPr>
              <a:t>Across BigCommerce</a:t>
            </a:r>
            <a:br>
              <a:rPr lang="en-AU" sz="1200" noProof="0">
                <a:solidFill>
                  <a:schemeClr val="bg1"/>
                </a:solidFill>
                <a:latin typeface="Calibri" panose="020F0502020204030204" pitchFamily="34" charset="0"/>
                <a:ea typeface="Calibri" panose="020F0502020204030204" pitchFamily="34" charset="0"/>
                <a:cs typeface="Calibri" panose="020F0502020204030204" pitchFamily="34" charset="0"/>
              </a:rPr>
            </a:br>
            <a:r>
              <a:rPr lang="en-AU" sz="1200" b="1" noProof="0">
                <a:solidFill>
                  <a:schemeClr val="bg1"/>
                </a:solidFill>
                <a:latin typeface="Calibri" panose="020F0502020204030204" pitchFamily="34" charset="0"/>
                <a:ea typeface="Calibri" panose="020F0502020204030204" pitchFamily="34" charset="0"/>
                <a:cs typeface="Calibri" panose="020F0502020204030204" pitchFamily="34" charset="0"/>
              </a:rPr>
              <a:t>[Orders]</a:t>
            </a:r>
          </a:p>
          <a:p>
            <a:endParaRPr lang="en-AU" sz="1200" noProof="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171450" indent="-171450">
              <a:buFont typeface="Wingdings" panose="05000000000000000000" pitchFamily="2" charset="2"/>
              <a:buChar char="v"/>
            </a:pPr>
            <a:r>
              <a:rPr lang="en-AU" sz="1200" b="1" noProof="0">
                <a:solidFill>
                  <a:schemeClr val="accent4">
                    <a:lumMod val="60000"/>
                    <a:lumOff val="40000"/>
                  </a:schemeClr>
                </a:solidFill>
                <a:latin typeface="Calibri" panose="020F0502020204030204" pitchFamily="34" charset="0"/>
                <a:ea typeface="Calibri" panose="020F0502020204030204" pitchFamily="34" charset="0"/>
                <a:cs typeface="Calibri" panose="020F0502020204030204" pitchFamily="34" charset="0"/>
              </a:rPr>
              <a:t> </a:t>
            </a:r>
            <a:r>
              <a:rPr lang="en-AU" sz="1400" b="1" noProof="0">
                <a:solidFill>
                  <a:schemeClr val="accent4">
                    <a:lumMod val="60000"/>
                    <a:lumOff val="40000"/>
                  </a:schemeClr>
                </a:solidFill>
                <a:latin typeface="Calibri" panose="020F0502020204030204" pitchFamily="34" charset="0"/>
                <a:ea typeface="Calibri" panose="020F0502020204030204" pitchFamily="34" charset="0"/>
                <a:cs typeface="Calibri" panose="020F0502020204030204" pitchFamily="34" charset="0"/>
              </a:rPr>
              <a:t>CLV</a:t>
            </a:r>
            <a:br>
              <a:rPr lang="en-AU" sz="1200" noProof="0">
                <a:latin typeface="Calibri" panose="020F0502020204030204" pitchFamily="34" charset="0"/>
                <a:ea typeface="Calibri" panose="020F0502020204030204" pitchFamily="34" charset="0"/>
                <a:cs typeface="Calibri" panose="020F0502020204030204" pitchFamily="34" charset="0"/>
              </a:rPr>
            </a:br>
            <a:r>
              <a:rPr lang="en-AU" sz="1200" i="1" noProof="0">
                <a:solidFill>
                  <a:schemeClr val="bg1"/>
                </a:solidFill>
                <a:latin typeface="Calibri" panose="020F0502020204030204" pitchFamily="34" charset="0"/>
                <a:ea typeface="Calibri" panose="020F0502020204030204" pitchFamily="34" charset="0"/>
                <a:cs typeface="Calibri" panose="020F0502020204030204" pitchFamily="34" charset="0"/>
              </a:rPr>
              <a:t>Historical + Projected</a:t>
            </a:r>
            <a:br>
              <a:rPr lang="en-AU" sz="1200" noProof="0">
                <a:solidFill>
                  <a:schemeClr val="bg1"/>
                </a:solidFill>
                <a:latin typeface="Calibri" panose="020F0502020204030204" pitchFamily="34" charset="0"/>
                <a:ea typeface="Calibri" panose="020F0502020204030204" pitchFamily="34" charset="0"/>
                <a:cs typeface="Calibri" panose="020F0502020204030204" pitchFamily="34" charset="0"/>
              </a:rPr>
            </a:br>
            <a:r>
              <a:rPr lang="en-AU" sz="1200" b="1" noProof="0">
                <a:solidFill>
                  <a:schemeClr val="bg1"/>
                </a:solidFill>
                <a:latin typeface="Calibri" panose="020F0502020204030204" pitchFamily="34" charset="0"/>
                <a:ea typeface="Calibri" panose="020F0502020204030204" pitchFamily="34" charset="0"/>
                <a:cs typeface="Calibri" panose="020F0502020204030204" pitchFamily="34" charset="0"/>
              </a:rPr>
              <a:t>$[Total]</a:t>
            </a:r>
          </a:p>
          <a:p>
            <a:pPr marL="171450" indent="-171450">
              <a:buFont typeface="Wingdings" panose="05000000000000000000" pitchFamily="2" charset="2"/>
              <a:buChar char="v"/>
            </a:pPr>
            <a:endParaRPr lang="en-AU" sz="1200" noProof="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171450" indent="-171450">
              <a:buFont typeface="Wingdings" panose="05000000000000000000" pitchFamily="2" charset="2"/>
              <a:buChar char="v"/>
            </a:pPr>
            <a:r>
              <a:rPr lang="en-AU" sz="1400" b="1" noProof="0">
                <a:solidFill>
                  <a:schemeClr val="accent4">
                    <a:lumMod val="60000"/>
                    <a:lumOff val="40000"/>
                  </a:schemeClr>
                </a:solidFill>
                <a:latin typeface="Calibri" panose="020F0502020204030204" pitchFamily="34" charset="0"/>
                <a:ea typeface="Calibri" panose="020F0502020204030204" pitchFamily="34" charset="0"/>
                <a:cs typeface="Calibri" panose="020F0502020204030204" pitchFamily="34" charset="0"/>
              </a:rPr>
              <a:t>Average CLV per Customer</a:t>
            </a:r>
            <a:br>
              <a:rPr lang="en-AU" sz="1200" noProof="0">
                <a:latin typeface="Calibri" panose="020F0502020204030204" pitchFamily="34" charset="0"/>
                <a:ea typeface="Calibri" panose="020F0502020204030204" pitchFamily="34" charset="0"/>
                <a:cs typeface="Calibri" panose="020F0502020204030204" pitchFamily="34" charset="0"/>
              </a:rPr>
            </a:br>
            <a:r>
              <a:rPr lang="en-AU" sz="1200" i="1" noProof="0">
                <a:solidFill>
                  <a:schemeClr val="bg1"/>
                </a:solidFill>
                <a:latin typeface="Calibri" panose="020F0502020204030204" pitchFamily="34" charset="0"/>
                <a:ea typeface="Calibri" panose="020F0502020204030204" pitchFamily="34" charset="0"/>
                <a:cs typeface="Calibri" panose="020F0502020204030204" pitchFamily="34" charset="0"/>
              </a:rPr>
              <a:t>Benchmark vs acquisition cost</a:t>
            </a:r>
            <a:br>
              <a:rPr lang="en-AU" sz="1200" noProof="0">
                <a:solidFill>
                  <a:schemeClr val="bg1"/>
                </a:solidFill>
                <a:latin typeface="Calibri" panose="020F0502020204030204" pitchFamily="34" charset="0"/>
                <a:ea typeface="Calibri" panose="020F0502020204030204" pitchFamily="34" charset="0"/>
                <a:cs typeface="Calibri" panose="020F0502020204030204" pitchFamily="34" charset="0"/>
              </a:rPr>
            </a:br>
            <a:r>
              <a:rPr lang="en-AU" sz="1200" b="1" noProof="0">
                <a:solidFill>
                  <a:schemeClr val="bg1"/>
                </a:solidFill>
                <a:latin typeface="Calibri" panose="020F0502020204030204" pitchFamily="34" charset="0"/>
                <a:ea typeface="Calibri" panose="020F0502020204030204" pitchFamily="34" charset="0"/>
                <a:cs typeface="Calibri" panose="020F0502020204030204" pitchFamily="34" charset="0"/>
              </a:rPr>
              <a:t>$[Avg]</a:t>
            </a:r>
          </a:p>
          <a:p>
            <a:pPr marL="171450" indent="-171450">
              <a:buFont typeface="Wingdings" panose="05000000000000000000" pitchFamily="2" charset="2"/>
              <a:buChar char="v"/>
            </a:pPr>
            <a:endParaRPr lang="en-AU" sz="1200" noProof="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171450" indent="-171450">
              <a:buFont typeface="Wingdings" panose="05000000000000000000" pitchFamily="2" charset="2"/>
              <a:buChar char="v"/>
            </a:pPr>
            <a:r>
              <a:rPr lang="en-AU" sz="1400" b="1" noProof="0">
                <a:solidFill>
                  <a:schemeClr val="accent4">
                    <a:lumMod val="60000"/>
                    <a:lumOff val="40000"/>
                  </a:schemeClr>
                </a:solidFill>
                <a:latin typeface="Calibri" panose="020F0502020204030204" pitchFamily="34" charset="0"/>
                <a:ea typeface="Calibri" panose="020F0502020204030204" pitchFamily="34" charset="0"/>
                <a:cs typeface="Calibri" panose="020F0502020204030204" pitchFamily="34" charset="0"/>
              </a:rPr>
              <a:t>Engagement Count</a:t>
            </a:r>
            <a:br>
              <a:rPr lang="en-AU" sz="1200" noProof="0">
                <a:latin typeface="Calibri" panose="020F0502020204030204" pitchFamily="34" charset="0"/>
                <a:ea typeface="Calibri" panose="020F0502020204030204" pitchFamily="34" charset="0"/>
                <a:cs typeface="Calibri" panose="020F0502020204030204" pitchFamily="34" charset="0"/>
              </a:rPr>
            </a:br>
            <a:r>
              <a:rPr lang="en-AU" sz="1200" i="1" noProof="0">
                <a:solidFill>
                  <a:schemeClr val="bg1"/>
                </a:solidFill>
                <a:latin typeface="Calibri" panose="020F0502020204030204" pitchFamily="34" charset="0"/>
                <a:ea typeface="Calibri" panose="020F0502020204030204" pitchFamily="34" charset="0"/>
                <a:cs typeface="Calibri" panose="020F0502020204030204" pitchFamily="34" charset="0"/>
              </a:rPr>
              <a:t>Total fan interactions</a:t>
            </a:r>
            <a:br>
              <a:rPr lang="en-AU" sz="1200" noProof="0">
                <a:solidFill>
                  <a:schemeClr val="bg1"/>
                </a:solidFill>
                <a:latin typeface="Calibri" panose="020F0502020204030204" pitchFamily="34" charset="0"/>
                <a:ea typeface="Calibri" panose="020F0502020204030204" pitchFamily="34" charset="0"/>
                <a:cs typeface="Calibri" panose="020F0502020204030204" pitchFamily="34" charset="0"/>
              </a:rPr>
            </a:br>
            <a:r>
              <a:rPr lang="en-AU" sz="1200" b="1" noProof="0">
                <a:solidFill>
                  <a:schemeClr val="bg1"/>
                </a:solidFill>
                <a:latin typeface="Calibri" panose="020F0502020204030204" pitchFamily="34" charset="0"/>
                <a:ea typeface="Calibri" panose="020F0502020204030204" pitchFamily="34" charset="0"/>
                <a:cs typeface="Calibri" panose="020F0502020204030204" pitchFamily="34" charset="0"/>
              </a:rPr>
              <a:t>[Count]</a:t>
            </a:r>
            <a:endParaRPr lang="en-AU" sz="1200" noProof="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31FA47ED-EEEB-7CB7-8AB4-B4F241A1096B}"/>
              </a:ext>
            </a:extLst>
          </p:cNvPr>
          <p:cNvSpPr txBox="1"/>
          <p:nvPr/>
        </p:nvSpPr>
        <p:spPr>
          <a:xfrm>
            <a:off x="497840" y="544165"/>
            <a:ext cx="4135120" cy="677108"/>
          </a:xfrm>
          <a:prstGeom prst="rect">
            <a:avLst/>
          </a:prstGeom>
          <a:noFill/>
        </p:spPr>
        <p:txBody>
          <a:bodyPr wrap="square" anchor="ctr">
            <a:spAutoFit/>
          </a:bodyPr>
          <a:lstStyle/>
          <a:p>
            <a:pPr algn="ctr"/>
            <a:r>
              <a:rPr kumimoji="0" lang="en-AU" sz="2400" b="1" i="0" strike="noStrike" kern="1200" cap="none" spc="0" normalizeH="0" baseline="0" noProof="0">
                <a:ln>
                  <a:noFill/>
                </a:ln>
                <a:solidFill>
                  <a:schemeClr val="bg1"/>
                </a:solidFill>
                <a:effectLst/>
                <a:uLnTx/>
                <a:uFillTx/>
                <a:latin typeface="Calibri" panose="020F0502020204030204" pitchFamily="34" charset="0"/>
                <a:ea typeface="Calibri" panose="020F0502020204030204" pitchFamily="34" charset="0"/>
                <a:cs typeface="Calibri" panose="020F0502020204030204" pitchFamily="34" charset="0"/>
              </a:rPr>
              <a:t>Key Parameter Index</a:t>
            </a:r>
            <a:br>
              <a:rPr kumimoji="0" lang="en-AU" sz="3200" b="1" i="0" strike="noStrike" kern="1200" cap="none" spc="0" normalizeH="0" baseline="0" noProof="0">
                <a:ln>
                  <a:noFill/>
                </a:ln>
                <a:solidFill>
                  <a:schemeClr val="bg1"/>
                </a:solidFill>
                <a:effectLst/>
                <a:uLnTx/>
                <a:uFillTx/>
                <a:latin typeface="Calibri" panose="020F0502020204030204" pitchFamily="34" charset="0"/>
                <a:ea typeface="Calibri" panose="020F0502020204030204" pitchFamily="34" charset="0"/>
                <a:cs typeface="Calibri" panose="020F0502020204030204" pitchFamily="34" charset="0"/>
              </a:rPr>
            </a:br>
            <a:r>
              <a:rPr kumimoji="0" lang="en-AU" sz="1400" b="0" i="0" strike="noStrike" kern="1200" cap="none" spc="0" normalizeH="0" baseline="0" noProof="0">
                <a:ln>
                  <a:noFill/>
                </a:ln>
                <a:solidFill>
                  <a:schemeClr val="bg1"/>
                </a:solidFill>
                <a:effectLst/>
                <a:uLnTx/>
                <a:uFillTx/>
                <a:latin typeface="Calibri" panose="020F0502020204030204" pitchFamily="34" charset="0"/>
                <a:ea typeface="Calibri" panose="020F0502020204030204" pitchFamily="34" charset="0"/>
                <a:cs typeface="Calibri" panose="020F0502020204030204" pitchFamily="34" charset="0"/>
              </a:rPr>
              <a:t>Customer Value Snapshot</a:t>
            </a:r>
            <a:endParaRPr lang="en-AU" noProof="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9" name="Picture 8" descr="A screenshot of a graph">
            <a:extLst>
              <a:ext uri="{FF2B5EF4-FFF2-40B4-BE49-F238E27FC236}">
                <a16:creationId xmlns:a16="http://schemas.microsoft.com/office/drawing/2014/main" id="{0303189D-5DD2-4B4B-61A4-A00E6D6FB7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1171" y="1971471"/>
            <a:ext cx="6887536" cy="29150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599258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DDA34B8A-FA8D-4E16-AD72-7B60B1C258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30" name="Rectangle 29">
              <a:extLst>
                <a:ext uri="{FF2B5EF4-FFF2-40B4-BE49-F238E27FC236}">
                  <a16:creationId xmlns:a16="http://schemas.microsoft.com/office/drawing/2014/main" id="{6885D229-60DD-4D71-8181-10E781C149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sp>
          <p:nvSpPr>
            <p:cNvPr id="31" name="Oval 30">
              <a:extLst>
                <a:ext uri="{FF2B5EF4-FFF2-40B4-BE49-F238E27FC236}">
                  <a16:creationId xmlns:a16="http://schemas.microsoft.com/office/drawing/2014/main" id="{0B0DAA45-BE66-4F0C-93A6-519D94107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sp>
          <p:nvSpPr>
            <p:cNvPr id="32" name="Oval 31">
              <a:extLst>
                <a:ext uri="{FF2B5EF4-FFF2-40B4-BE49-F238E27FC236}">
                  <a16:creationId xmlns:a16="http://schemas.microsoft.com/office/drawing/2014/main" id="{EF449A3D-A43B-4688-BD89-35734D0072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sp>
          <p:nvSpPr>
            <p:cNvPr id="33" name="Oval 32">
              <a:extLst>
                <a:ext uri="{FF2B5EF4-FFF2-40B4-BE49-F238E27FC236}">
                  <a16:creationId xmlns:a16="http://schemas.microsoft.com/office/drawing/2014/main" id="{74E9975C-AF3D-48EF-B3F0-112A01A38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sp>
          <p:nvSpPr>
            <p:cNvPr id="34" name="Oval 33">
              <a:extLst>
                <a:ext uri="{FF2B5EF4-FFF2-40B4-BE49-F238E27FC236}">
                  <a16:creationId xmlns:a16="http://schemas.microsoft.com/office/drawing/2014/main" id="{CF00A076-2FEA-40D1-8F85-842481797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sp>
          <p:nvSpPr>
            <p:cNvPr id="35" name="Oval 34">
              <a:extLst>
                <a:ext uri="{FF2B5EF4-FFF2-40B4-BE49-F238E27FC236}">
                  <a16:creationId xmlns:a16="http://schemas.microsoft.com/office/drawing/2014/main" id="{A2E68741-6133-4CAA-BF3C-F0E6CF40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sp>
          <p:nvSpPr>
            <p:cNvPr id="36" name="Freeform 5">
              <a:extLst>
                <a:ext uri="{FF2B5EF4-FFF2-40B4-BE49-F238E27FC236}">
                  <a16:creationId xmlns:a16="http://schemas.microsoft.com/office/drawing/2014/main" id="{76C01C64-4A8B-42FC-93C5-2D6A3EBAB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sp>
          <p:nvSpPr>
            <p:cNvPr id="37" name="Freeform 5">
              <a:extLst>
                <a:ext uri="{FF2B5EF4-FFF2-40B4-BE49-F238E27FC236}">
                  <a16:creationId xmlns:a16="http://schemas.microsoft.com/office/drawing/2014/main" id="{D969AEA9-C1EE-45E1-9964-D9705492E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sp>
          <p:nvSpPr>
            <p:cNvPr id="38" name="Freeform 5">
              <a:extLst>
                <a:ext uri="{FF2B5EF4-FFF2-40B4-BE49-F238E27FC236}">
                  <a16:creationId xmlns:a16="http://schemas.microsoft.com/office/drawing/2014/main" id="{4845E67D-4E5B-44B3-AB74-5E95C839E7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grpSp>
      <p:sp>
        <p:nvSpPr>
          <p:cNvPr id="40" name="Rectangle 39">
            <a:extLst>
              <a:ext uri="{FF2B5EF4-FFF2-40B4-BE49-F238E27FC236}">
                <a16:creationId xmlns:a16="http://schemas.microsoft.com/office/drawing/2014/main" id="{079CE317-680B-449C-A423-71C1FE069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AU" noProof="0"/>
          </a:p>
        </p:txBody>
      </p:sp>
      <p:sp>
        <p:nvSpPr>
          <p:cNvPr id="42" name="Rectangle 41">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AU" noProof="0"/>
          </a:p>
        </p:txBody>
      </p:sp>
      <p:sp>
        <p:nvSpPr>
          <p:cNvPr id="44" name="Freeform: Shape 43">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AU" noProof="0"/>
          </a:p>
        </p:txBody>
      </p:sp>
      <p:sp>
        <p:nvSpPr>
          <p:cNvPr id="46"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AU" noProof="0"/>
          </a:p>
        </p:txBody>
      </p:sp>
      <p:sp>
        <p:nvSpPr>
          <p:cNvPr id="5" name="Title 4">
            <a:extLst>
              <a:ext uri="{FF2B5EF4-FFF2-40B4-BE49-F238E27FC236}">
                <a16:creationId xmlns:a16="http://schemas.microsoft.com/office/drawing/2014/main" id="{14F7CD9C-FAD4-7CF3-DD8E-06A44C5E2934}"/>
              </a:ext>
            </a:extLst>
          </p:cNvPr>
          <p:cNvSpPr>
            <a:spLocks noGrp="1"/>
          </p:cNvSpPr>
          <p:nvPr>
            <p:ph type="title"/>
          </p:nvPr>
        </p:nvSpPr>
        <p:spPr>
          <a:xfrm>
            <a:off x="763588" y="692718"/>
            <a:ext cx="3740497" cy="1428182"/>
          </a:xfrm>
        </p:spPr>
        <p:txBody>
          <a:bodyPr vert="horz" lIns="91440" tIns="45720" rIns="91440" bIns="45720" rtlCol="0" anchor="ctr">
            <a:normAutofit/>
          </a:bodyPr>
          <a:lstStyle/>
          <a:p>
            <a:pPr algn="ctr">
              <a:lnSpc>
                <a:spcPct val="90000"/>
              </a:lnSpc>
            </a:pPr>
            <a:r>
              <a:rPr lang="en-AU" b="1" i="0" kern="1200" noProof="0">
                <a:solidFill>
                  <a:srgbClr val="EBEBEB"/>
                </a:solidFill>
                <a:latin typeface="Calibri" panose="020F0502020204030204" pitchFamily="34" charset="0"/>
                <a:ea typeface="Calibri" panose="020F0502020204030204" pitchFamily="34" charset="0"/>
                <a:cs typeface="Calibri" panose="020F0502020204030204" pitchFamily="34" charset="0"/>
              </a:rPr>
              <a:t>CLV Overview Dashboard</a:t>
            </a:r>
            <a:br>
              <a:rPr lang="en-AU" b="0" i="0" kern="1200" noProof="0">
                <a:solidFill>
                  <a:srgbClr val="EBEBEB"/>
                </a:solidFill>
                <a:latin typeface="Calibri" panose="020F0502020204030204" pitchFamily="34" charset="0"/>
                <a:ea typeface="Calibri" panose="020F0502020204030204" pitchFamily="34" charset="0"/>
                <a:cs typeface="Calibri" panose="020F0502020204030204" pitchFamily="34" charset="0"/>
              </a:rPr>
            </a:br>
            <a:r>
              <a:rPr lang="en-AU" sz="1000" noProof="0">
                <a:solidFill>
                  <a:schemeClr val="tx1"/>
                </a:solidFill>
                <a:latin typeface="Calibri" panose="020F0502020204030204" pitchFamily="34" charset="0"/>
                <a:ea typeface="Calibri" panose="020F0502020204030204" pitchFamily="34" charset="0"/>
                <a:cs typeface="Calibri" panose="020F0502020204030204" pitchFamily="34" charset="0"/>
              </a:rPr>
              <a:t>To reveal revenue concentration and identify high-value customer segments for strategic targeting.</a:t>
            </a:r>
            <a:r>
              <a:rPr lang="en-AU" sz="1000" noProof="0">
                <a:latin typeface="Calibri" panose="020F0502020204030204" pitchFamily="34" charset="0"/>
                <a:ea typeface="Calibri" panose="020F0502020204030204" pitchFamily="34" charset="0"/>
                <a:cs typeface="Calibri" panose="020F0502020204030204" pitchFamily="34" charset="0"/>
              </a:rPr>
              <a:t>.</a:t>
            </a:r>
            <a:endParaRPr lang="en-AU" sz="1000" b="0" i="0" kern="1200" noProof="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48" name="Rectangle 47">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AU" noProof="0"/>
          </a:p>
        </p:txBody>
      </p:sp>
      <p:sp>
        <p:nvSpPr>
          <p:cNvPr id="50" name="Oval 49">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noProof="0"/>
          </a:p>
        </p:txBody>
      </p:sp>
      <p:sp>
        <p:nvSpPr>
          <p:cNvPr id="52" name="Oval 51">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noProof="0"/>
          </a:p>
        </p:txBody>
      </p:sp>
      <p:sp>
        <p:nvSpPr>
          <p:cNvPr id="8" name="Rectangle 1">
            <a:extLst>
              <a:ext uri="{FF2B5EF4-FFF2-40B4-BE49-F238E27FC236}">
                <a16:creationId xmlns:a16="http://schemas.microsoft.com/office/drawing/2014/main" id="{6D4E28C0-3AA6-CEA4-A219-D250399017BF}"/>
              </a:ext>
            </a:extLst>
          </p:cNvPr>
          <p:cNvSpPr>
            <a:spLocks noGrp="1" noChangeArrowheads="1"/>
          </p:cNvSpPr>
          <p:nvPr>
            <p:ph type="body" sz="half" idx="2"/>
          </p:nvPr>
        </p:nvSpPr>
        <p:spPr bwMode="auto">
          <a:xfrm>
            <a:off x="548640" y="2021840"/>
            <a:ext cx="4044123" cy="424688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r>
              <a:rPr lang="en-AU" b="1" noProof="0">
                <a:solidFill>
                  <a:schemeClr val="accent5">
                    <a:lumMod val="60000"/>
                    <a:lumOff val="40000"/>
                  </a:schemeClr>
                </a:solidFill>
                <a:latin typeface="Calibri" panose="020F0502020204030204" pitchFamily="34" charset="0"/>
                <a:ea typeface="Calibri" panose="020F0502020204030204" pitchFamily="34" charset="0"/>
                <a:cs typeface="Calibri" panose="020F0502020204030204" pitchFamily="34" charset="0"/>
              </a:rPr>
              <a:t>Interpretation Guide:</a:t>
            </a:r>
          </a:p>
          <a:p>
            <a:pPr marL="285750" lvl="1" indent="-285750">
              <a:lnSpc>
                <a:spcPct val="120000"/>
              </a:lnSpc>
              <a:buFont typeface="Wingdings" panose="05000000000000000000" pitchFamily="2" charset="2"/>
              <a:buChar char="v"/>
            </a:pPr>
            <a:r>
              <a:rPr lang="en-AU" b="1" noProof="0">
                <a:solidFill>
                  <a:schemeClr val="accent4">
                    <a:lumMod val="60000"/>
                    <a:lumOff val="40000"/>
                  </a:schemeClr>
                </a:solidFill>
                <a:latin typeface="Calibri" panose="020F0502020204030204" pitchFamily="34" charset="0"/>
                <a:ea typeface="Calibri" panose="020F0502020204030204" pitchFamily="34" charset="0"/>
                <a:cs typeface="Calibri" panose="020F0502020204030204" pitchFamily="34" charset="0"/>
              </a:rPr>
              <a:t>CLV Distribution (Historical &amp; Projected):</a:t>
            </a:r>
            <a:r>
              <a:rPr lang="en-AU" noProof="0">
                <a:solidFill>
                  <a:schemeClr val="accent4">
                    <a:lumMod val="60000"/>
                    <a:lumOff val="40000"/>
                  </a:schemeClr>
                </a:solidFill>
                <a:latin typeface="Calibri" panose="020F0502020204030204" pitchFamily="34" charset="0"/>
                <a:ea typeface="Calibri" panose="020F0502020204030204" pitchFamily="34" charset="0"/>
                <a:cs typeface="Calibri" panose="020F0502020204030204" pitchFamily="34" charset="0"/>
              </a:rPr>
              <a:t> </a:t>
            </a:r>
            <a:r>
              <a:rPr lang="en-AU" noProof="0">
                <a:latin typeface="Calibri" panose="020F0502020204030204" pitchFamily="34" charset="0"/>
                <a:ea typeface="Calibri" panose="020F0502020204030204" pitchFamily="34" charset="0"/>
                <a:cs typeface="Calibri" panose="020F0502020204030204" pitchFamily="34" charset="0"/>
              </a:rPr>
              <a:t>Shows how customer value varies across the base, highlighting the skew between past performance and future potential. </a:t>
            </a:r>
          </a:p>
          <a:p>
            <a:pPr marL="285750" lvl="1" indent="-285750">
              <a:lnSpc>
                <a:spcPct val="120000"/>
              </a:lnSpc>
              <a:buFont typeface="Wingdings" panose="05000000000000000000" pitchFamily="2" charset="2"/>
              <a:buChar char="v"/>
            </a:pPr>
            <a:r>
              <a:rPr lang="en-AU" b="1" noProof="0">
                <a:solidFill>
                  <a:schemeClr val="accent4">
                    <a:lumMod val="60000"/>
                    <a:lumOff val="40000"/>
                  </a:schemeClr>
                </a:solidFill>
                <a:latin typeface="Calibri" panose="020F0502020204030204" pitchFamily="34" charset="0"/>
                <a:ea typeface="Calibri" panose="020F0502020204030204" pitchFamily="34" charset="0"/>
                <a:cs typeface="Calibri" panose="020F0502020204030204" pitchFamily="34" charset="0"/>
              </a:rPr>
              <a:t>Pareto Curve</a:t>
            </a:r>
            <a:r>
              <a:rPr lang="en-AU" noProof="0">
                <a:latin typeface="Calibri" panose="020F0502020204030204" pitchFamily="34" charset="0"/>
                <a:ea typeface="Calibri" panose="020F0502020204030204" pitchFamily="34" charset="0"/>
                <a:cs typeface="Calibri" panose="020F0502020204030204" pitchFamily="34" charset="0"/>
              </a:rPr>
              <a:t> Confirms the 80/20 rule as top 20% of customers  contribute ~70% of revenue</a:t>
            </a:r>
          </a:p>
          <a:p>
            <a:pPr marL="285750" lvl="1" indent="-285750">
              <a:lnSpc>
                <a:spcPct val="120000"/>
              </a:lnSpc>
              <a:buFont typeface="Wingdings" panose="05000000000000000000" pitchFamily="2" charset="2"/>
              <a:buChar char="v"/>
            </a:pPr>
            <a:r>
              <a:rPr lang="en-AU" b="1" noProof="0">
                <a:solidFill>
                  <a:schemeClr val="accent4">
                    <a:lumMod val="60000"/>
                    <a:lumOff val="40000"/>
                  </a:schemeClr>
                </a:solidFill>
                <a:latin typeface="Calibri" panose="020F0502020204030204" pitchFamily="34" charset="0"/>
                <a:ea typeface="Calibri" panose="020F0502020204030204" pitchFamily="34" charset="0"/>
                <a:cs typeface="Calibri" panose="020F0502020204030204" pitchFamily="34" charset="0"/>
              </a:rPr>
              <a:t>CLV Band Segmentation</a:t>
            </a:r>
            <a:r>
              <a:rPr lang="en-AU" noProof="0">
                <a:solidFill>
                  <a:schemeClr val="accent4">
                    <a:lumMod val="60000"/>
                    <a:lumOff val="40000"/>
                  </a:schemeClr>
                </a:solidFill>
                <a:latin typeface="Calibri" panose="020F0502020204030204" pitchFamily="34" charset="0"/>
                <a:ea typeface="Calibri" panose="020F0502020204030204" pitchFamily="34" charset="0"/>
                <a:cs typeface="Calibri" panose="020F0502020204030204" pitchFamily="34" charset="0"/>
              </a:rPr>
              <a:t>: </a:t>
            </a:r>
            <a:r>
              <a:rPr lang="en-AU" noProof="0">
                <a:latin typeface="Calibri" panose="020F0502020204030204" pitchFamily="34" charset="0"/>
                <a:ea typeface="Calibri" panose="020F0502020204030204" pitchFamily="34" charset="0"/>
                <a:cs typeface="Calibri" panose="020F0502020204030204" pitchFamily="34" charset="0"/>
              </a:rPr>
              <a:t>Segments customers into actionable tiers (Top 10%, 10–20%, etc.) for campaign prioritization. </a:t>
            </a:r>
          </a:p>
          <a:p>
            <a:r>
              <a:rPr lang="en-AU" b="1" noProof="0">
                <a:solidFill>
                  <a:schemeClr val="accent5">
                    <a:lumMod val="60000"/>
                    <a:lumOff val="40000"/>
                  </a:schemeClr>
                </a:solidFill>
                <a:latin typeface="Calibri" panose="020F0502020204030204" pitchFamily="34" charset="0"/>
                <a:ea typeface="Calibri" panose="020F0502020204030204" pitchFamily="34" charset="0"/>
                <a:cs typeface="Calibri" panose="020F0502020204030204" pitchFamily="34" charset="0"/>
              </a:rPr>
              <a:t>Business Use:</a:t>
            </a:r>
          </a:p>
          <a:p>
            <a:pPr marL="285750" lvl="1" indent="-285750">
              <a:buFont typeface="Wingdings" panose="05000000000000000000" pitchFamily="2" charset="2"/>
              <a:buChar char="v"/>
            </a:pPr>
            <a:r>
              <a:rPr lang="en-AU" noProof="0">
                <a:latin typeface="Calibri" panose="020F0502020204030204" pitchFamily="34" charset="0"/>
                <a:ea typeface="Calibri" panose="020F0502020204030204" pitchFamily="34" charset="0"/>
                <a:cs typeface="Calibri" panose="020F0502020204030204" pitchFamily="34" charset="0"/>
              </a:rPr>
              <a:t>Focus retention campaigns on top CLV bands.</a:t>
            </a:r>
          </a:p>
          <a:p>
            <a:pPr marL="285750" lvl="1" indent="-285750">
              <a:buFont typeface="Wingdings" panose="05000000000000000000" pitchFamily="2" charset="2"/>
              <a:buChar char="v"/>
            </a:pPr>
            <a:r>
              <a:rPr lang="en-AU" noProof="0">
                <a:latin typeface="Calibri" panose="020F0502020204030204" pitchFamily="34" charset="0"/>
                <a:ea typeface="Calibri" panose="020F0502020204030204" pitchFamily="34" charset="0"/>
                <a:cs typeface="Calibri" panose="020F0502020204030204" pitchFamily="34" charset="0"/>
              </a:rPr>
              <a:t>Identify mid-tier customers for upsell opportunities.</a:t>
            </a:r>
          </a:p>
          <a:p>
            <a:pPr marL="285750" lvl="1" indent="-285750">
              <a:buFont typeface="Wingdings" panose="05000000000000000000" pitchFamily="2" charset="2"/>
              <a:buChar char="v"/>
            </a:pPr>
            <a:r>
              <a:rPr lang="en-AU" noProof="0">
                <a:latin typeface="Calibri" panose="020F0502020204030204" pitchFamily="34" charset="0"/>
                <a:ea typeface="Calibri" panose="020F0502020204030204" pitchFamily="34" charset="0"/>
                <a:cs typeface="Calibri" panose="020F0502020204030204" pitchFamily="34" charset="0"/>
              </a:rPr>
              <a:t>Validate revenue concentration for resource allocation.</a:t>
            </a:r>
          </a:p>
          <a:p>
            <a:pPr marL="285750" indent="-285750">
              <a:buFont typeface="Wingdings" panose="05000000000000000000" pitchFamily="2" charset="2"/>
              <a:buChar char="v"/>
            </a:pPr>
            <a:endParaRPr lang="en-AU" sz="1600" noProof="0">
              <a:latin typeface="Calibri" panose="020F0502020204030204" pitchFamily="34" charset="0"/>
              <a:ea typeface="Calibri" panose="020F0502020204030204" pitchFamily="34" charset="0"/>
              <a:cs typeface="Calibri" panose="020F0502020204030204" pitchFamily="34" charset="0"/>
            </a:endParaRPr>
          </a:p>
        </p:txBody>
      </p:sp>
      <p:sp>
        <p:nvSpPr>
          <p:cNvPr id="54"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AU" noProof="0"/>
          </a:p>
        </p:txBody>
      </p:sp>
      <p:pic>
        <p:nvPicPr>
          <p:cNvPr id="17" name="Picture 16" descr="A graph of a diagram&#10;&#10;AI-generated content may be incorrect.">
            <a:extLst>
              <a:ext uri="{FF2B5EF4-FFF2-40B4-BE49-F238E27FC236}">
                <a16:creationId xmlns:a16="http://schemas.microsoft.com/office/drawing/2014/main" id="{38BE080F-C43A-A914-BCD4-3CB20163A6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70885" y="907902"/>
            <a:ext cx="6732890" cy="504966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59925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DDA34B8A-FA8D-4E16-AD72-7B60B1C258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7" name="Rectangle 16">
              <a:extLst>
                <a:ext uri="{FF2B5EF4-FFF2-40B4-BE49-F238E27FC236}">
                  <a16:creationId xmlns:a16="http://schemas.microsoft.com/office/drawing/2014/main" id="{6885D229-60DD-4D71-8181-10E781C149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sp>
          <p:nvSpPr>
            <p:cNvPr id="18" name="Oval 17">
              <a:extLst>
                <a:ext uri="{FF2B5EF4-FFF2-40B4-BE49-F238E27FC236}">
                  <a16:creationId xmlns:a16="http://schemas.microsoft.com/office/drawing/2014/main" id="{0B0DAA45-BE66-4F0C-93A6-519D94107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sp>
          <p:nvSpPr>
            <p:cNvPr id="19" name="Oval 18">
              <a:extLst>
                <a:ext uri="{FF2B5EF4-FFF2-40B4-BE49-F238E27FC236}">
                  <a16:creationId xmlns:a16="http://schemas.microsoft.com/office/drawing/2014/main" id="{EF449A3D-A43B-4688-BD89-35734D0072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sp>
          <p:nvSpPr>
            <p:cNvPr id="20" name="Oval 19">
              <a:extLst>
                <a:ext uri="{FF2B5EF4-FFF2-40B4-BE49-F238E27FC236}">
                  <a16:creationId xmlns:a16="http://schemas.microsoft.com/office/drawing/2014/main" id="{74E9975C-AF3D-48EF-B3F0-112A01A38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sp>
          <p:nvSpPr>
            <p:cNvPr id="21" name="Oval 20">
              <a:extLst>
                <a:ext uri="{FF2B5EF4-FFF2-40B4-BE49-F238E27FC236}">
                  <a16:creationId xmlns:a16="http://schemas.microsoft.com/office/drawing/2014/main" id="{CF00A076-2FEA-40D1-8F85-842481797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sp>
          <p:nvSpPr>
            <p:cNvPr id="22" name="Oval 21">
              <a:extLst>
                <a:ext uri="{FF2B5EF4-FFF2-40B4-BE49-F238E27FC236}">
                  <a16:creationId xmlns:a16="http://schemas.microsoft.com/office/drawing/2014/main" id="{A2E68741-6133-4CAA-BF3C-F0E6CF40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sp>
          <p:nvSpPr>
            <p:cNvPr id="23" name="Freeform 5">
              <a:extLst>
                <a:ext uri="{FF2B5EF4-FFF2-40B4-BE49-F238E27FC236}">
                  <a16:creationId xmlns:a16="http://schemas.microsoft.com/office/drawing/2014/main" id="{76C01C64-4A8B-42FC-93C5-2D6A3EBAB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sp>
          <p:nvSpPr>
            <p:cNvPr id="24" name="Freeform 5">
              <a:extLst>
                <a:ext uri="{FF2B5EF4-FFF2-40B4-BE49-F238E27FC236}">
                  <a16:creationId xmlns:a16="http://schemas.microsoft.com/office/drawing/2014/main" id="{D969AEA9-C1EE-45E1-9964-D9705492E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sp>
          <p:nvSpPr>
            <p:cNvPr id="25" name="Freeform 5">
              <a:extLst>
                <a:ext uri="{FF2B5EF4-FFF2-40B4-BE49-F238E27FC236}">
                  <a16:creationId xmlns:a16="http://schemas.microsoft.com/office/drawing/2014/main" id="{4845E67D-4E5B-44B3-AB74-5E95C839E7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AU" noProof="0">
                <a:latin typeface="Calibri" panose="020F0502020204030204" pitchFamily="34" charset="0"/>
                <a:ea typeface="Calibri" panose="020F0502020204030204" pitchFamily="34" charset="0"/>
                <a:cs typeface="Calibri" panose="020F0502020204030204" pitchFamily="34" charset="0"/>
              </a:endParaRPr>
            </a:p>
          </p:txBody>
        </p:sp>
      </p:grpSp>
      <p:sp>
        <p:nvSpPr>
          <p:cNvPr id="27" name="Rectangle 26">
            <a:extLst>
              <a:ext uri="{FF2B5EF4-FFF2-40B4-BE49-F238E27FC236}">
                <a16:creationId xmlns:a16="http://schemas.microsoft.com/office/drawing/2014/main" id="{079CE317-680B-449C-A423-71C1FE069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AU" noProof="0"/>
          </a:p>
        </p:txBody>
      </p:sp>
      <p:sp>
        <p:nvSpPr>
          <p:cNvPr id="29" name="Rectangle 28">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AU" noProof="0"/>
          </a:p>
        </p:txBody>
      </p:sp>
      <p:sp>
        <p:nvSpPr>
          <p:cNvPr id="31" name="Freeform: Shape 30">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AU" noProof="0"/>
          </a:p>
        </p:txBody>
      </p:sp>
      <p:sp>
        <p:nvSpPr>
          <p:cNvPr id="33"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AU" noProof="0"/>
          </a:p>
        </p:txBody>
      </p:sp>
      <p:sp>
        <p:nvSpPr>
          <p:cNvPr id="2" name="Title 1">
            <a:extLst>
              <a:ext uri="{FF2B5EF4-FFF2-40B4-BE49-F238E27FC236}">
                <a16:creationId xmlns:a16="http://schemas.microsoft.com/office/drawing/2014/main" id="{7FFE1A2D-C61C-6F72-E576-9AAB060011C8}"/>
              </a:ext>
            </a:extLst>
          </p:cNvPr>
          <p:cNvSpPr>
            <a:spLocks noGrp="1"/>
          </p:cNvSpPr>
          <p:nvPr>
            <p:ph type="title"/>
          </p:nvPr>
        </p:nvSpPr>
        <p:spPr>
          <a:xfrm>
            <a:off x="690880" y="579120"/>
            <a:ext cx="3664470" cy="1414780"/>
          </a:xfrm>
        </p:spPr>
        <p:txBody>
          <a:bodyPr vert="horz" lIns="91440" tIns="45720" rIns="91440" bIns="45720" rtlCol="0" anchor="ctr">
            <a:normAutofit/>
          </a:bodyPr>
          <a:lstStyle/>
          <a:p>
            <a:pPr algn="ctr"/>
            <a:r>
              <a:rPr lang="en-AU" b="1" i="0" kern="1200" noProof="0">
                <a:solidFill>
                  <a:srgbClr val="EBEBEB"/>
                </a:solidFill>
                <a:latin typeface="Calibri" panose="020F0502020204030204" pitchFamily="34" charset="0"/>
                <a:ea typeface="Calibri" panose="020F0502020204030204" pitchFamily="34" charset="0"/>
                <a:cs typeface="Calibri" panose="020F0502020204030204" pitchFamily="34" charset="0"/>
              </a:rPr>
              <a:t>Value Drivers Dashboard</a:t>
            </a:r>
            <a:br>
              <a:rPr lang="en-AU" sz="3300" b="0" i="0" kern="1200" noProof="0">
                <a:solidFill>
                  <a:srgbClr val="EBEBEB"/>
                </a:solidFill>
                <a:latin typeface="Calibri" panose="020F0502020204030204" pitchFamily="34" charset="0"/>
                <a:ea typeface="Calibri" panose="020F0502020204030204" pitchFamily="34" charset="0"/>
                <a:cs typeface="Calibri" panose="020F0502020204030204" pitchFamily="34" charset="0"/>
              </a:rPr>
            </a:br>
            <a:r>
              <a:rPr lang="en-AU" sz="1000" noProof="0">
                <a:solidFill>
                  <a:schemeClr val="tx1"/>
                </a:solidFill>
                <a:latin typeface="Calibri" panose="020F0502020204030204" pitchFamily="34" charset="0"/>
                <a:ea typeface="Calibri" panose="020F0502020204030204" pitchFamily="34" charset="0"/>
                <a:cs typeface="Calibri" panose="020F0502020204030204" pitchFamily="34" charset="0"/>
              </a:rPr>
              <a:t>To pinpoint targeted retention and engage behavioural and tenure-related factors that drive Customer Lifetime Value (CLV), enabling strategies.</a:t>
            </a:r>
            <a:endParaRPr lang="en-AU" sz="1000" b="0" i="0" kern="1200" noProof="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35" name="Rectangle 34">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AU" noProof="0"/>
          </a:p>
        </p:txBody>
      </p:sp>
      <p:sp>
        <p:nvSpPr>
          <p:cNvPr id="37" name="Oval 36">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noProof="0"/>
          </a:p>
        </p:txBody>
      </p:sp>
      <p:sp>
        <p:nvSpPr>
          <p:cNvPr id="39" name="Oval 38">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noProof="0"/>
          </a:p>
        </p:txBody>
      </p:sp>
      <p:sp>
        <p:nvSpPr>
          <p:cNvPr id="4" name="Text Placeholder 3">
            <a:extLst>
              <a:ext uri="{FF2B5EF4-FFF2-40B4-BE49-F238E27FC236}">
                <a16:creationId xmlns:a16="http://schemas.microsoft.com/office/drawing/2014/main" id="{BE7007FE-86AE-E3D3-BD8B-152750D6ADBF}"/>
              </a:ext>
            </a:extLst>
          </p:cNvPr>
          <p:cNvSpPr>
            <a:spLocks noGrp="1"/>
          </p:cNvSpPr>
          <p:nvPr>
            <p:ph type="body" sz="half" idx="2"/>
          </p:nvPr>
        </p:nvSpPr>
        <p:spPr>
          <a:xfrm>
            <a:off x="609601" y="2183905"/>
            <a:ext cx="3827742" cy="4271929"/>
          </a:xfrm>
        </p:spPr>
        <p:txBody>
          <a:bodyPr vert="horz" lIns="91440" tIns="45720" rIns="91440" bIns="45720" rtlCol="0">
            <a:normAutofit/>
          </a:bodyPr>
          <a:lstStyle/>
          <a:p>
            <a:r>
              <a:rPr lang="en-AU" b="1" noProof="0">
                <a:solidFill>
                  <a:schemeClr val="accent5">
                    <a:lumMod val="40000"/>
                    <a:lumOff val="60000"/>
                  </a:schemeClr>
                </a:solidFill>
                <a:latin typeface="Calibri" panose="020F0502020204030204" pitchFamily="34" charset="0"/>
                <a:ea typeface="Calibri" panose="020F0502020204030204" pitchFamily="34" charset="0"/>
                <a:cs typeface="Calibri" panose="020F0502020204030204" pitchFamily="34" charset="0"/>
              </a:rPr>
              <a:t>Interpretation Guide:</a:t>
            </a:r>
          </a:p>
          <a:p>
            <a:pPr marL="290513" lvl="1" indent="-290513">
              <a:lnSpc>
                <a:spcPct val="120000"/>
              </a:lnSpc>
              <a:buFont typeface="Wingdings" panose="05000000000000000000" pitchFamily="2" charset="2"/>
              <a:buChar char="v"/>
            </a:pPr>
            <a:r>
              <a:rPr lang="en-AU" sz="1100" b="1" noProof="0">
                <a:solidFill>
                  <a:schemeClr val="accent4">
                    <a:lumMod val="40000"/>
                    <a:lumOff val="60000"/>
                  </a:schemeClr>
                </a:solidFill>
                <a:latin typeface="Calibri" panose="020F0502020204030204" pitchFamily="34" charset="0"/>
                <a:ea typeface="Calibri" panose="020F0502020204030204" pitchFamily="34" charset="0"/>
                <a:cs typeface="Calibri" panose="020F0502020204030204" pitchFamily="34" charset="0"/>
              </a:rPr>
              <a:t>Engagement vs CLV Scatter:</a:t>
            </a:r>
            <a:r>
              <a:rPr lang="en-AU" sz="1100" noProof="0">
                <a:solidFill>
                  <a:schemeClr val="accent4">
                    <a:lumMod val="40000"/>
                    <a:lumOff val="60000"/>
                  </a:schemeClr>
                </a:solidFill>
                <a:latin typeface="Calibri" panose="020F0502020204030204" pitchFamily="34" charset="0"/>
                <a:ea typeface="Calibri" panose="020F0502020204030204" pitchFamily="34" charset="0"/>
                <a:cs typeface="Calibri" panose="020F0502020204030204" pitchFamily="34" charset="0"/>
              </a:rPr>
              <a:t> </a:t>
            </a:r>
            <a:r>
              <a:rPr lang="en-AU" sz="1100" noProof="0">
                <a:latin typeface="Calibri" panose="020F0502020204030204" pitchFamily="34" charset="0"/>
                <a:ea typeface="Calibri" panose="020F0502020204030204" pitchFamily="34" charset="0"/>
                <a:cs typeface="Calibri" panose="020F0502020204030204" pitchFamily="34" charset="0"/>
              </a:rPr>
              <a:t>Reveals correlation between engagement and CLV; high-engagement, low-CLV customers are prime upsell targets.</a:t>
            </a:r>
          </a:p>
          <a:p>
            <a:pPr marL="285750" lvl="1" indent="-285750">
              <a:lnSpc>
                <a:spcPct val="120000"/>
              </a:lnSpc>
              <a:buFont typeface="Wingdings" panose="05000000000000000000" pitchFamily="2" charset="2"/>
              <a:buChar char="v"/>
            </a:pPr>
            <a:r>
              <a:rPr lang="en-AU" sz="1100" b="1" noProof="0">
                <a:solidFill>
                  <a:schemeClr val="accent4">
                    <a:lumMod val="40000"/>
                    <a:lumOff val="60000"/>
                  </a:schemeClr>
                </a:solidFill>
                <a:latin typeface="Calibri" panose="020F0502020204030204" pitchFamily="34" charset="0"/>
                <a:ea typeface="Calibri" panose="020F0502020204030204" pitchFamily="34" charset="0"/>
                <a:cs typeface="Calibri" panose="020F0502020204030204" pitchFamily="34" charset="0"/>
              </a:rPr>
              <a:t>Tenure × Frequency Heatmap</a:t>
            </a:r>
            <a:r>
              <a:rPr lang="en-AU" sz="1100" b="1" noProof="0">
                <a:latin typeface="Calibri" panose="020F0502020204030204" pitchFamily="34" charset="0"/>
                <a:ea typeface="Calibri" panose="020F0502020204030204" pitchFamily="34" charset="0"/>
                <a:cs typeface="Calibri" panose="020F0502020204030204" pitchFamily="34" charset="0"/>
              </a:rPr>
              <a:t>:</a:t>
            </a:r>
            <a:r>
              <a:rPr lang="en-AU" sz="1100" noProof="0">
                <a:latin typeface="Calibri" panose="020F0502020204030204" pitchFamily="34" charset="0"/>
                <a:ea typeface="Calibri" panose="020F0502020204030204" pitchFamily="34" charset="0"/>
                <a:cs typeface="Calibri" panose="020F0502020204030204" pitchFamily="34" charset="0"/>
              </a:rPr>
              <a:t> </a:t>
            </a:r>
            <a:r>
              <a:rPr lang="en-US" sz="1100">
                <a:latin typeface="Calibri" panose="020F0502020204030204" pitchFamily="34" charset="0"/>
                <a:ea typeface="Calibri" panose="020F0502020204030204" pitchFamily="34" charset="0"/>
                <a:cs typeface="Calibri" panose="020F0502020204030204" pitchFamily="34" charset="0"/>
              </a:rPr>
              <a:t>Segments customers by how recently and frequently they’ve made e-commerce purchases.</a:t>
            </a:r>
            <a:br>
              <a:rPr lang="en-US" sz="1100">
                <a:latin typeface="Calibri" panose="020F0502020204030204" pitchFamily="34" charset="0"/>
                <a:ea typeface="Calibri" panose="020F0502020204030204" pitchFamily="34" charset="0"/>
                <a:cs typeface="Calibri" panose="020F0502020204030204" pitchFamily="34" charset="0"/>
              </a:rPr>
            </a:br>
            <a:r>
              <a:rPr lang="en-US" sz="1100">
                <a:latin typeface="Calibri" panose="020F0502020204030204" pitchFamily="34" charset="0"/>
                <a:ea typeface="Calibri" panose="020F0502020204030204" pitchFamily="34" charset="0"/>
                <a:cs typeface="Calibri" panose="020F0502020204030204" pitchFamily="34" charset="0"/>
              </a:rPr>
              <a:t>Each cell shows engagement % to highlight where digital interactions are strongest or weakest.</a:t>
            </a:r>
          </a:p>
          <a:p>
            <a:pPr marL="0" lvl="1">
              <a:lnSpc>
                <a:spcPct val="120000"/>
              </a:lnSpc>
            </a:pPr>
            <a:r>
              <a:rPr lang="en-AU" b="1" noProof="0">
                <a:solidFill>
                  <a:schemeClr val="accent5">
                    <a:lumMod val="60000"/>
                    <a:lumOff val="40000"/>
                  </a:schemeClr>
                </a:solidFill>
                <a:latin typeface="Calibri" panose="020F0502020204030204" pitchFamily="34" charset="0"/>
                <a:ea typeface="Calibri" panose="020F0502020204030204" pitchFamily="34" charset="0"/>
                <a:cs typeface="Calibri" panose="020F0502020204030204" pitchFamily="34" charset="0"/>
              </a:rPr>
              <a:t>Business Use:</a:t>
            </a:r>
          </a:p>
          <a:p>
            <a:pPr marL="285750" lvl="1" indent="-285750">
              <a:lnSpc>
                <a:spcPct val="120000"/>
              </a:lnSpc>
              <a:buFont typeface="Wingdings" panose="05000000000000000000" pitchFamily="2" charset="2"/>
              <a:buChar char="v"/>
            </a:pPr>
            <a:r>
              <a:rPr lang="en-AU" sz="1100" noProof="0">
                <a:latin typeface="Calibri" panose="020F0502020204030204" pitchFamily="34" charset="0"/>
                <a:ea typeface="Calibri" panose="020F0502020204030204" pitchFamily="34" charset="0"/>
                <a:cs typeface="Calibri" panose="020F0502020204030204" pitchFamily="34" charset="0"/>
              </a:rPr>
              <a:t>Target upsell offers to engaged fans with low CLV.</a:t>
            </a:r>
          </a:p>
          <a:p>
            <a:pPr marL="285750" lvl="1" indent="-285750">
              <a:lnSpc>
                <a:spcPct val="120000"/>
              </a:lnSpc>
              <a:buFont typeface="Wingdings" panose="05000000000000000000" pitchFamily="2" charset="2"/>
              <a:buChar char="v"/>
            </a:pPr>
            <a:r>
              <a:rPr lang="en-AU" sz="1100" noProof="0">
                <a:latin typeface="Calibri" panose="020F0502020204030204" pitchFamily="34" charset="0"/>
                <a:ea typeface="Calibri" panose="020F0502020204030204" pitchFamily="34" charset="0"/>
                <a:cs typeface="Calibri" panose="020F0502020204030204" pitchFamily="34" charset="0"/>
              </a:rPr>
              <a:t>Reinforce loyalty benefits for long-tenure, high-frequency members.</a:t>
            </a:r>
          </a:p>
          <a:p>
            <a:pPr marL="285750" lvl="1" indent="-285750">
              <a:lnSpc>
                <a:spcPct val="120000"/>
              </a:lnSpc>
              <a:buFont typeface="Wingdings" panose="05000000000000000000" pitchFamily="2" charset="2"/>
              <a:buChar char="v"/>
            </a:pPr>
            <a:r>
              <a:rPr lang="en-AU" sz="1100" noProof="0">
                <a:latin typeface="Calibri" panose="020F0502020204030204" pitchFamily="34" charset="0"/>
                <a:ea typeface="Calibri" panose="020F0502020204030204" pitchFamily="34" charset="0"/>
                <a:cs typeface="Calibri" panose="020F0502020204030204" pitchFamily="34" charset="0"/>
              </a:rPr>
              <a:t>Design engagement boosters for short-tenure segments to improve retention.</a:t>
            </a:r>
          </a:p>
          <a:p>
            <a:endParaRPr lang="en-AU" noProof="0">
              <a:solidFill>
                <a:srgbClr val="FFFFFF"/>
              </a:solidFill>
              <a:latin typeface="Calibri" panose="020F0502020204030204" pitchFamily="34" charset="0"/>
              <a:ea typeface="Calibri" panose="020F0502020204030204" pitchFamily="34" charset="0"/>
              <a:cs typeface="Calibri" panose="020F0502020204030204" pitchFamily="34" charset="0"/>
            </a:endParaRPr>
          </a:p>
        </p:txBody>
      </p:sp>
      <p:sp>
        <p:nvSpPr>
          <p:cNvPr id="41"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AU" noProof="0"/>
          </a:p>
        </p:txBody>
      </p:sp>
      <p:pic>
        <p:nvPicPr>
          <p:cNvPr id="5" name="Picture 4" descr="A screenshot of a graph">
            <a:extLst>
              <a:ext uri="{FF2B5EF4-FFF2-40B4-BE49-F238E27FC236}">
                <a16:creationId xmlns:a16="http://schemas.microsoft.com/office/drawing/2014/main" id="{DE3D96DE-0D15-C7C7-3EEB-4D340B5BBB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96686" y="793186"/>
            <a:ext cx="6589534" cy="527162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59925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1801C-3772-04D8-0C9A-770E0A29E7E0}"/>
              </a:ext>
            </a:extLst>
          </p:cNvPr>
          <p:cNvSpPr>
            <a:spLocks noGrp="1"/>
          </p:cNvSpPr>
          <p:nvPr>
            <p:ph type="title"/>
          </p:nvPr>
        </p:nvSpPr>
        <p:spPr>
          <a:xfrm>
            <a:off x="487680" y="477521"/>
            <a:ext cx="4226560" cy="1269999"/>
          </a:xfrm>
        </p:spPr>
        <p:txBody>
          <a:bodyPr anchor="ctr"/>
          <a:lstStyle/>
          <a:p>
            <a:pPr algn="ctr"/>
            <a:r>
              <a:rPr lang="en-AU" b="1" noProof="0">
                <a:latin typeface="Calibri" panose="020F0502020204030204" pitchFamily="34" charset="0"/>
                <a:ea typeface="Calibri" panose="020F0502020204030204" pitchFamily="34" charset="0"/>
                <a:cs typeface="Calibri" panose="020F0502020204030204" pitchFamily="34" charset="0"/>
              </a:rPr>
              <a:t>Cross-Channel Value: E-commerce vs Membership</a:t>
            </a:r>
            <a:br>
              <a:rPr lang="en-AU" b="1" noProof="0">
                <a:latin typeface="Calibri" panose="020F0502020204030204" pitchFamily="34" charset="0"/>
                <a:ea typeface="Calibri" panose="020F0502020204030204" pitchFamily="34" charset="0"/>
                <a:cs typeface="Calibri" panose="020F0502020204030204" pitchFamily="34" charset="0"/>
              </a:rPr>
            </a:br>
            <a:r>
              <a:rPr lang="en-AU" sz="1000" noProof="0">
                <a:latin typeface="Calibri" panose="020F0502020204030204" pitchFamily="34" charset="0"/>
                <a:ea typeface="Calibri" panose="020F0502020204030204" pitchFamily="34" charset="0"/>
                <a:cs typeface="Calibri" panose="020F0502020204030204" pitchFamily="34" charset="0"/>
              </a:rPr>
              <a:t>To understand how customers allocate spending between membership and e-commerce channels, enabling cross-sell and upsell strategies.</a:t>
            </a:r>
            <a:endParaRPr lang="en-AU" sz="1000" b="1" noProof="0">
              <a:latin typeface="Calibri" panose="020F0502020204030204" pitchFamily="34" charset="0"/>
              <a:ea typeface="Calibri" panose="020F0502020204030204" pitchFamily="34" charset="0"/>
              <a:cs typeface="Calibri" panose="020F0502020204030204" pitchFamily="34" charset="0"/>
            </a:endParaRPr>
          </a:p>
        </p:txBody>
      </p:sp>
      <p:sp>
        <p:nvSpPr>
          <p:cNvPr id="4" name="Text Placeholder 3">
            <a:extLst>
              <a:ext uri="{FF2B5EF4-FFF2-40B4-BE49-F238E27FC236}">
                <a16:creationId xmlns:a16="http://schemas.microsoft.com/office/drawing/2014/main" id="{65AA1F1D-6B4A-8340-21D4-D53BCF364053}"/>
              </a:ext>
            </a:extLst>
          </p:cNvPr>
          <p:cNvSpPr>
            <a:spLocks noGrp="1"/>
          </p:cNvSpPr>
          <p:nvPr>
            <p:ph type="body" sz="half" idx="2"/>
          </p:nvPr>
        </p:nvSpPr>
        <p:spPr>
          <a:xfrm>
            <a:off x="539563" y="1989593"/>
            <a:ext cx="3992880" cy="4468408"/>
          </a:xfrm>
        </p:spPr>
        <p:txBody>
          <a:bodyPr>
            <a:normAutofit fontScale="92500"/>
          </a:bodyPr>
          <a:lstStyle/>
          <a:p>
            <a:r>
              <a:rPr lang="en-AU" sz="1500" b="1" noProof="0" dirty="0">
                <a:solidFill>
                  <a:schemeClr val="accent5">
                    <a:lumMod val="60000"/>
                    <a:lumOff val="40000"/>
                  </a:schemeClr>
                </a:solidFill>
                <a:latin typeface="Calibri" panose="020F0502020204030204" pitchFamily="34" charset="0"/>
                <a:ea typeface="Calibri" panose="020F0502020204030204" pitchFamily="34" charset="0"/>
                <a:cs typeface="Calibri" panose="020F0502020204030204" pitchFamily="34" charset="0"/>
              </a:rPr>
              <a:t>Interpretation:</a:t>
            </a:r>
            <a:endParaRPr lang="en-AU" sz="1500" noProof="0" dirty="0">
              <a:solidFill>
                <a:schemeClr val="accent5">
                  <a:lumMod val="60000"/>
                  <a:lumOff val="40000"/>
                </a:schemeClr>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v"/>
            </a:pPr>
            <a:r>
              <a:rPr lang="en-AU" sz="1200" b="1" noProof="0" dirty="0">
                <a:solidFill>
                  <a:schemeClr val="accent4">
                    <a:lumMod val="60000"/>
                    <a:lumOff val="40000"/>
                  </a:schemeClr>
                </a:solidFill>
                <a:latin typeface="Calibri" panose="020F0502020204030204" pitchFamily="34" charset="0"/>
                <a:ea typeface="Calibri" panose="020F0502020204030204" pitchFamily="34" charset="0"/>
                <a:cs typeface="Calibri" panose="020F0502020204030204" pitchFamily="34" charset="0"/>
              </a:rPr>
              <a:t>Scatter Plot:</a:t>
            </a:r>
            <a:r>
              <a:rPr lang="en-AU" sz="1200" noProof="0" dirty="0">
                <a:solidFill>
                  <a:schemeClr val="accent4">
                    <a:lumMod val="60000"/>
                    <a:lumOff val="40000"/>
                  </a:schemeClr>
                </a:solidFill>
                <a:latin typeface="Calibri" panose="020F0502020204030204" pitchFamily="34" charset="0"/>
                <a:ea typeface="Calibri" panose="020F0502020204030204" pitchFamily="34" charset="0"/>
                <a:cs typeface="Calibri" panose="020F0502020204030204" pitchFamily="34" charset="0"/>
              </a:rPr>
              <a:t> </a:t>
            </a:r>
            <a:r>
              <a:rPr lang="en-AU" sz="1200" noProof="0" dirty="0">
                <a:solidFill>
                  <a:schemeClr val="bg1"/>
                </a:solidFill>
                <a:latin typeface="Calibri" panose="020F0502020204030204" pitchFamily="34" charset="0"/>
                <a:ea typeface="Calibri" panose="020F0502020204030204" pitchFamily="34" charset="0"/>
                <a:cs typeface="Calibri" panose="020F0502020204030204" pitchFamily="34" charset="0"/>
              </a:rPr>
              <a:t>Most high-membership customers have low e-commerce orders — a clear opportunity for merchandise campaigns.</a:t>
            </a:r>
          </a:p>
          <a:p>
            <a:pPr marL="285750" indent="-285750">
              <a:buFont typeface="Wingdings" panose="05000000000000000000" pitchFamily="2" charset="2"/>
              <a:buChar char="v"/>
            </a:pPr>
            <a:r>
              <a:rPr lang="en-AU" sz="1200" b="1" noProof="0" dirty="0">
                <a:solidFill>
                  <a:schemeClr val="accent4">
                    <a:lumMod val="60000"/>
                    <a:lumOff val="40000"/>
                  </a:schemeClr>
                </a:solidFill>
                <a:latin typeface="Calibri" panose="020F0502020204030204" pitchFamily="34" charset="0"/>
                <a:ea typeface="Calibri" panose="020F0502020204030204" pitchFamily="34" charset="0"/>
                <a:cs typeface="Calibri" panose="020F0502020204030204" pitchFamily="34" charset="0"/>
              </a:rPr>
              <a:t>Quadrants:</a:t>
            </a:r>
            <a:r>
              <a:rPr lang="en-AU" sz="1200" noProof="0" dirty="0">
                <a:latin typeface="Calibri" panose="020F0502020204030204" pitchFamily="34" charset="0"/>
                <a:ea typeface="Calibri" panose="020F0502020204030204" pitchFamily="34" charset="0"/>
                <a:cs typeface="Calibri" panose="020F0502020204030204" pitchFamily="34" charset="0"/>
              </a:rPr>
              <a:t> </a:t>
            </a:r>
            <a:endParaRPr lang="en-AU" sz="1200" noProof="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628650" lvl="1" indent="-171450">
              <a:buFont typeface="Wingdings" panose="05000000000000000000" pitchFamily="2" charset="2"/>
              <a:buChar char="v"/>
            </a:pPr>
            <a:r>
              <a:rPr lang="en-AU" b="1" noProof="0" dirty="0">
                <a:solidFill>
                  <a:schemeClr val="bg1"/>
                </a:solidFill>
                <a:latin typeface="Calibri" panose="020F0502020204030204" pitchFamily="34" charset="0"/>
                <a:ea typeface="Calibri" panose="020F0502020204030204" pitchFamily="34" charset="0"/>
                <a:cs typeface="Calibri" panose="020F0502020204030204" pitchFamily="34" charset="0"/>
              </a:rPr>
              <a:t>Top-Right:</a:t>
            </a:r>
            <a:r>
              <a:rPr lang="en-AU" noProof="0" dirty="0">
                <a:solidFill>
                  <a:schemeClr val="bg1"/>
                </a:solidFill>
                <a:latin typeface="Calibri" panose="020F0502020204030204" pitchFamily="34" charset="0"/>
                <a:ea typeface="Calibri" panose="020F0502020204030204" pitchFamily="34" charset="0"/>
                <a:cs typeface="Calibri" panose="020F0502020204030204" pitchFamily="34" charset="0"/>
              </a:rPr>
              <a:t> Omnichannel champions (high membership + high e-commerce).</a:t>
            </a:r>
          </a:p>
          <a:p>
            <a:pPr marL="628650" lvl="1" indent="-171450">
              <a:buFont typeface="Wingdings" panose="05000000000000000000" pitchFamily="2" charset="2"/>
              <a:buChar char="v"/>
            </a:pPr>
            <a:r>
              <a:rPr lang="en-AU" b="1" noProof="0" dirty="0">
                <a:solidFill>
                  <a:schemeClr val="bg1"/>
                </a:solidFill>
                <a:latin typeface="Calibri" panose="020F0502020204030204" pitchFamily="34" charset="0"/>
                <a:ea typeface="Calibri" panose="020F0502020204030204" pitchFamily="34" charset="0"/>
                <a:cs typeface="Calibri" panose="020F0502020204030204" pitchFamily="34" charset="0"/>
              </a:rPr>
              <a:t>Top-Left:</a:t>
            </a:r>
            <a:r>
              <a:rPr lang="en-AU" noProof="0" dirty="0">
                <a:solidFill>
                  <a:schemeClr val="bg1"/>
                </a:solidFill>
                <a:latin typeface="Calibri" panose="020F0502020204030204" pitchFamily="34" charset="0"/>
                <a:ea typeface="Calibri" panose="020F0502020204030204" pitchFamily="34" charset="0"/>
                <a:cs typeface="Calibri" panose="020F0502020204030204" pitchFamily="34" charset="0"/>
              </a:rPr>
              <a:t> Strong members, low merchandise → target with e-commerce offers.</a:t>
            </a:r>
          </a:p>
          <a:p>
            <a:pPr marL="628650" lvl="1" indent="-171450">
              <a:buFont typeface="Wingdings" panose="05000000000000000000" pitchFamily="2" charset="2"/>
              <a:buChar char="v"/>
            </a:pPr>
            <a:r>
              <a:rPr lang="en-AU" b="1" noProof="0" dirty="0">
                <a:solidFill>
                  <a:schemeClr val="bg1"/>
                </a:solidFill>
                <a:latin typeface="Calibri" panose="020F0502020204030204" pitchFamily="34" charset="0"/>
                <a:ea typeface="Calibri" panose="020F0502020204030204" pitchFamily="34" charset="0"/>
                <a:cs typeface="Calibri" panose="020F0502020204030204" pitchFamily="34" charset="0"/>
              </a:rPr>
              <a:t>Bottom-Right:</a:t>
            </a:r>
            <a:r>
              <a:rPr lang="en-AU" noProof="0" dirty="0">
                <a:solidFill>
                  <a:schemeClr val="bg1"/>
                </a:solidFill>
                <a:latin typeface="Calibri" panose="020F0502020204030204" pitchFamily="34" charset="0"/>
                <a:ea typeface="Calibri" panose="020F0502020204030204" pitchFamily="34" charset="0"/>
                <a:cs typeface="Calibri" panose="020F0502020204030204" pitchFamily="34" charset="0"/>
              </a:rPr>
              <a:t> Merchandise-heavy, low membership → upsell memberships.</a:t>
            </a:r>
          </a:p>
          <a:p>
            <a:pPr marL="628650" lvl="1" indent="-171450">
              <a:buFont typeface="Wingdings" panose="05000000000000000000" pitchFamily="2" charset="2"/>
              <a:buChar char="v"/>
            </a:pPr>
            <a:r>
              <a:rPr lang="en-AU" b="1" noProof="0" dirty="0">
                <a:solidFill>
                  <a:schemeClr val="bg1"/>
                </a:solidFill>
                <a:latin typeface="Calibri" panose="020F0502020204030204" pitchFamily="34" charset="0"/>
                <a:ea typeface="Calibri" panose="020F0502020204030204" pitchFamily="34" charset="0"/>
                <a:cs typeface="Calibri" panose="020F0502020204030204" pitchFamily="34" charset="0"/>
              </a:rPr>
              <a:t>Bottom-Left:</a:t>
            </a:r>
            <a:r>
              <a:rPr lang="en-AU" noProof="0" dirty="0">
                <a:solidFill>
                  <a:schemeClr val="bg1"/>
                </a:solidFill>
                <a:latin typeface="Calibri" panose="020F0502020204030204" pitchFamily="34" charset="0"/>
                <a:ea typeface="Calibri" panose="020F0502020204030204" pitchFamily="34" charset="0"/>
                <a:cs typeface="Calibri" panose="020F0502020204030204" pitchFamily="34" charset="0"/>
              </a:rPr>
              <a:t> Low-value customers → minimal focus.</a:t>
            </a:r>
          </a:p>
          <a:p>
            <a:r>
              <a:rPr lang="en-AU" sz="1500" b="1" noProof="0" dirty="0">
                <a:solidFill>
                  <a:schemeClr val="accent5">
                    <a:lumMod val="60000"/>
                    <a:lumOff val="40000"/>
                  </a:schemeClr>
                </a:solidFill>
                <a:latin typeface="Calibri" panose="020F0502020204030204" pitchFamily="34" charset="0"/>
                <a:ea typeface="Calibri" panose="020F0502020204030204" pitchFamily="34" charset="0"/>
                <a:cs typeface="Calibri" panose="020F0502020204030204" pitchFamily="34" charset="0"/>
              </a:rPr>
              <a:t>Business Use:</a:t>
            </a:r>
            <a:endParaRPr lang="en-AU" sz="1500" noProof="0" dirty="0">
              <a:solidFill>
                <a:schemeClr val="accent5">
                  <a:lumMod val="60000"/>
                  <a:lumOff val="40000"/>
                </a:schemeClr>
              </a:solidFill>
              <a:latin typeface="Calibri" panose="020F0502020204030204" pitchFamily="34" charset="0"/>
              <a:ea typeface="Calibri" panose="020F0502020204030204" pitchFamily="34" charset="0"/>
              <a:cs typeface="Calibri" panose="020F0502020204030204" pitchFamily="34" charset="0"/>
            </a:endParaRPr>
          </a:p>
          <a:p>
            <a:pPr marL="182563" lvl="1" indent="-171450">
              <a:buFont typeface="Wingdings" panose="05000000000000000000" pitchFamily="2" charset="2"/>
              <a:buChar char="v"/>
            </a:pPr>
            <a:r>
              <a:rPr lang="en-AU" noProof="0" dirty="0">
                <a:solidFill>
                  <a:schemeClr val="bg1"/>
                </a:solidFill>
                <a:latin typeface="Calibri" panose="020F0502020204030204" pitchFamily="34" charset="0"/>
                <a:ea typeface="Calibri" panose="020F0502020204030204" pitchFamily="34" charset="0"/>
                <a:cs typeface="Calibri" panose="020F0502020204030204" pitchFamily="34" charset="0"/>
              </a:rPr>
              <a:t>Promote merchandise to high-membership, low-e-commerce customers.</a:t>
            </a:r>
          </a:p>
          <a:p>
            <a:pPr marL="182563" lvl="1" indent="-171450">
              <a:buFont typeface="Wingdings" panose="05000000000000000000" pitchFamily="2" charset="2"/>
              <a:buChar char="v"/>
            </a:pPr>
            <a:r>
              <a:rPr lang="en-AU" noProof="0" dirty="0">
                <a:solidFill>
                  <a:schemeClr val="bg1"/>
                </a:solidFill>
                <a:latin typeface="Calibri" panose="020F0502020204030204" pitchFamily="34" charset="0"/>
                <a:ea typeface="Calibri" panose="020F0502020204030204" pitchFamily="34" charset="0"/>
                <a:cs typeface="Calibri" panose="020F0502020204030204" pitchFamily="34" charset="0"/>
              </a:rPr>
              <a:t>Offer membership upgrades to merchandise-heavy customers.</a:t>
            </a:r>
          </a:p>
          <a:p>
            <a:pPr marL="171450" lvl="1" indent="-171450">
              <a:buFont typeface="Wingdings" panose="05000000000000000000" pitchFamily="2" charset="2"/>
              <a:buChar char="v"/>
            </a:pPr>
            <a:r>
              <a:rPr lang="en-AU" noProof="0" dirty="0">
                <a:solidFill>
                  <a:schemeClr val="bg1"/>
                </a:solidFill>
                <a:latin typeface="Calibri" panose="020F0502020204030204" pitchFamily="34" charset="0"/>
                <a:ea typeface="Calibri" panose="020F0502020204030204" pitchFamily="34" charset="0"/>
                <a:cs typeface="Calibri" panose="020F0502020204030204" pitchFamily="34" charset="0"/>
              </a:rPr>
              <a:t>Reinforce loyalty for omnichannel champions.</a:t>
            </a:r>
          </a:p>
          <a:p>
            <a:endParaRPr lang="en-AU" noProof="0" dirty="0">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descr="A screenshot of a graph">
            <a:extLst>
              <a:ext uri="{FF2B5EF4-FFF2-40B4-BE49-F238E27FC236}">
                <a16:creationId xmlns:a16="http://schemas.microsoft.com/office/drawing/2014/main" id="{43271E9C-028F-DA90-FE05-B6C6958B8E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24109" y="885159"/>
            <a:ext cx="6658957" cy="532716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59925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22C8DA4-0A44-FB09-6306-8B73416A00CF}"/>
              </a:ext>
            </a:extLst>
          </p:cNvPr>
          <p:cNvSpPr>
            <a:spLocks noGrp="1"/>
          </p:cNvSpPr>
          <p:nvPr>
            <p:ph type="title"/>
          </p:nvPr>
        </p:nvSpPr>
        <p:spPr/>
        <p:txBody>
          <a:bodyPr vert="horz" lIns="91440" tIns="45720" rIns="91440" bIns="45720" rtlCol="0" anchor="ctr">
            <a:normAutofit fontScale="90000"/>
          </a:bodyPr>
          <a:lstStyle/>
          <a:p>
            <a:pPr algn="ctr">
              <a:lnSpc>
                <a:spcPct val="150000"/>
              </a:lnSpc>
            </a:pPr>
            <a:r>
              <a:rPr lang="en-AU" sz="3600" b="1" noProof="0">
                <a:solidFill>
                  <a:srgbClr val="EBEBEB"/>
                </a:solidFill>
                <a:latin typeface="Calibri" panose="020F0502020204030204" pitchFamily="34" charset="0"/>
                <a:ea typeface="Calibri" panose="020F0502020204030204" pitchFamily="34" charset="0"/>
                <a:cs typeface="Calibri" panose="020F0502020204030204" pitchFamily="34" charset="0"/>
              </a:rPr>
              <a:t>Turning Insights into Action</a:t>
            </a:r>
            <a:br>
              <a:rPr lang="en-AU" sz="1400" noProof="0">
                <a:solidFill>
                  <a:srgbClr val="EBEBEB"/>
                </a:solidFill>
                <a:latin typeface="Calibri" panose="020F0502020204030204" pitchFamily="34" charset="0"/>
                <a:ea typeface="Calibri" panose="020F0502020204030204" pitchFamily="34" charset="0"/>
                <a:cs typeface="Calibri" panose="020F0502020204030204" pitchFamily="34" charset="0"/>
              </a:rPr>
            </a:br>
            <a:r>
              <a:rPr lang="en-AU" sz="1800" noProof="0">
                <a:solidFill>
                  <a:srgbClr val="EBEBEB"/>
                </a:solidFill>
                <a:latin typeface="Calibri" panose="020F0502020204030204" pitchFamily="34" charset="0"/>
                <a:ea typeface="Calibri" panose="020F0502020204030204" pitchFamily="34" charset="0"/>
                <a:cs typeface="Calibri" panose="020F0502020204030204" pitchFamily="34" charset="0"/>
              </a:rPr>
              <a:t>Summarize what the previous dashboards (CLV Overview, Value Drivers, Cross-Channel View) reveal and translate them into clear business moves.</a:t>
            </a:r>
          </a:p>
        </p:txBody>
      </p:sp>
      <p:graphicFrame>
        <p:nvGraphicFramePr>
          <p:cNvPr id="9" name="Rectangle 1">
            <a:extLst>
              <a:ext uri="{FF2B5EF4-FFF2-40B4-BE49-F238E27FC236}">
                <a16:creationId xmlns:a16="http://schemas.microsoft.com/office/drawing/2014/main" id="{A5B6FCB6-F158-88DE-F2EE-5406159EF80E}"/>
              </a:ext>
            </a:extLst>
          </p:cNvPr>
          <p:cNvGraphicFramePr/>
          <p:nvPr>
            <p:extLst>
              <p:ext uri="{D42A27DB-BD31-4B8C-83A1-F6EECF244321}">
                <p14:modId xmlns:p14="http://schemas.microsoft.com/office/powerpoint/2010/main" val="1178449984"/>
              </p:ext>
            </p:extLst>
          </p:nvPr>
        </p:nvGraphicFramePr>
        <p:xfrm>
          <a:off x="1327858" y="2537946"/>
          <a:ext cx="9625383" cy="36024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3757602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E9DC7-8140-9DF3-372D-894FB80DF012}"/>
              </a:ext>
            </a:extLst>
          </p:cNvPr>
          <p:cNvSpPr>
            <a:spLocks noGrp="1"/>
          </p:cNvSpPr>
          <p:nvPr>
            <p:ph type="title"/>
          </p:nvPr>
        </p:nvSpPr>
        <p:spPr>
          <a:xfrm>
            <a:off x="1680092" y="1078372"/>
            <a:ext cx="8831816" cy="1372986"/>
          </a:xfrm>
        </p:spPr>
        <p:txBody>
          <a:bodyPr/>
          <a:lstStyle/>
          <a:p>
            <a:pPr algn="ctr"/>
            <a:r>
              <a:rPr lang="en-AU" sz="3200" b="1" noProof="0">
                <a:latin typeface="Calibri" panose="020F0502020204030204" pitchFamily="34" charset="0"/>
                <a:ea typeface="Calibri" panose="020F0502020204030204" pitchFamily="34" charset="0"/>
                <a:cs typeface="Calibri" panose="020F0502020204030204" pitchFamily="34" charset="0"/>
              </a:rPr>
              <a:t>Key Takeaways &amp; Thank You</a:t>
            </a:r>
            <a:br>
              <a:rPr lang="en-AU" noProof="0">
                <a:latin typeface="Calibri" panose="020F0502020204030204" pitchFamily="34" charset="0"/>
                <a:ea typeface="Calibri" panose="020F0502020204030204" pitchFamily="34" charset="0"/>
                <a:cs typeface="Calibri" panose="020F0502020204030204" pitchFamily="34" charset="0"/>
              </a:rPr>
            </a:br>
            <a:r>
              <a:rPr lang="en-AU" sz="1600" noProof="0">
                <a:latin typeface="Calibri" panose="020F0502020204030204" pitchFamily="34" charset="0"/>
                <a:ea typeface="Calibri" panose="020F0502020204030204" pitchFamily="34" charset="0"/>
                <a:cs typeface="Calibri" panose="020F0502020204030204" pitchFamily="34" charset="0"/>
              </a:rPr>
              <a:t>To summarize the main insights and leave the audience with a clear next step</a:t>
            </a:r>
          </a:p>
        </p:txBody>
      </p:sp>
      <p:sp>
        <p:nvSpPr>
          <p:cNvPr id="5" name="Footer Placeholder 4">
            <a:extLst>
              <a:ext uri="{FF2B5EF4-FFF2-40B4-BE49-F238E27FC236}">
                <a16:creationId xmlns:a16="http://schemas.microsoft.com/office/drawing/2014/main" id="{43EFDFEA-C4A6-790E-3119-5C9C4533A116}"/>
              </a:ext>
            </a:extLst>
          </p:cNvPr>
          <p:cNvSpPr>
            <a:spLocks noGrp="1"/>
          </p:cNvSpPr>
          <p:nvPr>
            <p:ph type="ftr" sz="quarter" idx="11"/>
          </p:nvPr>
        </p:nvSpPr>
        <p:spPr>
          <a:xfrm>
            <a:off x="663852" y="6422660"/>
            <a:ext cx="3859795" cy="304801"/>
          </a:xfrm>
        </p:spPr>
        <p:txBody>
          <a:bodyPr/>
          <a:lstStyle/>
          <a:p>
            <a:r>
              <a:rPr lang="en-AU" sz="2000" noProof="0">
                <a:latin typeface="Calibri" panose="020F0502020204030204" pitchFamily="34" charset="0"/>
                <a:ea typeface="Calibri" panose="020F0502020204030204" pitchFamily="34" charset="0"/>
                <a:cs typeface="Calibri" panose="020F0502020204030204" pitchFamily="34" charset="0"/>
              </a:rPr>
              <a:t>Thank you — Questions?</a:t>
            </a:r>
          </a:p>
        </p:txBody>
      </p:sp>
      <p:graphicFrame>
        <p:nvGraphicFramePr>
          <p:cNvPr id="9" name="Rectangle 1">
            <a:extLst>
              <a:ext uri="{FF2B5EF4-FFF2-40B4-BE49-F238E27FC236}">
                <a16:creationId xmlns:a16="http://schemas.microsoft.com/office/drawing/2014/main" id="{2040405C-070E-9B15-328C-E065A488F40A}"/>
              </a:ext>
            </a:extLst>
          </p:cNvPr>
          <p:cNvGraphicFramePr/>
          <p:nvPr>
            <p:extLst>
              <p:ext uri="{D42A27DB-BD31-4B8C-83A1-F6EECF244321}">
                <p14:modId xmlns:p14="http://schemas.microsoft.com/office/powerpoint/2010/main" val="4192192723"/>
              </p:ext>
            </p:extLst>
          </p:nvPr>
        </p:nvGraphicFramePr>
        <p:xfrm>
          <a:off x="1680092" y="3573766"/>
          <a:ext cx="8825659" cy="24765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859458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4F3B0-3D6E-D822-D6F2-688CDD63FB37}"/>
              </a:ext>
            </a:extLst>
          </p:cNvPr>
          <p:cNvSpPr>
            <a:spLocks noGrp="1"/>
          </p:cNvSpPr>
          <p:nvPr>
            <p:ph type="title"/>
          </p:nvPr>
        </p:nvSpPr>
        <p:spPr/>
        <p:txBody>
          <a:bodyPr/>
          <a:lstStyle/>
          <a:p>
            <a:pPr algn="ctr"/>
            <a:r>
              <a:rPr lang="en-AU" sz="3200" b="1" noProof="0">
                <a:latin typeface="Calibri" panose="020F0502020204030204" pitchFamily="34" charset="0"/>
                <a:ea typeface="Calibri" panose="020F0502020204030204" pitchFamily="34" charset="0"/>
                <a:cs typeface="Calibri" panose="020F0502020204030204" pitchFamily="34" charset="0"/>
              </a:rPr>
              <a:t>Appendix</a:t>
            </a:r>
          </a:p>
        </p:txBody>
      </p:sp>
      <p:sp>
        <p:nvSpPr>
          <p:cNvPr id="3" name="Text Placeholder 2">
            <a:extLst>
              <a:ext uri="{FF2B5EF4-FFF2-40B4-BE49-F238E27FC236}">
                <a16:creationId xmlns:a16="http://schemas.microsoft.com/office/drawing/2014/main" id="{B244F139-FFFF-ED55-99B4-4F1E278981A6}"/>
              </a:ext>
            </a:extLst>
          </p:cNvPr>
          <p:cNvSpPr>
            <a:spLocks noGrp="1"/>
          </p:cNvSpPr>
          <p:nvPr>
            <p:ph type="body" sz="half" idx="2"/>
          </p:nvPr>
        </p:nvSpPr>
        <p:spPr/>
        <p:txBody>
          <a:bodyPr/>
          <a:lstStyle/>
          <a:p>
            <a:endParaRPr lang="en-AU" noProof="0"/>
          </a:p>
        </p:txBody>
      </p:sp>
      <p:pic>
        <p:nvPicPr>
          <p:cNvPr id="5" name="Picture 4" descr="A screenshot of a computer">
            <a:extLst>
              <a:ext uri="{FF2B5EF4-FFF2-40B4-BE49-F238E27FC236}">
                <a16:creationId xmlns:a16="http://schemas.microsoft.com/office/drawing/2014/main" id="{9BB29CC4-F5A7-0E15-9B65-E1973BBCC4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3314699"/>
            <a:ext cx="11234057" cy="3411221"/>
          </a:xfrm>
          <a:prstGeom prst="rect">
            <a:avLst/>
          </a:prstGeom>
        </p:spPr>
      </p:pic>
    </p:spTree>
    <p:extLst>
      <p:ext uri="{BB962C8B-B14F-4D97-AF65-F5344CB8AC3E}">
        <p14:creationId xmlns:p14="http://schemas.microsoft.com/office/powerpoint/2010/main" val="2256413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716972DA-05FD-F224-AC03-1FA0D58E56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775" y="462169"/>
            <a:ext cx="6386294" cy="5353797"/>
          </a:xfrm>
          <a:prstGeom prst="rect">
            <a:avLst/>
          </a:prstGeom>
        </p:spPr>
      </p:pic>
      <p:pic>
        <p:nvPicPr>
          <p:cNvPr id="5" name="Picture 4" descr="A screenshot of a computer">
            <a:extLst>
              <a:ext uri="{FF2B5EF4-FFF2-40B4-BE49-F238E27FC236}">
                <a16:creationId xmlns:a16="http://schemas.microsoft.com/office/drawing/2014/main" id="{B232A900-EC6A-A8DF-54CE-3B3D440D22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09062" y="462169"/>
            <a:ext cx="6043962" cy="5253150"/>
          </a:xfrm>
          <a:prstGeom prst="rect">
            <a:avLst/>
          </a:prstGeom>
        </p:spPr>
      </p:pic>
    </p:spTree>
    <p:extLst>
      <p:ext uri="{BB962C8B-B14F-4D97-AF65-F5344CB8AC3E}">
        <p14:creationId xmlns:p14="http://schemas.microsoft.com/office/powerpoint/2010/main" val="1335471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code&#10;&#10;AI-generated content may be incorrect.">
            <a:extLst>
              <a:ext uri="{FF2B5EF4-FFF2-40B4-BE49-F238E27FC236}">
                <a16:creationId xmlns:a16="http://schemas.microsoft.com/office/drawing/2014/main" id="{ED781321-2EEF-0AB3-3DE1-6836E73F5F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630" y="345688"/>
            <a:ext cx="6077414" cy="5174341"/>
          </a:xfrm>
          <a:prstGeom prst="rect">
            <a:avLst/>
          </a:prstGeom>
        </p:spPr>
      </p:pic>
      <p:pic>
        <p:nvPicPr>
          <p:cNvPr id="5" name="Picture 4" descr="A computer screen shot of a computer code">
            <a:extLst>
              <a:ext uri="{FF2B5EF4-FFF2-40B4-BE49-F238E27FC236}">
                <a16:creationId xmlns:a16="http://schemas.microsoft.com/office/drawing/2014/main" id="{B306E697-BB44-588A-6AFE-4702E3A586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9381" y="523932"/>
            <a:ext cx="5774989" cy="5073980"/>
          </a:xfrm>
          <a:prstGeom prst="rect">
            <a:avLst/>
          </a:prstGeom>
        </p:spPr>
      </p:pic>
    </p:spTree>
    <p:extLst>
      <p:ext uri="{BB962C8B-B14F-4D97-AF65-F5344CB8AC3E}">
        <p14:creationId xmlns:p14="http://schemas.microsoft.com/office/powerpoint/2010/main" val="3650247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code&#10;&#10;AI-generated content may be incorrect.">
            <a:extLst>
              <a:ext uri="{FF2B5EF4-FFF2-40B4-BE49-F238E27FC236}">
                <a16:creationId xmlns:a16="http://schemas.microsoft.com/office/drawing/2014/main" id="{9B9F3C29-2CAD-5C15-9EC3-074CEA025B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289103" cy="5096586"/>
          </a:xfrm>
          <a:prstGeom prst="rect">
            <a:avLst/>
          </a:prstGeom>
        </p:spPr>
      </p:pic>
      <p:pic>
        <p:nvPicPr>
          <p:cNvPr id="5" name="Picture 4" descr="A close-up of a computer screen&#10;&#10;AI-generated content may be incorrect.">
            <a:extLst>
              <a:ext uri="{FF2B5EF4-FFF2-40B4-BE49-F238E27FC236}">
                <a16:creationId xmlns:a16="http://schemas.microsoft.com/office/drawing/2014/main" id="{CB47D59A-121C-EFD4-B28B-6DF04E57A6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1991" y="667911"/>
            <a:ext cx="6490009" cy="1686160"/>
          </a:xfrm>
          <a:prstGeom prst="rect">
            <a:avLst/>
          </a:prstGeom>
        </p:spPr>
      </p:pic>
      <p:pic>
        <p:nvPicPr>
          <p:cNvPr id="7" name="Picture 6" descr="A screenshot of a computer program&#10;&#10;AI-generated content may be incorrect.">
            <a:extLst>
              <a:ext uri="{FF2B5EF4-FFF2-40B4-BE49-F238E27FC236}">
                <a16:creationId xmlns:a16="http://schemas.microsoft.com/office/drawing/2014/main" id="{035A2629-4854-365F-81FC-FF444E5C9B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66411" y="2548293"/>
            <a:ext cx="6725589" cy="2972215"/>
          </a:xfrm>
          <a:prstGeom prst="rect">
            <a:avLst/>
          </a:prstGeom>
        </p:spPr>
      </p:pic>
    </p:spTree>
    <p:extLst>
      <p:ext uri="{BB962C8B-B14F-4D97-AF65-F5344CB8AC3E}">
        <p14:creationId xmlns:p14="http://schemas.microsoft.com/office/powerpoint/2010/main" val="42781354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0</TotalTime>
  <Words>996</Words>
  <Application>Microsoft Office PowerPoint</Application>
  <PresentationFormat>Widescreen</PresentationFormat>
  <Paragraphs>115</Paragraphs>
  <Slides>14</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Aptos</vt:lpstr>
      <vt:lpstr>Arial</vt:lpstr>
      <vt:lpstr>Calibri</vt:lpstr>
      <vt:lpstr>Cambria Math</vt:lpstr>
      <vt:lpstr>Century Gothic</vt:lpstr>
      <vt:lpstr>Wingdings</vt:lpstr>
      <vt:lpstr>Wingdings 3</vt:lpstr>
      <vt:lpstr>Ion Boardroom</vt:lpstr>
      <vt:lpstr>Customer Lifetime Value &amp; Engagement Insights   📊 Prepared by: Avni Dubey 📅 Date: October 2025 🏢 Organization: NMFC</vt:lpstr>
      <vt:lpstr>Project Overview</vt:lpstr>
      <vt:lpstr>🧹 Data Preparation &amp; Cleaning</vt:lpstr>
      <vt:lpstr>How We Calculate CLV: From Logic to Code</vt:lpstr>
      <vt:lpstr>  </vt:lpstr>
      <vt:lpstr>CLV Overview Dashboard To reveal revenue concentration and identify high-value customer segments for strategic targeting..</vt:lpstr>
      <vt:lpstr>Value Drivers Dashboard To pinpoint targeted retention and engage behavioural and tenure-related factors that drive Customer Lifetime Value (CLV), enabling strategies.</vt:lpstr>
      <vt:lpstr>Cross-Channel Value: E-commerce vs Membership To understand how customers allocate spending between membership and e-commerce channels, enabling cross-sell and upsell strategies.</vt:lpstr>
      <vt:lpstr>Turning Insights into Action Summarize what the previous dashboards (CLV Overview, Value Drivers, Cross-Channel View) reveal and translate them into clear business moves.</vt:lpstr>
      <vt:lpstr>Key Takeaways &amp; Thank You To summarize the main insights and leave the audience with a clear next step</vt:lpstr>
      <vt:lpstr>Appendix</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Avni Dubey</dc:creator>
  <cp:lastModifiedBy>Avni Dubey</cp:lastModifiedBy>
  <cp:revision>2</cp:revision>
  <dcterms:created xsi:type="dcterms:W3CDTF">2025-10-12T11:17:10Z</dcterms:created>
  <dcterms:modified xsi:type="dcterms:W3CDTF">2025-10-20T01:02:30Z</dcterms:modified>
</cp:coreProperties>
</file>